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256" r:id="rId3"/>
    <p:sldId id="257" r:id="rId4"/>
    <p:sldId id="298" r:id="rId5"/>
    <p:sldId id="258" r:id="rId6"/>
    <p:sldId id="259" r:id="rId7"/>
    <p:sldId id="260" r:id="rId8"/>
    <p:sldId id="261" r:id="rId9"/>
    <p:sldId id="262" r:id="rId10"/>
    <p:sldId id="263" r:id="rId11"/>
    <p:sldId id="264" r:id="rId12"/>
    <p:sldId id="265" r:id="rId13"/>
    <p:sldId id="301" r:id="rId14"/>
    <p:sldId id="266" r:id="rId15"/>
    <p:sldId id="267" r:id="rId16"/>
    <p:sldId id="268" r:id="rId17"/>
    <p:sldId id="269" r:id="rId18"/>
    <p:sldId id="270" r:id="rId19"/>
    <p:sldId id="271" r:id="rId20"/>
    <p:sldId id="272" r:id="rId21"/>
    <p:sldId id="273" r:id="rId22"/>
    <p:sldId id="274" r:id="rId23"/>
    <p:sldId id="275" r:id="rId24"/>
    <p:sldId id="276" r:id="rId25"/>
    <p:sldId id="279" r:id="rId26"/>
    <p:sldId id="280" r:id="rId27"/>
    <p:sldId id="281" r:id="rId28"/>
    <p:sldId id="282" r:id="rId29"/>
    <p:sldId id="277" r:id="rId30"/>
    <p:sldId id="278"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3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BDF1-EF99-7682-159F-763DC8AAB8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854F98-6640-02DF-F299-58E9E4C04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AA3193-F3E5-9FFA-6358-A47B9D086B84}"/>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FA0E5407-C0E7-075A-6380-8DE325E19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491F9-F2F8-4287-6B4C-366C1EEE8AE4}"/>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3574549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8D9F-2FA0-D01B-C0D6-BA61B0894E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64FFC5-7949-DD31-2FB0-D58BA3D0F6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D1D67-C34D-E4AB-304D-B70203368391}"/>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52AFD76E-965E-F936-EDF5-5E5733CD7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BA7C4-688C-8F23-495B-0BF0E7902D04}"/>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11522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53550-4089-99AF-FDE1-2E647D6D55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162C6-AF66-EA8F-60F9-E1EEA30218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79CC2B-0BA1-4E5A-6CB8-7D64CFC2C22F}"/>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DEE53029-3026-296E-E020-2E084421D0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BE0BF-383F-5823-9173-0B3F36A175CF}"/>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3977267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A0A6-5CBF-B07F-C7D1-8EF197FD0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08AD4D-62CD-FD86-F9AB-96D2BB31D5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FA2CE7-EDD1-D89E-D5B3-F23243538B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97FB03-F65C-9BFE-D3C6-01501A70A6EE}"/>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6" name="Footer Placeholder 5">
            <a:extLst>
              <a:ext uri="{FF2B5EF4-FFF2-40B4-BE49-F238E27FC236}">
                <a16:creationId xmlns:a16="http://schemas.microsoft.com/office/drawing/2014/main" id="{16075745-E94B-8F33-0FB1-A189682EC7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B37CBE-0990-A424-634E-21032DCC91EC}"/>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901053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DB75-D9F8-3024-B04B-29531087DA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235C9D-8C35-844C-BA2C-45521A5D6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14AD34-25E3-B3EE-E198-6394B76919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E130F6-2036-6973-D81A-32748CF1BA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A6E801-1752-A944-69B2-EA12903684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6D0E70-474B-A06C-341C-9A7FF20273AB}"/>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8" name="Footer Placeholder 7">
            <a:extLst>
              <a:ext uri="{FF2B5EF4-FFF2-40B4-BE49-F238E27FC236}">
                <a16:creationId xmlns:a16="http://schemas.microsoft.com/office/drawing/2014/main" id="{BDBA2890-0000-1672-F1F8-637FCB10E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602FB3-C56A-EC2C-EC9C-3BF604D5EA05}"/>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268694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4A6BE-F0AD-524C-2DC7-A8B4BA4380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B6525B-760E-92BF-BD56-9B6F646E4CEC}"/>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4" name="Footer Placeholder 3">
            <a:extLst>
              <a:ext uri="{FF2B5EF4-FFF2-40B4-BE49-F238E27FC236}">
                <a16:creationId xmlns:a16="http://schemas.microsoft.com/office/drawing/2014/main" id="{698E698C-D8BA-4FB5-3F11-016069AA2E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772BAC-FAFE-C2D3-AB9E-8E8404CD560C}"/>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3042658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A4340-AB9A-C94E-D6F5-75AB44DDB6F3}"/>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3" name="Footer Placeholder 2">
            <a:extLst>
              <a:ext uri="{FF2B5EF4-FFF2-40B4-BE49-F238E27FC236}">
                <a16:creationId xmlns:a16="http://schemas.microsoft.com/office/drawing/2014/main" id="{02A52D4A-E421-4CEE-30B1-DCCEAED809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5DE528-A8ED-B3F3-4AD6-8960D79D5026}"/>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1461036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A081-153C-89FE-0C24-305AC8974C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3272F4-5EBC-CB0D-ED7E-B6F2366EC9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4FB7E2-E126-33BC-D1A9-AAD2E11F0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252986-4C09-BCE2-F268-B03CB5139775}"/>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6" name="Footer Placeholder 5">
            <a:extLst>
              <a:ext uri="{FF2B5EF4-FFF2-40B4-BE49-F238E27FC236}">
                <a16:creationId xmlns:a16="http://schemas.microsoft.com/office/drawing/2014/main" id="{E4CB08BA-FD3E-7738-79C8-7B55C8BD62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C58934-329A-1E71-E96A-FA962E9B6DBE}"/>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107747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5A05-E074-8CF4-AD5B-D6C4A281C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8F78C1-860C-750A-19CE-FEEBA28CC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0051D4-D20A-7856-0A1A-11D87B683D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12D1B-43D3-EE93-622F-468C41AEEE3B}"/>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6" name="Footer Placeholder 5">
            <a:extLst>
              <a:ext uri="{FF2B5EF4-FFF2-40B4-BE49-F238E27FC236}">
                <a16:creationId xmlns:a16="http://schemas.microsoft.com/office/drawing/2014/main" id="{81DCB0A9-B33B-D9F0-0585-ED1D920FE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526BBB-4529-BEBD-840E-BA59250CA143}"/>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185954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B944-1D72-6560-5E9D-A8C4F229C2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7A2F5F-8178-9C88-BF89-C80669CDD8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7CD2B3-601E-BB4C-4FD6-01ABE6A753BB}"/>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FEE9891D-FEB0-7523-614B-A1E20B9E8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41A39-780F-12C0-5B68-CB757EFA5CE5}"/>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1874742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62A8DD-66DD-4C13-DEFB-A1695D0F34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D48731-9516-5CA5-E539-D9FD0C4C2C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6DC29-3591-3279-BC88-9F4F96F4C040}"/>
              </a:ext>
            </a:extLst>
          </p:cNvPr>
          <p:cNvSpPr>
            <a:spLocks noGrp="1"/>
          </p:cNvSpPr>
          <p:nvPr>
            <p:ph type="dt" sz="half" idx="10"/>
          </p:nvPr>
        </p:nvSpPr>
        <p:spPr/>
        <p:txBody>
          <a:body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92DB1517-B698-145C-52B9-277D4D1CD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2EBE0-98A2-CD90-1EB6-359A94AE1785}"/>
              </a:ext>
            </a:extLst>
          </p:cNvPr>
          <p:cNvSpPr>
            <a:spLocks noGrp="1"/>
          </p:cNvSpPr>
          <p:nvPr>
            <p:ph type="sldNum" sz="quarter" idx="12"/>
          </p:nvPr>
        </p:nvSpPr>
        <p:spPr/>
        <p:txBody>
          <a:bodyPr/>
          <a:lstStyle/>
          <a:p>
            <a:fld id="{8D4218CD-7B7D-45FB-8F69-1A930B8F56ED}" type="slidenum">
              <a:rPr lang="en-US" smtClean="0"/>
              <a:t>‹#›</a:t>
            </a:fld>
            <a:endParaRPr lang="en-US"/>
          </a:p>
        </p:txBody>
      </p:sp>
    </p:spTree>
    <p:extLst>
      <p:ext uri="{BB962C8B-B14F-4D97-AF65-F5344CB8AC3E}">
        <p14:creationId xmlns:p14="http://schemas.microsoft.com/office/powerpoint/2010/main" val="363439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C83597-71DE-1012-B722-26F83418E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E623C6-27E3-27F8-55FF-AFFD863311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ED6F4-C9F9-B796-76EE-8851486756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E89796-A70E-4831-B8C6-471F7980862C}" type="datetimeFigureOut">
              <a:rPr lang="en-US" smtClean="0"/>
              <a:t>5/15/2026</a:t>
            </a:fld>
            <a:endParaRPr lang="en-US"/>
          </a:p>
        </p:txBody>
      </p:sp>
      <p:sp>
        <p:nvSpPr>
          <p:cNvPr id="5" name="Footer Placeholder 4">
            <a:extLst>
              <a:ext uri="{FF2B5EF4-FFF2-40B4-BE49-F238E27FC236}">
                <a16:creationId xmlns:a16="http://schemas.microsoft.com/office/drawing/2014/main" id="{0E2023AF-B888-37C8-2FA8-E0ACAD5BB9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20E458-2002-19A1-5056-043DC7A04C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4218CD-7B7D-45FB-8F69-1A930B8F56ED}" type="slidenum">
              <a:rPr lang="en-US" smtClean="0"/>
              <a:t>‹#›</a:t>
            </a:fld>
            <a:endParaRPr lang="en-US"/>
          </a:p>
        </p:txBody>
      </p:sp>
    </p:spTree>
    <p:extLst>
      <p:ext uri="{BB962C8B-B14F-4D97-AF65-F5344CB8AC3E}">
        <p14:creationId xmlns:p14="http://schemas.microsoft.com/office/powerpoint/2010/main" val="3044526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E04DE-5355-8ABD-70EC-8B7DF458FF63}"/>
              </a:ext>
            </a:extLst>
          </p:cNvPr>
          <p:cNvSpPr>
            <a:spLocks noGrp="1"/>
          </p:cNvSpPr>
          <p:nvPr>
            <p:ph type="title"/>
          </p:nvPr>
        </p:nvSpPr>
        <p:spPr>
          <a:xfrm>
            <a:off x="838200" y="680435"/>
            <a:ext cx="10515600" cy="1325563"/>
          </a:xfrm>
        </p:spPr>
        <p:txBody>
          <a:bodyPr/>
          <a:lstStyle/>
          <a:p>
            <a:pPr algn="ctr"/>
            <a:r>
              <a:rPr lang="en-US" b="1"/>
              <a:t>Giải thích các thuật toán áp dụng trong bài ConnectX</a:t>
            </a:r>
          </a:p>
        </p:txBody>
      </p:sp>
      <p:sp>
        <p:nvSpPr>
          <p:cNvPr id="3" name="Content Placeholder 2">
            <a:extLst>
              <a:ext uri="{FF2B5EF4-FFF2-40B4-BE49-F238E27FC236}">
                <a16:creationId xmlns:a16="http://schemas.microsoft.com/office/drawing/2014/main" id="{AAD90718-72BA-2B87-DBE9-69F33F1D9FE1}"/>
              </a:ext>
            </a:extLst>
          </p:cNvPr>
          <p:cNvSpPr>
            <a:spLocks noGrp="1"/>
          </p:cNvSpPr>
          <p:nvPr>
            <p:ph idx="1"/>
          </p:nvPr>
        </p:nvSpPr>
        <p:spPr>
          <a:xfrm>
            <a:off x="3912475" y="2858896"/>
            <a:ext cx="5373415" cy="3986213"/>
          </a:xfrm>
        </p:spPr>
        <p:txBody>
          <a:bodyPr/>
          <a:lstStyle/>
          <a:p>
            <a:r>
              <a:rPr lang="en-US"/>
              <a:t>Thành viên</a:t>
            </a:r>
          </a:p>
          <a:p>
            <a:pPr lvl="1"/>
            <a:r>
              <a:rPr lang="en-US"/>
              <a:t>Nguyễn Thanh Bình</a:t>
            </a:r>
          </a:p>
          <a:p>
            <a:pPr lvl="1"/>
            <a:r>
              <a:rPr lang="en-US"/>
              <a:t>Cao Thế Mạnh</a:t>
            </a:r>
          </a:p>
          <a:p>
            <a:pPr lvl="1"/>
            <a:r>
              <a:rPr lang="en-US"/>
              <a:t>Đoàn Trọng Nghĩa</a:t>
            </a:r>
          </a:p>
        </p:txBody>
      </p:sp>
    </p:spTree>
    <p:extLst>
      <p:ext uri="{BB962C8B-B14F-4D97-AF65-F5344CB8AC3E}">
        <p14:creationId xmlns:p14="http://schemas.microsoft.com/office/powerpoint/2010/main" val="1846568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60629-B86E-D423-3BC2-DB06D9C9EA51}"/>
              </a:ext>
            </a:extLst>
          </p:cNvPr>
          <p:cNvSpPr>
            <a:spLocks noGrp="1"/>
          </p:cNvSpPr>
          <p:nvPr>
            <p:ph type="ctrTitle"/>
          </p:nvPr>
        </p:nvSpPr>
        <p:spPr>
          <a:xfrm>
            <a:off x="1524000" y="0"/>
            <a:ext cx="9144000" cy="924418"/>
          </a:xfrm>
        </p:spPr>
        <p:txBody>
          <a:bodyPr>
            <a:normAutofit/>
          </a:bodyPr>
          <a:lstStyle/>
          <a:p>
            <a:r>
              <a:rPr lang="en-US" sz="4400" b="1"/>
              <a:t>Quy trình cải tiến</a:t>
            </a:r>
          </a:p>
        </p:txBody>
      </p:sp>
      <p:sp>
        <p:nvSpPr>
          <p:cNvPr id="6" name="TextBox 5">
            <a:extLst>
              <a:ext uri="{FF2B5EF4-FFF2-40B4-BE49-F238E27FC236}">
                <a16:creationId xmlns:a16="http://schemas.microsoft.com/office/drawing/2014/main" id="{91BE215A-355C-E12A-A4B1-BA6EE01C0659}"/>
              </a:ext>
            </a:extLst>
          </p:cNvPr>
          <p:cNvSpPr txBox="1"/>
          <p:nvPr/>
        </p:nvSpPr>
        <p:spPr>
          <a:xfrm>
            <a:off x="835572" y="1228397"/>
            <a:ext cx="9995338" cy="3970318"/>
          </a:xfrm>
          <a:prstGeom prst="rect">
            <a:avLst/>
          </a:prstGeom>
          <a:noFill/>
        </p:spPr>
        <p:txBody>
          <a:bodyPr wrap="square" rtlCol="0">
            <a:spAutoFit/>
          </a:bodyPr>
          <a:lstStyle/>
          <a:p>
            <a:r>
              <a:rPr lang="en-US" sz="2800"/>
              <a:t>Quy trình tiến hóa: </a:t>
            </a:r>
          </a:p>
          <a:p>
            <a:pPr marL="457200" indent="-457200">
              <a:buFont typeface="Arial" panose="020B0604020202020204" pitchFamily="34" charset="0"/>
              <a:buChar char="•"/>
            </a:pPr>
            <a:r>
              <a:rPr lang="en-US" sz="2800"/>
              <a:t>Bắt đầu từ thuật toán đơn giản là Minimax. </a:t>
            </a:r>
          </a:p>
          <a:p>
            <a:pPr marL="457200" indent="-457200">
              <a:buFont typeface="Arial" panose="020B0604020202020204" pitchFamily="34" charset="0"/>
              <a:buChar char="•"/>
            </a:pPr>
            <a:r>
              <a:rPr lang="en-US" sz="2800"/>
              <a:t>Mỗi một lần tiến hóa sẽ gồm các giai đoạn: lên ý tưởng thuật toán, viết code, kiểm thử</a:t>
            </a:r>
          </a:p>
          <a:p>
            <a:pPr marL="457200" indent="-457200">
              <a:buFont typeface="Arial" panose="020B0604020202020204" pitchFamily="34" charset="0"/>
              <a:buChar char="•"/>
            </a:pPr>
            <a:r>
              <a:rPr lang="en-US" sz="2800"/>
              <a:t>Với kiểm thử, nhóm mình sử dụng các file test.py để cho Agent đấu với nhau trước khi nộp submission. Sử dụng hàm print để quan sát quá trình agent suy nghĩ. </a:t>
            </a:r>
          </a:p>
          <a:p>
            <a:pPr marL="457200" indent="-457200">
              <a:buFont typeface="Arial" panose="020B0604020202020204" pitchFamily="34" charset="0"/>
              <a:buChar char="•"/>
            </a:pPr>
            <a:r>
              <a:rPr lang="en-US" sz="2800"/>
              <a:t>Kết quả  của một lần tiến hóa là một agent mới mạnh hơn agent trước và kế thừa thuật toán từ tất cả các Agent trước</a:t>
            </a:r>
          </a:p>
        </p:txBody>
      </p:sp>
    </p:spTree>
    <p:extLst>
      <p:ext uri="{BB962C8B-B14F-4D97-AF65-F5344CB8AC3E}">
        <p14:creationId xmlns:p14="http://schemas.microsoft.com/office/powerpoint/2010/main" val="282080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FC9E5-76C0-5AE2-170A-B1A20F367D87}"/>
              </a:ext>
            </a:extLst>
          </p:cNvPr>
          <p:cNvSpPr txBox="1">
            <a:spLocks/>
          </p:cNvSpPr>
          <p:nvPr/>
        </p:nvSpPr>
        <p:spPr>
          <a:xfrm>
            <a:off x="1524000" y="0"/>
            <a:ext cx="9144000" cy="924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Quy trình cải tiến</a:t>
            </a:r>
          </a:p>
        </p:txBody>
      </p:sp>
      <p:sp>
        <p:nvSpPr>
          <p:cNvPr id="5" name="TextBox 4">
            <a:extLst>
              <a:ext uri="{FF2B5EF4-FFF2-40B4-BE49-F238E27FC236}">
                <a16:creationId xmlns:a16="http://schemas.microsoft.com/office/drawing/2014/main" id="{51468127-8C8C-9049-2F63-142EAA251980}"/>
              </a:ext>
            </a:extLst>
          </p:cNvPr>
          <p:cNvSpPr txBox="1"/>
          <p:nvPr/>
        </p:nvSpPr>
        <p:spPr>
          <a:xfrm>
            <a:off x="835572" y="1228397"/>
            <a:ext cx="9995338" cy="4401205"/>
          </a:xfrm>
          <a:prstGeom prst="rect">
            <a:avLst/>
          </a:prstGeom>
          <a:noFill/>
        </p:spPr>
        <p:txBody>
          <a:bodyPr wrap="square" rtlCol="0">
            <a:spAutoFit/>
          </a:bodyPr>
          <a:lstStyle/>
          <a:p>
            <a:r>
              <a:rPr lang="en-US" sz="2800"/>
              <a:t>Các agent đã ra đời:</a:t>
            </a:r>
          </a:p>
          <a:p>
            <a:pPr marL="457200" indent="-457200">
              <a:buFont typeface="Arial" panose="020B0604020202020204" pitchFamily="34" charset="0"/>
              <a:buChar char="•"/>
            </a:pPr>
            <a:r>
              <a:rPr lang="en-US" sz="2800"/>
              <a:t>MinimaxAgent: chứa thuật toán search minimax và heuristic đơn giản</a:t>
            </a:r>
          </a:p>
          <a:p>
            <a:pPr marL="457200" indent="-457200">
              <a:buFont typeface="Arial" panose="020B0604020202020204" pitchFamily="34" charset="0"/>
              <a:buChar char="•"/>
            </a:pPr>
            <a:r>
              <a:rPr lang="en-US" sz="2800"/>
              <a:t>AlphaBetaAgent</a:t>
            </a:r>
          </a:p>
          <a:p>
            <a:pPr marL="457200" indent="-457200">
              <a:buFont typeface="Arial" panose="020B0604020202020204" pitchFamily="34" charset="0"/>
              <a:buChar char="•"/>
            </a:pPr>
            <a:r>
              <a:rPr lang="en-US" sz="2800"/>
              <a:t>BitBoardAgent</a:t>
            </a:r>
            <a:br>
              <a:rPr lang="en-US" sz="2800"/>
            </a:br>
            <a:r>
              <a:rPr lang="en-US" sz="2800"/>
              <a:t>PrincipalVariationAgent</a:t>
            </a:r>
          </a:p>
          <a:p>
            <a:pPr marL="457200" indent="-457200">
              <a:buFont typeface="Arial" panose="020B0604020202020204" pitchFamily="34" charset="0"/>
              <a:buChar char="•"/>
            </a:pPr>
            <a:r>
              <a:rPr lang="en-US" sz="2800"/>
              <a:t>ZobristHashingAgent</a:t>
            </a:r>
            <a:br>
              <a:rPr lang="en-US" sz="2800"/>
            </a:br>
            <a:r>
              <a:rPr lang="en-US" sz="2800"/>
              <a:t>OpeningBookAgent</a:t>
            </a:r>
          </a:p>
          <a:p>
            <a:pPr marL="457200" indent="-457200">
              <a:buFont typeface="Arial" panose="020B0604020202020204" pitchFamily="34" charset="0"/>
              <a:buChar char="•"/>
            </a:pPr>
            <a:r>
              <a:rPr lang="en-US" sz="2800"/>
              <a:t>AutowinAgent, với hàm heuristic cải tiến, thời gian load book cực nhanh và book chính xác hơn</a:t>
            </a:r>
          </a:p>
        </p:txBody>
      </p:sp>
    </p:spTree>
    <p:extLst>
      <p:ext uri="{BB962C8B-B14F-4D97-AF65-F5344CB8AC3E}">
        <p14:creationId xmlns:p14="http://schemas.microsoft.com/office/powerpoint/2010/main" val="3002373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E182-7FE7-0719-8E37-A9C5EFE0A364}"/>
              </a:ext>
            </a:extLst>
          </p:cNvPr>
          <p:cNvSpPr>
            <a:spLocks noGrp="1"/>
          </p:cNvSpPr>
          <p:nvPr>
            <p:ph type="title"/>
          </p:nvPr>
        </p:nvSpPr>
        <p:spPr/>
        <p:txBody>
          <a:bodyPr/>
          <a:lstStyle/>
          <a:p>
            <a:r>
              <a:rPr lang="en-US"/>
              <a:t>Chi tiết hơn về 3 thuật toán đã thay đổi cuộc chơi</a:t>
            </a:r>
          </a:p>
        </p:txBody>
      </p:sp>
      <p:sp>
        <p:nvSpPr>
          <p:cNvPr id="3" name="Content Placeholder 2">
            <a:extLst>
              <a:ext uri="{FF2B5EF4-FFF2-40B4-BE49-F238E27FC236}">
                <a16:creationId xmlns:a16="http://schemas.microsoft.com/office/drawing/2014/main" id="{CBF76283-8761-708E-9A06-178E376C1696}"/>
              </a:ext>
            </a:extLst>
          </p:cNvPr>
          <p:cNvSpPr>
            <a:spLocks noGrp="1"/>
          </p:cNvSpPr>
          <p:nvPr>
            <p:ph idx="1"/>
          </p:nvPr>
        </p:nvSpPr>
        <p:spPr/>
        <p:txBody>
          <a:bodyPr/>
          <a:lstStyle/>
          <a:p>
            <a:r>
              <a:rPr lang="en-US"/>
              <a:t>Zobrist Hashing</a:t>
            </a:r>
          </a:p>
          <a:p>
            <a:r>
              <a:rPr lang="en-US"/>
              <a:t>OpeningBook</a:t>
            </a:r>
          </a:p>
          <a:p>
            <a:r>
              <a:rPr lang="en-US"/>
              <a:t>Principal Variation Search kết hợp với Iterative Deepening</a:t>
            </a:r>
          </a:p>
        </p:txBody>
      </p:sp>
    </p:spTree>
    <p:extLst>
      <p:ext uri="{BB962C8B-B14F-4D97-AF65-F5344CB8AC3E}">
        <p14:creationId xmlns:p14="http://schemas.microsoft.com/office/powerpoint/2010/main" val="566629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09009"/>
            <a:ext cx="9144000" cy="2093912"/>
          </a:xfrm>
        </p:spPr>
        <p:txBody>
          <a:bodyPr>
            <a:normAutofit/>
          </a:bodyPr>
          <a:lstStyle/>
          <a:p>
            <a:r>
              <a:rPr lang="en-US" altLang="en-GB" sz="3600"/>
              <a:t>Thuật Toán Hashing Zobrist</a:t>
            </a:r>
          </a:p>
        </p:txBody>
      </p:sp>
      <p:sp>
        <p:nvSpPr>
          <p:cNvPr id="5" name="Subtitle 4"/>
          <p:cNvSpPr>
            <a:spLocks noGrp="1"/>
          </p:cNvSpPr>
          <p:nvPr>
            <p:ph type="subTitle" idx="1"/>
          </p:nvPr>
        </p:nvSpPr>
        <p:spPr>
          <a:xfrm>
            <a:off x="763290" y="1307721"/>
            <a:ext cx="10988675" cy="4242557"/>
          </a:xfrm>
        </p:spPr>
        <p:txBody>
          <a:bodyPr>
            <a:normAutofit fontScale="25000" lnSpcReduction="20000"/>
          </a:bodyPr>
          <a:lstStyle/>
          <a:p>
            <a:pPr algn="l">
              <a:lnSpc>
                <a:spcPct val="100000"/>
              </a:lnSpc>
            </a:pPr>
            <a:r>
              <a:rPr lang="en-US" altLang="en-GB" sz="14400" b="1"/>
              <a:t>I, Sự ra đời</a:t>
            </a:r>
            <a:endParaRPr lang="en-US" altLang="en-GB" sz="14400"/>
          </a:p>
          <a:p>
            <a:pPr algn="l">
              <a:lnSpc>
                <a:spcPct val="140000"/>
              </a:lnSpc>
            </a:pPr>
            <a:r>
              <a:rPr lang="en-US" altLang="en-GB" sz="10400"/>
              <a:t>Trong quá trình search, một trạng thái(state) có nhiều con đường có thể đạt được state đó. Vậy thì tại sao chúng ta không nghĩ cách nào đó để lưu chúng lại? </a:t>
            </a:r>
          </a:p>
          <a:p>
            <a:pPr algn="l">
              <a:lnSpc>
                <a:spcPct val="140000"/>
              </a:lnSpc>
            </a:pPr>
            <a:endParaRPr lang="en-US" altLang="en-GB" sz="10400"/>
          </a:p>
          <a:p>
            <a:pPr algn="l">
              <a:lnSpc>
                <a:spcPct val="140000"/>
              </a:lnSpc>
            </a:pPr>
            <a:r>
              <a:rPr lang="en-US" altLang="en-GB" sz="10400"/>
              <a:t>Zobrist Hashing ra đời: Khi AI tính xong điểm số của 1 thế cờ, nó sẽ băm thế cờ đó và lưu vào bảng. Lần sau gặp thế cờ đó thì thay vì chày cối tìm tiếp, AI chỉ việc đọc kết quả và dùng ngay lập tức</a:t>
            </a:r>
          </a:p>
          <a:p>
            <a:pPr algn="l">
              <a:lnSpc>
                <a:spcPct val="120000"/>
              </a:lnSpc>
              <a:spcBef>
                <a:spcPts val="1000"/>
              </a:spcBef>
              <a:spcAft>
                <a:spcPct val="0"/>
              </a:spcAft>
            </a:pPr>
            <a:endParaRPr lang="en-US" altLang="en-GB"/>
          </a:p>
          <a:p>
            <a:endParaRPr lang="en-US" alt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4080" y="0"/>
            <a:ext cx="10515600" cy="1325563"/>
          </a:xfrm>
        </p:spPr>
        <p:txBody>
          <a:bodyPr/>
          <a:lstStyle/>
          <a:p>
            <a:r>
              <a:rPr lang="en-US" altLang="en-GB" sz="3800" b="1"/>
              <a:t>II, Điều thuật toán cải thiện</a:t>
            </a:r>
          </a:p>
        </p:txBody>
      </p:sp>
      <p:sp>
        <p:nvSpPr>
          <p:cNvPr id="3" name="Content Placeholder 2"/>
          <p:cNvSpPr>
            <a:spLocks noGrp="1"/>
          </p:cNvSpPr>
          <p:nvPr>
            <p:ph idx="1"/>
          </p:nvPr>
        </p:nvSpPr>
        <p:spPr>
          <a:xfrm>
            <a:off x="838200" y="1058545"/>
            <a:ext cx="10515600" cy="5357003"/>
          </a:xfrm>
        </p:spPr>
        <p:txBody>
          <a:bodyPr>
            <a:normAutofit fontScale="95000"/>
          </a:bodyPr>
          <a:lstStyle/>
          <a:p>
            <a:pPr marL="0" indent="0">
              <a:lnSpc>
                <a:spcPct val="100000"/>
              </a:lnSpc>
              <a:buNone/>
            </a:pPr>
            <a:r>
              <a:rPr lang="en-US" altLang="en-GB" sz="3000"/>
              <a:t>1, Giảm tải và tối ưu bộ nhớ</a:t>
            </a:r>
          </a:p>
          <a:p>
            <a:pPr marL="0" indent="0">
              <a:lnSpc>
                <a:spcPct val="100000"/>
              </a:lnSpc>
              <a:buNone/>
            </a:pPr>
            <a:r>
              <a:rPr lang="en-US" altLang="en-GB" sz="3000"/>
              <a:t> - Loại bỏ việc lưu và tính toán lặp lại các thế cờ trùng nhau </a:t>
            </a:r>
          </a:p>
          <a:p>
            <a:pPr marL="0" indent="0">
              <a:lnSpc>
                <a:spcPct val="100000"/>
              </a:lnSpc>
              <a:buNone/>
            </a:pPr>
            <a:r>
              <a:rPr lang="en-US" altLang="en-GB" sz="3000"/>
              <a:t>2, Giảm số lượng node cần duyệt </a:t>
            </a:r>
          </a:p>
          <a:p>
            <a:pPr marL="0" indent="0">
              <a:lnSpc>
                <a:spcPct val="100000"/>
              </a:lnSpc>
              <a:buNone/>
            </a:pPr>
            <a:r>
              <a:rPr lang="en-US" altLang="en-GB" sz="3000"/>
              <a:t>- các trạng thái trùng lặp không bị tính lại  -&gt; giảm đáng kể số node trong cây minimax</a:t>
            </a:r>
          </a:p>
          <a:p>
            <a:pPr marL="0" indent="0">
              <a:lnSpc>
                <a:spcPct val="100000"/>
              </a:lnSpc>
              <a:buNone/>
            </a:pPr>
            <a:r>
              <a:rPr lang="en-US" altLang="en-GB" sz="3000">
                <a:sym typeface="+mn-ea"/>
              </a:rPr>
              <a:t>3, Tối ưu hóa hiệu quả của PVS và Alpha-Beta</a:t>
            </a:r>
            <a:endParaRPr lang="en-US" altLang="en-GB" sz="3000"/>
          </a:p>
          <a:p>
            <a:pPr marL="0" indent="0">
              <a:lnSpc>
                <a:spcPct val="100000"/>
              </a:lnSpc>
              <a:buNone/>
            </a:pPr>
            <a:r>
              <a:rPr lang="en-US" altLang="en-GB" sz="3000">
                <a:sym typeface="+mn-ea"/>
              </a:rPr>
              <a:t>- Thuật toán ưu tiên duyệt nước đi mạnh trước </a:t>
            </a:r>
            <a:endParaRPr lang="en-US" altLang="en-GB" sz="3000"/>
          </a:p>
          <a:p>
            <a:pPr marL="0" indent="0">
              <a:lnSpc>
                <a:spcPct val="100000"/>
              </a:lnSpc>
              <a:buNone/>
            </a:pPr>
            <a:r>
              <a:rPr lang="en-US" altLang="en-GB" sz="3000">
                <a:sym typeface="+mn-ea"/>
              </a:rPr>
              <a:t>- Beta cutoff xảy ra sớm hơn</a:t>
            </a:r>
            <a:endParaRPr lang="en-US" altLang="en-GB" sz="3000"/>
          </a:p>
          <a:p>
            <a:pPr marL="0" indent="0">
              <a:lnSpc>
                <a:spcPct val="100000"/>
              </a:lnSpc>
              <a:buNone/>
            </a:pPr>
            <a:r>
              <a:rPr lang="en-US" altLang="en-GB" sz="3000">
                <a:sym typeface="+mn-ea"/>
              </a:rPr>
              <a:t>- Tăng quá trình cắt tỉa </a:t>
            </a:r>
            <a:endParaRPr lang="en-US" altLang="en-GB" sz="3000"/>
          </a:p>
          <a:p>
            <a:pPr marL="0" indent="0">
              <a:buNone/>
            </a:pPr>
            <a:endParaRPr lang="en-US" altLang="en-GB"/>
          </a:p>
          <a:p>
            <a:pPr marL="0" indent="0">
              <a:buNone/>
            </a:pPr>
            <a:endParaRPr lang="en-US" altLang="en-GB"/>
          </a:p>
          <a:p>
            <a:pPr marL="0" indent="0">
              <a:buNone/>
            </a:pPr>
            <a:endParaRPr lang="en-US" alt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ltLang="en-GB" sz="3800" b="1"/>
              <a:t>III, Ý tưởng thuật toán </a:t>
            </a:r>
          </a:p>
        </p:txBody>
      </p:sp>
      <p:sp>
        <p:nvSpPr>
          <p:cNvPr id="3" name="Content Placeholder 2"/>
          <p:cNvSpPr>
            <a:spLocks noGrp="1"/>
          </p:cNvSpPr>
          <p:nvPr>
            <p:ph idx="1"/>
          </p:nvPr>
        </p:nvSpPr>
        <p:spPr>
          <a:xfrm>
            <a:off x="903605" y="1038860"/>
            <a:ext cx="10515600" cy="4351338"/>
          </a:xfrm>
        </p:spPr>
        <p:txBody>
          <a:bodyPr/>
          <a:lstStyle/>
          <a:p>
            <a:pPr marL="0" indent="0">
              <a:buNone/>
            </a:pPr>
            <a:r>
              <a:rPr lang="en-US" altLang="en-GB"/>
              <a:t>ý tưởng chính </a:t>
            </a:r>
          </a:p>
          <a:p>
            <a:pPr marL="0" indent="0">
              <a:buNone/>
            </a:pPr>
            <a:r>
              <a:rPr lang="en-US" altLang="en-GB"/>
              <a:t> mỗi ô trên bàn cờ được gán :  một số random cho quân mình,</a:t>
            </a:r>
          </a:p>
          <a:p>
            <a:pPr marL="0" indent="0">
              <a:buNone/>
            </a:pPr>
            <a:r>
              <a:rPr lang="en-US" altLang="en-GB"/>
              <a:t>                                                       một số random cho quân đối thủ</a:t>
            </a:r>
          </a:p>
          <a:p>
            <a:pPr marL="0" indent="0">
              <a:buNone/>
            </a:pPr>
            <a:r>
              <a:rPr lang="en-US" altLang="en-GB"/>
              <a:t>Hash của bàn cờ : tạo bằng phép XOR :</a:t>
            </a:r>
          </a:p>
          <a:p>
            <a:pPr marL="0" indent="0">
              <a:buNone/>
            </a:pPr>
            <a:r>
              <a:rPr lang="en-US" altLang="en-GB"/>
              <a:t>   Hash = R1​</a:t>
            </a:r>
            <a:r>
              <a:rPr lang="en-US" altLang="en-GB" sz="4400"/>
              <a:t>⊕</a:t>
            </a:r>
            <a:r>
              <a:rPr lang="en-US" altLang="en-GB"/>
              <a:t>R2​</a:t>
            </a:r>
            <a:r>
              <a:rPr lang="en-US" altLang="en-GB" sz="4400"/>
              <a:t>⊕</a:t>
            </a:r>
            <a:r>
              <a:rPr lang="en-US" altLang="en-GB"/>
              <a:t>R3​</a:t>
            </a:r>
            <a:r>
              <a:rPr lang="en-US" altLang="en-GB" sz="4400"/>
              <a:t>⊕...⊕</a:t>
            </a:r>
            <a:r>
              <a:rPr lang="en-US" altLang="en-GB"/>
              <a:t>Rn​</a:t>
            </a:r>
          </a:p>
          <a:p>
            <a:pPr marL="0" indent="0">
              <a:buNone/>
            </a:pPr>
            <a:r>
              <a:rPr lang="en-US" altLang="en-GB"/>
              <a:t>trong đó : Ri là giá trị random tương ứng với từng quân cờ đang tồn tại</a:t>
            </a:r>
          </a:p>
          <a:p>
            <a:pPr marL="0" indent="0">
              <a:buNone/>
            </a:pP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sz="3800" b="1"/>
              <a:t>IV, Cách hoạt động </a:t>
            </a:r>
          </a:p>
        </p:txBody>
      </p:sp>
      <p:sp>
        <p:nvSpPr>
          <p:cNvPr id="3" name="Content Placeholder 2"/>
          <p:cNvSpPr>
            <a:spLocks noGrp="1"/>
          </p:cNvSpPr>
          <p:nvPr>
            <p:ph idx="1"/>
          </p:nvPr>
        </p:nvSpPr>
        <p:spPr>
          <a:xfrm>
            <a:off x="838200" y="1273175"/>
            <a:ext cx="10515600" cy="5325110"/>
          </a:xfrm>
        </p:spPr>
        <p:txBody>
          <a:bodyPr>
            <a:normAutofit fontScale="97500" lnSpcReduction="10000"/>
          </a:bodyPr>
          <a:lstStyle/>
          <a:p>
            <a:pPr marL="0" indent="0">
              <a:lnSpc>
                <a:spcPct val="100000"/>
              </a:lnSpc>
              <a:buNone/>
            </a:pPr>
            <a:r>
              <a:rPr lang="en-US" altLang="en-GB"/>
              <a:t>1,Tạo bảng Zobrist : </a:t>
            </a:r>
          </a:p>
          <a:p>
            <a:pPr marL="0" indent="0">
              <a:lnSpc>
                <a:spcPct val="100000"/>
              </a:lnSpc>
              <a:buNone/>
            </a:pPr>
            <a:r>
              <a:rPr lang="en-US" altLang="en-GB"/>
              <a:t>  +, sinh ra các số random 64-bit cho từng vị trí trên bàn cờ bao gồm </a:t>
            </a:r>
          </a:p>
          <a:p>
            <a:pPr marL="0" indent="0">
              <a:lnSpc>
                <a:spcPct val="100000"/>
              </a:lnSpc>
              <a:buNone/>
            </a:pPr>
            <a:r>
              <a:rPr lang="en-US" altLang="en-GB"/>
              <a:t>    _Z_ME và _Z_OPP</a:t>
            </a:r>
          </a:p>
          <a:p>
            <a:pPr marL="0" indent="0">
              <a:lnSpc>
                <a:spcPct val="100000"/>
              </a:lnSpc>
              <a:buNone/>
            </a:pPr>
            <a:r>
              <a:rPr lang="en-US" altLang="en-GB"/>
              <a:t>2, Tính hash trạng thái bàn cờ </a:t>
            </a:r>
          </a:p>
          <a:p>
            <a:pPr marL="0" indent="0">
              <a:lnSpc>
                <a:spcPct val="100000"/>
              </a:lnSpc>
              <a:buNone/>
            </a:pPr>
            <a:r>
              <a:rPr lang="en-US" altLang="en-GB"/>
              <a:t> -Duyệt toàn bộ quân cờ trên board</a:t>
            </a:r>
          </a:p>
          <a:p>
            <a:pPr marL="0" indent="0">
              <a:lnSpc>
                <a:spcPct val="100000"/>
              </a:lnSpc>
              <a:buNone/>
            </a:pPr>
            <a:r>
              <a:rPr lang="en-US" altLang="en-GB"/>
              <a:t> -XOR tất cả giá trị random tương ứng.</a:t>
            </a:r>
          </a:p>
          <a:p>
            <a:pPr marL="0" indent="0">
              <a:lnSpc>
                <a:spcPct val="100000"/>
              </a:lnSpc>
              <a:buNone/>
            </a:pPr>
            <a:r>
              <a:rPr lang="en-US" altLang="en-GB"/>
              <a:t> -Tạo ra 1 hash duy nhất cho trạng thái hiện tại</a:t>
            </a:r>
          </a:p>
          <a:p>
            <a:pPr marL="0" indent="0">
              <a:lnSpc>
                <a:spcPct val="100000"/>
              </a:lnSpc>
              <a:buNone/>
            </a:pPr>
            <a:r>
              <a:rPr lang="en-US" altLang="en-GB">
                <a:sym typeface="+mn-ea"/>
              </a:rPr>
              <a:t>3, Kiểm tra Transposition Table(độ sậu )</a:t>
            </a:r>
            <a:endParaRPr lang="en-US" altLang="en-GB"/>
          </a:p>
          <a:p>
            <a:pPr marL="0" indent="0">
              <a:lnSpc>
                <a:spcPct val="100000"/>
              </a:lnSpc>
              <a:buNone/>
            </a:pPr>
            <a:r>
              <a:rPr lang="en-US" altLang="en-GB">
                <a:sym typeface="+mn-ea"/>
              </a:rPr>
              <a:t>   -kiếm tra trạng thái đã được tính trước đó chưa ?</a:t>
            </a:r>
            <a:endParaRPr lang="en-US" altLang="en-GB"/>
          </a:p>
          <a:p>
            <a:pPr marL="0" indent="0">
              <a:lnSpc>
                <a:spcPct val="100000"/>
              </a:lnSpc>
              <a:buNone/>
            </a:pPr>
            <a:r>
              <a:rPr lang="en-US" altLang="en-GB">
                <a:sym typeface="+mn-ea"/>
              </a:rPr>
              <a:t>  - Nếu đã tồn tại : dùng lại kết quả cũ , không search lại</a:t>
            </a:r>
            <a:endParaRPr lang="en-US" altLang="en-GB"/>
          </a:p>
          <a:p>
            <a:pPr marL="0" indent="0">
              <a:buNone/>
            </a:pPr>
            <a:endParaRPr lang="en-US" altLang="en-GB"/>
          </a:p>
          <a:p>
            <a:pPr marL="0" indent="0">
              <a:buNone/>
            </a:pPr>
            <a:endParaRPr lang="en-US" alt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en-GB"/>
              <a:t>4, Thực hiện PVS Search</a:t>
            </a:r>
          </a:p>
          <a:p>
            <a:pPr marL="0" indent="0">
              <a:buNone/>
            </a:pPr>
            <a:r>
              <a:rPr lang="en-US" altLang="en-GB"/>
              <a:t> Nếu trạng thái đó không có trong TT : AI tiếp tục search bằng các thuật toán tìm kiếm </a:t>
            </a:r>
          </a:p>
          <a:p>
            <a:pPr marL="0" indent="0">
              <a:buNone/>
            </a:pPr>
            <a:r>
              <a:rPr lang="en-US" altLang="en-GB"/>
              <a:t>5, Lưu kết quả vào TT</a:t>
            </a:r>
          </a:p>
          <a:p>
            <a:pPr marL="0" indent="0">
              <a:buNone/>
            </a:pPr>
            <a:r>
              <a:rPr lang="en-US" altLang="en-GB"/>
              <a:t>Ai sẽ lưu vào TT bao gồm là (hash trạng thái, độ số tìm kiếm , điểm minimax, loại bound, nước đi tốt nhất )</a:t>
            </a:r>
          </a:p>
          <a:p>
            <a:pPr marL="0" indent="0">
              <a:buNone/>
            </a:pPr>
            <a:endParaRPr lang="en-US" alt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313673-3C71-8C76-0F89-00EC01908B11}"/>
              </a:ext>
            </a:extLst>
          </p:cNvPr>
          <p:cNvSpPr txBox="1">
            <a:spLocks/>
          </p:cNvSpPr>
          <p:nvPr/>
        </p:nvSpPr>
        <p:spPr>
          <a:xfrm>
            <a:off x="1524000" y="236482"/>
            <a:ext cx="9144000" cy="7352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Sự ra đời của Opening Book</a:t>
            </a:r>
          </a:p>
        </p:txBody>
      </p:sp>
      <p:sp>
        <p:nvSpPr>
          <p:cNvPr id="6" name="TextBox 5">
            <a:extLst>
              <a:ext uri="{FF2B5EF4-FFF2-40B4-BE49-F238E27FC236}">
                <a16:creationId xmlns:a16="http://schemas.microsoft.com/office/drawing/2014/main" id="{6849EF24-CC3F-BCB7-E7AE-941D474E3361}"/>
              </a:ext>
            </a:extLst>
          </p:cNvPr>
          <p:cNvSpPr txBox="1"/>
          <p:nvPr/>
        </p:nvSpPr>
        <p:spPr>
          <a:xfrm>
            <a:off x="618795" y="982176"/>
            <a:ext cx="10763908" cy="5262979"/>
          </a:xfrm>
          <a:prstGeom prst="rect">
            <a:avLst/>
          </a:prstGeom>
          <a:noFill/>
        </p:spPr>
        <p:txBody>
          <a:bodyPr wrap="square">
            <a:spAutoFit/>
          </a:bodyPr>
          <a:lstStyle/>
          <a:p>
            <a:pPr algn="l"/>
            <a:r>
              <a:rPr lang="en-US" sz="2400"/>
              <a:t>*Khi không có OpeningBook:</a:t>
            </a:r>
          </a:p>
          <a:p>
            <a:pPr algn="l"/>
            <a:endParaRPr lang="en-US" sz="2400"/>
          </a:p>
          <a:p>
            <a:pPr algn="l"/>
            <a:r>
              <a:rPr lang="en-US" sz="2400"/>
              <a:t>Thời gian suy nghĩ mỗi nước chỉ có 2 giây, dẫn đến việc depth tìm kiếm đầu trận chỉ khoảng tầm 12, rồi dùng heuristic. Và giá trị tuyệt đối heuristic khi board có &lt;= 12 quân là khá nhỏ và mơ hồ, chưa thể hiện rõ thắng thua</a:t>
            </a:r>
          </a:p>
          <a:p>
            <a:pPr algn="l"/>
            <a:endParaRPr lang="en-US" sz="2400"/>
          </a:p>
          <a:p>
            <a:pPr algn="l"/>
            <a:r>
              <a:rPr lang="en-US" sz="2400"/>
              <a:t>*Khi có OpeningBook</a:t>
            </a:r>
          </a:p>
          <a:p>
            <a:pPr algn="l"/>
            <a:endParaRPr lang="en-US" sz="2400"/>
          </a:p>
          <a:p>
            <a:pPr algn="l"/>
            <a:r>
              <a:rPr lang="en-US" sz="2400"/>
              <a:t>Thay vì phải suy nghĩ trong trận đấu, ta sinh ra bộ từ điển khổng lồ với key là thế cờ, value là giá trị heuristic của thế cờ, được tính toán với độ sâu 20</a:t>
            </a:r>
          </a:p>
          <a:p>
            <a:pPr algn="l"/>
            <a:endParaRPr lang="en-US" sz="2400"/>
          </a:p>
          <a:p>
            <a:pPr algn="l"/>
            <a:r>
              <a:rPr lang="en-US" sz="2400"/>
              <a:t>Khi agent của mình đến lượt thì sẽ tra gọi hàm pvs, hàm pvs sẽ tra OpeningBook để xem có tồn tại thế cờ mà pvs cần không, nếu có thì trả về giá trị heuristic luôn. </a:t>
            </a:r>
            <a:br>
              <a:rPr lang="en-US" sz="2400"/>
            </a:br>
            <a:endParaRPr lang="en-US" sz="2400"/>
          </a:p>
        </p:txBody>
      </p:sp>
    </p:spTree>
    <p:extLst>
      <p:ext uri="{BB962C8B-B14F-4D97-AF65-F5344CB8AC3E}">
        <p14:creationId xmlns:p14="http://schemas.microsoft.com/office/powerpoint/2010/main" val="2381308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9F68-6E1A-7A75-895A-FAB3BB040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95C90-3EFA-8DEE-BBCD-6F67383D5657}"/>
              </a:ext>
            </a:extLst>
          </p:cNvPr>
          <p:cNvSpPr>
            <a:spLocks noGrp="1"/>
          </p:cNvSpPr>
          <p:nvPr>
            <p:ph type="title"/>
          </p:nvPr>
        </p:nvSpPr>
        <p:spPr/>
        <p:txBody>
          <a:bodyPr>
            <a:normAutofit/>
          </a:bodyPr>
          <a:lstStyle/>
          <a:p>
            <a:r>
              <a:rPr lang="en-US" sz="3600"/>
              <a:t>Vấn đề bây giờ: Làm sao để sinh ra OpeningBook mà tốn ít thời gian nhất có thể</a:t>
            </a:r>
          </a:p>
        </p:txBody>
      </p:sp>
      <p:sp>
        <p:nvSpPr>
          <p:cNvPr id="3" name="Content Placeholder 2">
            <a:extLst>
              <a:ext uri="{FF2B5EF4-FFF2-40B4-BE49-F238E27FC236}">
                <a16:creationId xmlns:a16="http://schemas.microsoft.com/office/drawing/2014/main" id="{F73BD4A7-9E99-32C4-256F-014E3D3027A6}"/>
              </a:ext>
            </a:extLst>
          </p:cNvPr>
          <p:cNvSpPr>
            <a:spLocks noGrp="1"/>
          </p:cNvSpPr>
          <p:nvPr>
            <p:ph idx="1"/>
          </p:nvPr>
        </p:nvSpPr>
        <p:spPr>
          <a:xfrm>
            <a:off x="838200" y="1825625"/>
            <a:ext cx="10515600" cy="3897258"/>
          </a:xfrm>
        </p:spPr>
        <p:txBody>
          <a:bodyPr>
            <a:normAutofit/>
          </a:bodyPr>
          <a:lstStyle/>
          <a:p>
            <a:r>
              <a:rPr lang="en-US"/>
              <a:t>Cách làm ngây thơ: dùng BFS sinh toàn bộ các thế cờ cho các nước đi từ 1 đến 12</a:t>
            </a:r>
          </a:p>
          <a:p>
            <a:pPr marL="0" indent="0">
              <a:buNone/>
            </a:pPr>
            <a:endParaRPr lang="en-US"/>
          </a:p>
          <a:p>
            <a:r>
              <a:rPr lang="en-US"/>
              <a:t>Với mỗi node(thế cờ) lấy ra từ BFS queue thì ta gọi hàm search để tính giá trị heuristic với thời gian mỗi thế cờ là 10s</a:t>
            </a:r>
          </a:p>
          <a:p>
            <a:endParaRPr lang="en-US"/>
          </a:p>
          <a:p>
            <a:r>
              <a:rPr lang="en-US"/>
              <a:t>Số lượng thế cờ trong từ điển sẽ là 7^12 = 1,3 mũ 10, quá to! Bất khả thi cả về mặt bộ nhớ lẫn thời gian</a:t>
            </a:r>
          </a:p>
          <a:p>
            <a:endParaRPr lang="en-US"/>
          </a:p>
        </p:txBody>
      </p:sp>
    </p:spTree>
    <p:extLst>
      <p:ext uri="{BB962C8B-B14F-4D97-AF65-F5344CB8AC3E}">
        <p14:creationId xmlns:p14="http://schemas.microsoft.com/office/powerpoint/2010/main" val="1967378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40E-973D-1F44-149B-28B50BBE098F}"/>
              </a:ext>
            </a:extLst>
          </p:cNvPr>
          <p:cNvSpPr>
            <a:spLocks noGrp="1"/>
          </p:cNvSpPr>
          <p:nvPr>
            <p:ph type="title"/>
          </p:nvPr>
        </p:nvSpPr>
        <p:spPr/>
        <p:txBody>
          <a:bodyPr/>
          <a:lstStyle/>
          <a:p>
            <a:r>
              <a:rPr lang="en-US"/>
              <a:t>Cách làm tốt</a:t>
            </a:r>
          </a:p>
        </p:txBody>
      </p:sp>
      <p:sp>
        <p:nvSpPr>
          <p:cNvPr id="3" name="Content Placeholder 2">
            <a:extLst>
              <a:ext uri="{FF2B5EF4-FFF2-40B4-BE49-F238E27FC236}">
                <a16:creationId xmlns:a16="http://schemas.microsoft.com/office/drawing/2014/main" id="{2FBC6899-6902-FDD4-522A-78BC45A35B29}"/>
              </a:ext>
            </a:extLst>
          </p:cNvPr>
          <p:cNvSpPr>
            <a:spLocks noGrp="1"/>
          </p:cNvSpPr>
          <p:nvPr>
            <p:ph idx="1"/>
          </p:nvPr>
        </p:nvSpPr>
        <p:spPr>
          <a:xfrm>
            <a:off x="838200" y="1292772"/>
            <a:ext cx="10515600" cy="4884191"/>
          </a:xfrm>
        </p:spPr>
        <p:txBody>
          <a:bodyPr>
            <a:normAutofit/>
          </a:bodyPr>
          <a:lstStyle/>
          <a:p>
            <a:r>
              <a:rPr lang="en-US"/>
              <a:t>Với những thế cờ mà giá trị tuyệt đối heuristic tìm được trong 1s quá lớn thì ta prune (không rẽ nhánh thêm vì thế cờ đã phân biệt rõ ràng thắng thua, việc thêm các thế cờ như vậy vào book không còn giúp người thua lật kèo)</a:t>
            </a:r>
          </a:p>
          <a:p>
            <a:pPr marL="0" indent="0">
              <a:buNone/>
            </a:pPr>
            <a:endParaRPr lang="en-US"/>
          </a:p>
          <a:p>
            <a:r>
              <a:rPr lang="en-US"/>
              <a:t>Cấu trúc dữ liệu sử dụng: thay vì lưu vào file json, ta lưu vào file binary với 17 bytes mỗi entries. Bao gồm bitboard cho 2 phe, nước đi tốt nhất</a:t>
            </a:r>
          </a:p>
          <a:p>
            <a:endParaRPr lang="en-US"/>
          </a:p>
          <a:p>
            <a:r>
              <a:rPr lang="en-US"/>
              <a:t>Kết quả: book có khoảng 10^7 thế cờ với depth = 20</a:t>
            </a:r>
          </a:p>
        </p:txBody>
      </p:sp>
    </p:spTree>
    <p:extLst>
      <p:ext uri="{BB962C8B-B14F-4D97-AF65-F5344CB8AC3E}">
        <p14:creationId xmlns:p14="http://schemas.microsoft.com/office/powerpoint/2010/main" val="1427868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AA16-3DA6-3EBF-20F2-52854B4E1CEF}"/>
              </a:ext>
            </a:extLst>
          </p:cNvPr>
          <p:cNvSpPr>
            <a:spLocks noGrp="1"/>
          </p:cNvSpPr>
          <p:nvPr>
            <p:ph type="title"/>
          </p:nvPr>
        </p:nvSpPr>
        <p:spPr/>
        <p:txBody>
          <a:bodyPr/>
          <a:lstStyle/>
          <a:p>
            <a:r>
              <a:rPr lang="en-US"/>
              <a:t>Một ví dụ cho cơ chế prune</a:t>
            </a:r>
          </a:p>
        </p:txBody>
      </p:sp>
      <p:graphicFrame>
        <p:nvGraphicFramePr>
          <p:cNvPr id="4" name="Content Placeholder 3">
            <a:extLst>
              <a:ext uri="{FF2B5EF4-FFF2-40B4-BE49-F238E27FC236}">
                <a16:creationId xmlns:a16="http://schemas.microsoft.com/office/drawing/2014/main" id="{295FA219-3099-152F-436E-C5DB4EF4A070}"/>
              </a:ext>
            </a:extLst>
          </p:cNvPr>
          <p:cNvGraphicFramePr>
            <a:graphicFrameLocks noGrp="1"/>
          </p:cNvGraphicFramePr>
          <p:nvPr>
            <p:ph idx="1"/>
            <p:extLst>
              <p:ext uri="{D42A27DB-BD31-4B8C-83A1-F6EECF244321}">
                <p14:modId xmlns:p14="http://schemas.microsoft.com/office/powerpoint/2010/main" val="1127330734"/>
              </p:ext>
            </p:extLst>
          </p:nvPr>
        </p:nvGraphicFramePr>
        <p:xfrm>
          <a:off x="838201" y="1825625"/>
          <a:ext cx="3513083" cy="3840480"/>
        </p:xfrm>
        <a:graphic>
          <a:graphicData uri="http://schemas.openxmlformats.org/drawingml/2006/table">
            <a:tbl>
              <a:tblPr firstRow="1" bandRow="1">
                <a:tableStyleId>{5940675A-B579-460E-94D1-54222C63F5DA}</a:tableStyleId>
              </a:tblPr>
              <a:tblGrid>
                <a:gridCol w="501869">
                  <a:extLst>
                    <a:ext uri="{9D8B030D-6E8A-4147-A177-3AD203B41FA5}">
                      <a16:colId xmlns:a16="http://schemas.microsoft.com/office/drawing/2014/main" val="145521486"/>
                    </a:ext>
                  </a:extLst>
                </a:gridCol>
                <a:gridCol w="501869">
                  <a:extLst>
                    <a:ext uri="{9D8B030D-6E8A-4147-A177-3AD203B41FA5}">
                      <a16:colId xmlns:a16="http://schemas.microsoft.com/office/drawing/2014/main" val="1071181831"/>
                    </a:ext>
                  </a:extLst>
                </a:gridCol>
                <a:gridCol w="501869">
                  <a:extLst>
                    <a:ext uri="{9D8B030D-6E8A-4147-A177-3AD203B41FA5}">
                      <a16:colId xmlns:a16="http://schemas.microsoft.com/office/drawing/2014/main" val="3944215384"/>
                    </a:ext>
                  </a:extLst>
                </a:gridCol>
                <a:gridCol w="501869">
                  <a:extLst>
                    <a:ext uri="{9D8B030D-6E8A-4147-A177-3AD203B41FA5}">
                      <a16:colId xmlns:a16="http://schemas.microsoft.com/office/drawing/2014/main" val="2648417473"/>
                    </a:ext>
                  </a:extLst>
                </a:gridCol>
                <a:gridCol w="501869">
                  <a:extLst>
                    <a:ext uri="{9D8B030D-6E8A-4147-A177-3AD203B41FA5}">
                      <a16:colId xmlns:a16="http://schemas.microsoft.com/office/drawing/2014/main" val="4173746111"/>
                    </a:ext>
                  </a:extLst>
                </a:gridCol>
                <a:gridCol w="501869">
                  <a:extLst>
                    <a:ext uri="{9D8B030D-6E8A-4147-A177-3AD203B41FA5}">
                      <a16:colId xmlns:a16="http://schemas.microsoft.com/office/drawing/2014/main" val="2526986400"/>
                    </a:ext>
                  </a:extLst>
                </a:gridCol>
                <a:gridCol w="501869">
                  <a:extLst>
                    <a:ext uri="{9D8B030D-6E8A-4147-A177-3AD203B41FA5}">
                      <a16:colId xmlns:a16="http://schemas.microsoft.com/office/drawing/2014/main" val="3803942621"/>
                    </a:ext>
                  </a:extLst>
                </a:gridCol>
              </a:tblGrid>
              <a:tr h="549695">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3711010843"/>
                  </a:ext>
                </a:extLst>
              </a:tr>
              <a:tr h="549695">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2837429952"/>
                  </a:ext>
                </a:extLst>
              </a:tr>
              <a:tr h="549695">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930216756"/>
                  </a:ext>
                </a:extLst>
              </a:tr>
              <a:tr h="549695">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570392627"/>
                  </a:ext>
                </a:extLst>
              </a:tr>
              <a:tr h="549695">
                <a:tc>
                  <a:txBody>
                    <a:bodyPr/>
                    <a:lstStyle/>
                    <a:p>
                      <a:pPr algn="ctr"/>
                      <a:r>
                        <a:rPr lang="en-US" sz="3600"/>
                        <a:t>O</a:t>
                      </a:r>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r>
                        <a:rPr lang="en-US" sz="3600"/>
                        <a:t>X</a:t>
                      </a:r>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1078356449"/>
                  </a:ext>
                </a:extLst>
              </a:tr>
              <a:tr h="549695">
                <a:tc>
                  <a:txBody>
                    <a:bodyPr/>
                    <a:lstStyle/>
                    <a:p>
                      <a:pPr algn="ctr"/>
                      <a:r>
                        <a:rPr lang="en-US" sz="3600"/>
                        <a:t>O</a:t>
                      </a:r>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r>
                        <a:rPr lang="en-US" sz="3600"/>
                        <a:t>X</a:t>
                      </a:r>
                    </a:p>
                  </a:txBody>
                  <a:tcPr anchor="ctr"/>
                </a:tc>
                <a:tc>
                  <a:txBody>
                    <a:bodyPr/>
                    <a:lstStyle/>
                    <a:p>
                      <a:pPr algn="ctr"/>
                      <a:endParaRPr lang="en-US" sz="3600"/>
                    </a:p>
                  </a:txBody>
                  <a:tcPr anchor="ctr"/>
                </a:tc>
                <a:tc>
                  <a:txBody>
                    <a:bodyPr/>
                    <a:lstStyle/>
                    <a:p>
                      <a:pPr algn="ctr"/>
                      <a:endParaRPr lang="en-US" sz="3600"/>
                    </a:p>
                  </a:txBody>
                  <a:tcPr anchor="ctr"/>
                </a:tc>
                <a:tc>
                  <a:txBody>
                    <a:bodyPr/>
                    <a:lstStyle/>
                    <a:p>
                      <a:pPr algn="ctr"/>
                      <a:endParaRPr lang="en-US" sz="3600"/>
                    </a:p>
                  </a:txBody>
                  <a:tcPr anchor="ctr"/>
                </a:tc>
                <a:extLst>
                  <a:ext uri="{0D108BD9-81ED-4DB2-BD59-A6C34878D82A}">
                    <a16:rowId xmlns:a16="http://schemas.microsoft.com/office/drawing/2014/main" val="3387130739"/>
                  </a:ext>
                </a:extLst>
              </a:tr>
            </a:tbl>
          </a:graphicData>
        </a:graphic>
      </p:graphicFrame>
      <p:sp>
        <p:nvSpPr>
          <p:cNvPr id="5" name="TextBox 4">
            <a:extLst>
              <a:ext uri="{FF2B5EF4-FFF2-40B4-BE49-F238E27FC236}">
                <a16:creationId xmlns:a16="http://schemas.microsoft.com/office/drawing/2014/main" id="{901C099F-DB77-5E74-5525-0762F1ECCBF6}"/>
              </a:ext>
            </a:extLst>
          </p:cNvPr>
          <p:cNvSpPr txBox="1"/>
          <p:nvPr/>
        </p:nvSpPr>
        <p:spPr>
          <a:xfrm>
            <a:off x="5186855" y="1690688"/>
            <a:ext cx="6038193" cy="3970318"/>
          </a:xfrm>
          <a:prstGeom prst="rect">
            <a:avLst/>
          </a:prstGeom>
          <a:noFill/>
        </p:spPr>
        <p:txBody>
          <a:bodyPr wrap="square" rtlCol="0">
            <a:spAutoFit/>
          </a:bodyPr>
          <a:lstStyle/>
          <a:p>
            <a:r>
              <a:rPr lang="en-US" sz="2800"/>
              <a:t>Bên ta là O, Bên địch là X</a:t>
            </a:r>
          </a:p>
          <a:p>
            <a:endParaRPr lang="en-US" sz="2800"/>
          </a:p>
          <a:p>
            <a:r>
              <a:rPr lang="en-US" sz="2800"/>
              <a:t>Giá trị heuristic sau khi đánh giá 1s là -500 (âm 500 nghĩa là bên mình khả năng thua rất cao)</a:t>
            </a:r>
          </a:p>
          <a:p>
            <a:br>
              <a:rPr lang="en-US" sz="2800"/>
            </a:br>
            <a:r>
              <a:rPr lang="en-US" sz="2800"/>
              <a:t>Giá trị đó nói rằng thế cờ này không thể lật kèo được nữa, OpeningBook có mạnh đến đâu cũng không cứu được </a:t>
            </a:r>
          </a:p>
        </p:txBody>
      </p:sp>
    </p:spTree>
    <p:extLst>
      <p:ext uri="{BB962C8B-B14F-4D97-AF65-F5344CB8AC3E}">
        <p14:creationId xmlns:p14="http://schemas.microsoft.com/office/powerpoint/2010/main" val="2732240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2A228-AFFB-B828-B4C6-378C77273C3F}"/>
              </a:ext>
            </a:extLst>
          </p:cNvPr>
          <p:cNvSpPr>
            <a:spLocks noGrp="1"/>
          </p:cNvSpPr>
          <p:nvPr>
            <p:ph type="title"/>
          </p:nvPr>
        </p:nvSpPr>
        <p:spPr>
          <a:xfrm>
            <a:off x="838200" y="0"/>
            <a:ext cx="10515600" cy="1325563"/>
          </a:xfrm>
        </p:spPr>
        <p:txBody>
          <a:bodyPr>
            <a:normAutofit/>
          </a:bodyPr>
          <a:lstStyle/>
          <a:p>
            <a:r>
              <a:rPr lang="en-US" sz="3600" b="1"/>
              <a:t>Điều thuật toán cải thiện</a:t>
            </a:r>
          </a:p>
        </p:txBody>
      </p:sp>
      <p:sp>
        <p:nvSpPr>
          <p:cNvPr id="3" name="Content Placeholder 2">
            <a:extLst>
              <a:ext uri="{FF2B5EF4-FFF2-40B4-BE49-F238E27FC236}">
                <a16:creationId xmlns:a16="http://schemas.microsoft.com/office/drawing/2014/main" id="{6122525B-EBF9-0EA6-1BD5-DE2DC7B5B394}"/>
              </a:ext>
            </a:extLst>
          </p:cNvPr>
          <p:cNvSpPr>
            <a:spLocks noGrp="1"/>
          </p:cNvSpPr>
          <p:nvPr>
            <p:ph idx="1"/>
          </p:nvPr>
        </p:nvSpPr>
        <p:spPr>
          <a:xfrm>
            <a:off x="838200" y="1040524"/>
            <a:ext cx="10515600" cy="5452351"/>
          </a:xfrm>
        </p:spPr>
        <p:txBody>
          <a:bodyPr>
            <a:normAutofit lnSpcReduction="10000"/>
          </a:bodyPr>
          <a:lstStyle/>
          <a:p>
            <a:r>
              <a:rPr lang="en-US"/>
              <a:t>Những nước đi từ 1 cho đến 12 có tỉ lệ rất cao tra trúng bảng OpeningBook, do đối thủ và ta luôn có xu hướng chơi nước cờ tốt nhất có thể, không để thế cờ quá nghiêng về 1 bên</a:t>
            </a:r>
          </a:p>
          <a:p>
            <a:endParaRPr lang="en-US"/>
          </a:p>
          <a:p>
            <a:r>
              <a:rPr lang="en-US"/>
              <a:t>Với những nước đi từ 13 trở đi, do bàn cờ đã có lượng piece tương đối nên kết hợp search + heuristic trở nên đáng tin cậy hơn</a:t>
            </a:r>
          </a:p>
          <a:p>
            <a:pPr marL="0" indent="0">
              <a:buNone/>
            </a:pPr>
            <a:endParaRPr lang="en-US"/>
          </a:p>
          <a:p>
            <a:r>
              <a:rPr lang="en-US"/>
              <a:t>Có quan điểm cho rằng: Những nước đi đầu tiên không quyết định thắng thua</a:t>
            </a:r>
          </a:p>
          <a:p>
            <a:pPr marL="0" indent="0">
              <a:buNone/>
            </a:pPr>
            <a:endParaRPr lang="en-US"/>
          </a:p>
          <a:p>
            <a:r>
              <a:rPr lang="en-US"/>
              <a:t>Ý kiến của mình: Sai. </a:t>
            </a:r>
            <a:r>
              <a:rPr lang="vi-VN"/>
              <a:t>Điều nhiều người nhầm là:“Opening không tạo</a:t>
            </a:r>
            <a:endParaRPr lang="en-US"/>
          </a:p>
          <a:p>
            <a:pPr marL="0" indent="0">
              <a:buNone/>
            </a:pPr>
            <a:r>
              <a:rPr lang="vi-VN"/>
              <a:t> thắng ngay” ≠ “opening không quyết định thắng thua”.</a:t>
            </a:r>
            <a:endParaRPr lang="en-US"/>
          </a:p>
        </p:txBody>
      </p:sp>
    </p:spTree>
    <p:extLst>
      <p:ext uri="{BB962C8B-B14F-4D97-AF65-F5344CB8AC3E}">
        <p14:creationId xmlns:p14="http://schemas.microsoft.com/office/powerpoint/2010/main" val="3848247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7E0C-1648-2274-706B-48834350AF7F}"/>
              </a:ext>
            </a:extLst>
          </p:cNvPr>
          <p:cNvSpPr>
            <a:spLocks noGrp="1"/>
          </p:cNvSpPr>
          <p:nvPr>
            <p:ph type="title"/>
          </p:nvPr>
        </p:nvSpPr>
        <p:spPr/>
        <p:txBody>
          <a:bodyPr>
            <a:normAutofit/>
          </a:bodyPr>
          <a:lstStyle/>
          <a:p>
            <a:r>
              <a:rPr lang="en-US" sz="3600" dirty="0"/>
              <a:t>Nguyên </a:t>
            </a:r>
            <a:r>
              <a:rPr lang="en-US" sz="3600" dirty="0" err="1"/>
              <a:t>lý</a:t>
            </a:r>
            <a:r>
              <a:rPr lang="en-US" sz="3600" dirty="0"/>
              <a:t> </a:t>
            </a:r>
            <a:r>
              <a:rPr lang="en-US" sz="3600" dirty="0" err="1"/>
              <a:t>cốt</a:t>
            </a:r>
            <a:r>
              <a:rPr lang="en-US" sz="3600" dirty="0"/>
              <a:t> </a:t>
            </a:r>
            <a:r>
              <a:rPr lang="en-US" sz="3600" dirty="0" err="1"/>
              <a:t>lõi</a:t>
            </a:r>
            <a:r>
              <a:rPr lang="en-US" sz="3600" dirty="0"/>
              <a:t> </a:t>
            </a:r>
            <a:r>
              <a:rPr lang="en-US" sz="3600" dirty="0" err="1"/>
              <a:t>của</a:t>
            </a:r>
            <a:r>
              <a:rPr lang="en-US" sz="3600" dirty="0"/>
              <a:t> </a:t>
            </a:r>
            <a:r>
              <a:rPr lang="en-US" sz="3600" dirty="0" err="1"/>
              <a:t>thuật</a:t>
            </a:r>
            <a:r>
              <a:rPr lang="en-US" sz="3600" dirty="0"/>
              <a:t> </a:t>
            </a:r>
            <a:r>
              <a:rPr lang="en-US" sz="3600" dirty="0" err="1"/>
              <a:t>toán</a:t>
            </a:r>
            <a:r>
              <a:rPr lang="en-US" sz="3600" dirty="0"/>
              <a:t> Minimax</a:t>
            </a:r>
            <a:endParaRPr lang="vi-VN" sz="3600" dirty="0"/>
          </a:p>
        </p:txBody>
      </p:sp>
      <p:sp>
        <p:nvSpPr>
          <p:cNvPr id="3" name="Content Placeholder 2">
            <a:extLst>
              <a:ext uri="{FF2B5EF4-FFF2-40B4-BE49-F238E27FC236}">
                <a16:creationId xmlns:a16="http://schemas.microsoft.com/office/drawing/2014/main" id="{6129AAE3-027A-976C-CE1F-558A69211CE2}"/>
              </a:ext>
            </a:extLst>
          </p:cNvPr>
          <p:cNvSpPr>
            <a:spLocks noGrp="1"/>
          </p:cNvSpPr>
          <p:nvPr>
            <p:ph idx="1"/>
          </p:nvPr>
        </p:nvSpPr>
        <p:spPr>
          <a:xfrm>
            <a:off x="838200" y="1936157"/>
            <a:ext cx="10837985" cy="4351338"/>
          </a:xfrm>
        </p:spPr>
        <p:txBody>
          <a:bodyPr>
            <a:normAutofit fontScale="92500"/>
          </a:bodyPr>
          <a:lstStyle/>
          <a:p>
            <a:pPr marL="0" indent="0">
              <a:buNone/>
            </a:pPr>
            <a:r>
              <a:rPr lang="vi-VN" b="1" dirty="0">
                <a:latin typeface="Aptos" panose="020B0004020202020204" pitchFamily="34" charset="0"/>
              </a:rPr>
              <a:t>Mô hình hóa trò chơi:</a:t>
            </a:r>
            <a:r>
              <a:rPr lang="vi-VN" dirty="0">
                <a:latin typeface="Aptos" panose="020B0004020202020204" pitchFamily="34" charset="0"/>
              </a:rPr>
              <a:t> Biểu diễn các nước đi dưới dạng một </a:t>
            </a:r>
            <a:r>
              <a:rPr lang="vi-VN" b="1" dirty="0">
                <a:latin typeface="Aptos" panose="020B0004020202020204" pitchFamily="34" charset="0"/>
              </a:rPr>
              <a:t>Cây quyết định (</a:t>
            </a:r>
            <a:r>
              <a:rPr lang="vi-VN" b="1" dirty="0" err="1">
                <a:latin typeface="Aptos" panose="020B0004020202020204" pitchFamily="34" charset="0"/>
              </a:rPr>
              <a:t>Decision</a:t>
            </a:r>
            <a:r>
              <a:rPr lang="vi-VN" b="1" dirty="0">
                <a:latin typeface="Aptos" panose="020B0004020202020204" pitchFamily="34" charset="0"/>
              </a:rPr>
              <a:t> </a:t>
            </a:r>
            <a:r>
              <a:rPr lang="vi-VN" b="1" dirty="0" err="1">
                <a:latin typeface="Aptos" panose="020B0004020202020204" pitchFamily="34" charset="0"/>
              </a:rPr>
              <a:t>Tree</a:t>
            </a:r>
            <a:r>
              <a:rPr lang="vi-VN" b="1" dirty="0">
                <a:latin typeface="Aptos" panose="020B0004020202020204" pitchFamily="34" charset="0"/>
              </a:rPr>
              <a:t>)</a:t>
            </a:r>
            <a:r>
              <a:rPr lang="vi-VN" dirty="0">
                <a:latin typeface="Aptos" panose="020B0004020202020204" pitchFamily="34" charset="0"/>
              </a:rPr>
              <a:t>.</a:t>
            </a:r>
          </a:p>
          <a:p>
            <a:pPr marL="0" indent="0">
              <a:buNone/>
            </a:pPr>
            <a:r>
              <a:rPr lang="vi-VN" b="1" dirty="0">
                <a:latin typeface="Aptos" panose="020B0004020202020204" pitchFamily="34" charset="0"/>
              </a:rPr>
              <a:t>Giả định hoàn hảo: </a:t>
            </a:r>
            <a:r>
              <a:rPr lang="vi-VN" dirty="0">
                <a:latin typeface="Aptos" panose="020B0004020202020204" pitchFamily="34" charset="0"/>
              </a:rPr>
              <a:t>AI giả định rằng cả mình và đối thủ đều đưa ra những quyết định tối ưu nhất tại mỗi bước.</a:t>
            </a:r>
          </a:p>
          <a:p>
            <a:pPr marL="0" indent="0">
              <a:buNone/>
            </a:pPr>
            <a:r>
              <a:rPr lang="vi-VN" b="1" dirty="0">
                <a:latin typeface="Aptos" panose="020B0004020202020204" pitchFamily="34" charset="0"/>
              </a:rPr>
              <a:t>Hai mục tiêu đối lập:</a:t>
            </a:r>
            <a:endParaRPr lang="vi-VN" dirty="0">
              <a:latin typeface="Aptos" panose="020B0004020202020204" pitchFamily="34" charset="0"/>
            </a:endParaRPr>
          </a:p>
          <a:p>
            <a:pPr marL="0" indent="0">
              <a:buNone/>
            </a:pPr>
            <a:r>
              <a:rPr lang="vi-VN" b="1" dirty="0">
                <a:latin typeface="Aptos" panose="020B0004020202020204" pitchFamily="34" charset="0"/>
              </a:rPr>
              <a:t>MAX (AI):</a:t>
            </a:r>
            <a:r>
              <a:rPr lang="vi-VN" dirty="0">
                <a:latin typeface="Aptos" panose="020B0004020202020204" pitchFamily="34" charset="0"/>
              </a:rPr>
              <a:t> Cố gắng chọn nước đi để có kết quả cuối cùng </a:t>
            </a:r>
            <a:r>
              <a:rPr lang="vi-VN" b="1" dirty="0">
                <a:latin typeface="Aptos" panose="020B0004020202020204" pitchFamily="34" charset="0"/>
              </a:rPr>
              <a:t>lớn nhất</a:t>
            </a:r>
            <a:r>
              <a:rPr lang="vi-VN" dirty="0">
                <a:latin typeface="Aptos" panose="020B0004020202020204" pitchFamily="34" charset="0"/>
              </a:rPr>
              <a:t>.</a:t>
            </a:r>
          </a:p>
          <a:p>
            <a:pPr marL="0" indent="0">
              <a:buNone/>
            </a:pPr>
            <a:r>
              <a:rPr lang="vi-VN" b="1" dirty="0">
                <a:latin typeface="Aptos" panose="020B0004020202020204" pitchFamily="34" charset="0"/>
              </a:rPr>
              <a:t>MIN (Đối thủ):</a:t>
            </a:r>
            <a:r>
              <a:rPr lang="vi-VN" dirty="0">
                <a:latin typeface="Aptos" panose="020B0004020202020204" pitchFamily="34" charset="0"/>
              </a:rPr>
              <a:t> Cố gắng chọn nước đi để ép AI phải nhận kết quả </a:t>
            </a:r>
            <a:r>
              <a:rPr lang="vi-VN" b="1" dirty="0">
                <a:latin typeface="Aptos" panose="020B0004020202020204" pitchFamily="34" charset="0"/>
              </a:rPr>
              <a:t>nhỏ nhất</a:t>
            </a:r>
            <a:r>
              <a:rPr lang="vi-VN" dirty="0">
                <a:latin typeface="Aptos" panose="020B0004020202020204" pitchFamily="34" charset="0"/>
              </a:rPr>
              <a:t>.</a:t>
            </a:r>
          </a:p>
          <a:p>
            <a:pPr marL="0" indent="0">
              <a:buNone/>
            </a:pPr>
            <a:r>
              <a:rPr lang="vi-VN" b="1" dirty="0">
                <a:latin typeface="Aptos" panose="020B0004020202020204" pitchFamily="34" charset="0"/>
              </a:rPr>
              <a:t>Cơ chế đệ quy:</a:t>
            </a:r>
            <a:r>
              <a:rPr lang="vi-VN" dirty="0">
                <a:latin typeface="Aptos" panose="020B0004020202020204" pitchFamily="34" charset="0"/>
              </a:rPr>
              <a:t> Thuật toán duyệt sâu xuống các nước đi tương lai, sau đó truyền ngược giá trị từ dưới lên trên để đưa ra quyết định tại thời điểm hiện tại.</a:t>
            </a:r>
          </a:p>
          <a:p>
            <a:pPr marL="0" indent="0">
              <a:buNone/>
            </a:pPr>
            <a:endParaRPr lang="vi-VN" dirty="0">
              <a:latin typeface="Aptos" panose="020B0004020202020204" pitchFamily="34" charset="0"/>
            </a:endParaRPr>
          </a:p>
          <a:p>
            <a:pPr marL="0" indent="0">
              <a:buNone/>
            </a:pPr>
            <a:endParaRPr lang="vi-VN" dirty="0">
              <a:latin typeface="Aptos" panose="020B0004020202020204" pitchFamily="34" charset="0"/>
            </a:endParaRPr>
          </a:p>
        </p:txBody>
      </p:sp>
    </p:spTree>
    <p:extLst>
      <p:ext uri="{BB962C8B-B14F-4D97-AF65-F5344CB8AC3E}">
        <p14:creationId xmlns:p14="http://schemas.microsoft.com/office/powerpoint/2010/main" val="3803018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F363-CE6F-52FA-596B-D1A90C167EE4}"/>
              </a:ext>
            </a:extLst>
          </p:cNvPr>
          <p:cNvSpPr>
            <a:spLocks noGrp="1"/>
          </p:cNvSpPr>
          <p:nvPr>
            <p:ph type="title"/>
          </p:nvPr>
        </p:nvSpPr>
        <p:spPr/>
        <p:txBody>
          <a:bodyPr>
            <a:normAutofit/>
          </a:bodyPr>
          <a:lstStyle/>
          <a:p>
            <a:r>
              <a:rPr lang="vi-VN" sz="3600" dirty="0">
                <a:latin typeface="Aptos" panose="020B0004020202020204" pitchFamily="34" charset="0"/>
              </a:rPr>
              <a:t>Các thành phần của cây </a:t>
            </a:r>
            <a:r>
              <a:rPr lang="vi-VN" sz="3600" dirty="0" err="1">
                <a:latin typeface="Aptos" panose="020B0004020202020204" pitchFamily="34" charset="0"/>
              </a:rPr>
              <a:t>Minimax</a:t>
            </a:r>
            <a:r>
              <a:rPr lang="vi-VN" sz="3600" dirty="0">
                <a:latin typeface="Aptos" panose="020B0004020202020204" pitchFamily="34" charset="0"/>
              </a:rPr>
              <a:t> trong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A409360-49FF-4AF0-0056-B31F02F4A5DB}"/>
              </a:ext>
            </a:extLst>
          </p:cNvPr>
          <p:cNvSpPr>
            <a:spLocks noGrp="1"/>
          </p:cNvSpPr>
          <p:nvPr>
            <p:ph idx="1"/>
          </p:nvPr>
        </p:nvSpPr>
        <p:spPr>
          <a:xfrm>
            <a:off x="838200" y="1825625"/>
            <a:ext cx="10707356" cy="4351338"/>
          </a:xfrm>
        </p:spPr>
        <p:txBody>
          <a:bodyPr/>
          <a:lstStyle/>
          <a:p>
            <a:pPr marL="0" indent="0">
              <a:buNone/>
            </a:pPr>
            <a:r>
              <a:rPr lang="vi-VN" b="1" dirty="0">
                <a:latin typeface="Aptos" panose="020B0004020202020204" pitchFamily="34" charset="0"/>
              </a:rPr>
              <a:t>Nút gốc (</a:t>
            </a:r>
            <a:r>
              <a:rPr lang="vi-VN" b="1" dirty="0" err="1">
                <a:latin typeface="Aptos" panose="020B0004020202020204" pitchFamily="34" charset="0"/>
              </a:rPr>
              <a:t>Root</a:t>
            </a:r>
            <a:r>
              <a:rPr lang="vi-VN" b="1" dirty="0">
                <a:latin typeface="Aptos" panose="020B0004020202020204" pitchFamily="34" charset="0"/>
              </a:rPr>
              <a:t> </a:t>
            </a:r>
            <a:r>
              <a:rPr lang="vi-VN" b="1" dirty="0" err="1">
                <a:latin typeface="Aptos" panose="020B0004020202020204" pitchFamily="34" charset="0"/>
              </a:rPr>
              <a:t>node</a:t>
            </a:r>
            <a:r>
              <a:rPr lang="vi-VN" b="1" dirty="0">
                <a:latin typeface="Aptos" panose="020B0004020202020204" pitchFamily="34" charset="0"/>
              </a:rPr>
              <a:t>):</a:t>
            </a:r>
            <a:r>
              <a:rPr lang="vi-VN" dirty="0">
                <a:latin typeface="Aptos" panose="020B0004020202020204" pitchFamily="34" charset="0"/>
              </a:rPr>
              <a:t> Trạng thái bàn cờ hiện tại.</a:t>
            </a:r>
          </a:p>
          <a:p>
            <a:pPr marL="0" indent="0">
              <a:buNone/>
            </a:pPr>
            <a:r>
              <a:rPr lang="vi-VN" b="1" dirty="0">
                <a:latin typeface="Aptos" panose="020B0004020202020204" pitchFamily="34" charset="0"/>
              </a:rPr>
              <a:t>Các nút nhánh (</a:t>
            </a:r>
            <a:r>
              <a:rPr lang="vi-VN" b="1" dirty="0" err="1">
                <a:latin typeface="Aptos" panose="020B0004020202020204" pitchFamily="34" charset="0"/>
              </a:rPr>
              <a:t>Internal</a:t>
            </a:r>
            <a:r>
              <a:rPr lang="vi-VN" b="1" dirty="0">
                <a:latin typeface="Aptos" panose="020B0004020202020204" pitchFamily="34" charset="0"/>
              </a:rPr>
              <a:t>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Các trạng thái giả định sau khi người chơi hoặc đối thủ đặt quân.</a:t>
            </a:r>
          </a:p>
          <a:p>
            <a:pPr marL="0" indent="0">
              <a:buNone/>
            </a:pPr>
            <a:r>
              <a:rPr lang="vi-VN" b="1" dirty="0">
                <a:latin typeface="Aptos" panose="020B0004020202020204" pitchFamily="34" charset="0"/>
              </a:rPr>
              <a:t>Nút lá (Terminal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Trạng thái kết thúc </a:t>
            </a:r>
            <a:r>
              <a:rPr lang="vi-VN" dirty="0" err="1">
                <a:latin typeface="Aptos" panose="020B0004020202020204" pitchFamily="34" charset="0"/>
              </a:rPr>
              <a:t>game</a:t>
            </a:r>
            <a:r>
              <a:rPr lang="vi-VN" dirty="0">
                <a:latin typeface="Aptos" panose="020B0004020202020204" pitchFamily="34" charset="0"/>
              </a:rPr>
              <a:t> (Thắng/Thua/Hòa) hoặc giới hạn độ sâu cho phép.</a:t>
            </a:r>
          </a:p>
          <a:p>
            <a:pPr marL="0" indent="0">
              <a:buNone/>
            </a:pPr>
            <a:r>
              <a:rPr lang="vi-VN" b="1" dirty="0">
                <a:latin typeface="Aptos" panose="020B0004020202020204" pitchFamily="34" charset="0"/>
              </a:rPr>
              <a:t>Giá trị </a:t>
            </a:r>
            <a:r>
              <a:rPr lang="vi-VN" b="1" dirty="0" err="1">
                <a:latin typeface="Aptos" panose="020B0004020202020204" pitchFamily="34" charset="0"/>
              </a:rPr>
              <a:t>Minimax</a:t>
            </a:r>
            <a:r>
              <a:rPr lang="vi-VN" b="1" dirty="0">
                <a:latin typeface="Aptos" panose="020B0004020202020204" pitchFamily="34" charset="0"/>
              </a:rPr>
              <a:t>:</a:t>
            </a:r>
            <a:r>
              <a:rPr lang="vi-VN" dirty="0">
                <a:latin typeface="Aptos" panose="020B0004020202020204" pitchFamily="34" charset="0"/>
              </a:rPr>
              <a:t> Mỗi nút sẽ được gán một con số đại diện cho "độ tốt" của trạng thái đó. Giá trị này được quyết định bởi các nút con phía dưới nó.</a:t>
            </a:r>
          </a:p>
        </p:txBody>
      </p:sp>
    </p:spTree>
    <p:extLst>
      <p:ext uri="{BB962C8B-B14F-4D97-AF65-F5344CB8AC3E}">
        <p14:creationId xmlns:p14="http://schemas.microsoft.com/office/powerpoint/2010/main" val="3811302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16036-A26E-E158-A751-6DD5DA12091D}"/>
              </a:ext>
            </a:extLst>
          </p:cNvPr>
          <p:cNvSpPr>
            <a:spLocks noGrp="1"/>
          </p:cNvSpPr>
          <p:nvPr>
            <p:ph type="title"/>
          </p:nvPr>
        </p:nvSpPr>
        <p:spPr/>
        <p:txBody>
          <a:bodyPr>
            <a:normAutofit/>
          </a:bodyPr>
          <a:lstStyle/>
          <a:p>
            <a:r>
              <a:rPr lang="vi-VN" sz="3600" dirty="0">
                <a:latin typeface="Aptos" panose="020B0004020202020204" pitchFamily="34" charset="0"/>
              </a:rPr>
              <a:t>Cơ chế lan truyền</a:t>
            </a:r>
          </a:p>
        </p:txBody>
      </p:sp>
      <p:sp>
        <p:nvSpPr>
          <p:cNvPr id="3" name="Content Placeholder 2">
            <a:extLst>
              <a:ext uri="{FF2B5EF4-FFF2-40B4-BE49-F238E27FC236}">
                <a16:creationId xmlns:a16="http://schemas.microsoft.com/office/drawing/2014/main" id="{89B9D573-75E0-815B-7A3D-0DF871BCA00B}"/>
              </a:ext>
            </a:extLst>
          </p:cNvPr>
          <p:cNvSpPr>
            <a:spLocks noGrp="1"/>
          </p:cNvSpPr>
          <p:nvPr>
            <p:ph idx="1"/>
          </p:nvPr>
        </p:nvSpPr>
        <p:spPr/>
        <p:txBody>
          <a:bodyPr/>
          <a:lstStyle/>
          <a:p>
            <a:pPr marL="0" indent="0">
              <a:buNone/>
            </a:pPr>
            <a:r>
              <a:rPr lang="vi-VN" b="1" dirty="0">
                <a:latin typeface="Aptos" panose="020B0004020202020204" pitchFamily="34" charset="0"/>
              </a:rPr>
              <a:t>Tại tầng MAX:</a:t>
            </a:r>
            <a:r>
              <a:rPr lang="vi-VN" dirty="0">
                <a:latin typeface="Aptos" panose="020B0004020202020204" pitchFamily="34" charset="0"/>
              </a:rPr>
              <a:t> Giá trị của nút bằng </a:t>
            </a:r>
            <a:r>
              <a:rPr lang="vi-VN" b="1" dirty="0">
                <a:latin typeface="Aptos" panose="020B0004020202020204" pitchFamily="34" charset="0"/>
              </a:rPr>
              <a:t>Giá trị lớn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"Trong các khả năng tôi có thể đi, tôi chọn cái tốt nhất."</a:t>
            </a:r>
          </a:p>
          <a:p>
            <a:pPr marL="0" indent="0">
              <a:buNone/>
            </a:pPr>
            <a:r>
              <a:rPr lang="vi-VN" b="1" dirty="0">
                <a:latin typeface="Aptos" panose="020B0004020202020204" pitchFamily="34" charset="0"/>
              </a:rPr>
              <a:t>Tại tầng MIN:</a:t>
            </a:r>
            <a:r>
              <a:rPr lang="vi-VN" dirty="0">
                <a:latin typeface="Aptos" panose="020B0004020202020204" pitchFamily="34" charset="0"/>
              </a:rPr>
              <a:t> Giá trị của nút bằng </a:t>
            </a:r>
            <a:r>
              <a:rPr lang="vi-VN" b="1" dirty="0">
                <a:latin typeface="Aptos" panose="020B0004020202020204" pitchFamily="34" charset="0"/>
              </a:rPr>
              <a:t>Giá trị nhỏ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"Tôi biết đối thủ sẽ chọn cái gây hại nhất cho tôi trong các nước họ có."</a:t>
            </a:r>
          </a:p>
          <a:p>
            <a:pPr marL="0" indent="0">
              <a:buNone/>
            </a:pPr>
            <a:r>
              <a:rPr lang="vi-VN" b="1" dirty="0">
                <a:latin typeface="Aptos" panose="020B0004020202020204" pitchFamily="34" charset="0"/>
              </a:rPr>
              <a:t>Kết luận:</a:t>
            </a:r>
            <a:r>
              <a:rPr lang="vi-VN" dirty="0">
                <a:latin typeface="Aptos" panose="020B0004020202020204" pitchFamily="34" charset="0"/>
              </a:rPr>
              <a:t> Nước đi cuối cùng là nhánh dẫn đến giá trị cao nhất tại nút gốc.</a:t>
            </a:r>
          </a:p>
        </p:txBody>
      </p:sp>
    </p:spTree>
    <p:extLst>
      <p:ext uri="{BB962C8B-B14F-4D97-AF65-F5344CB8AC3E}">
        <p14:creationId xmlns:p14="http://schemas.microsoft.com/office/powerpoint/2010/main" val="185995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7FADE2-A8F4-8C2B-9856-E7D643D91676}"/>
              </a:ext>
            </a:extLst>
          </p:cNvPr>
          <p:cNvSpPr/>
          <p:nvPr/>
        </p:nvSpPr>
        <p:spPr>
          <a:xfrm>
            <a:off x="5815780" y="50636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B946826-B92F-F329-0B58-E2FED292AC34}"/>
              </a:ext>
            </a:extLst>
          </p:cNvPr>
          <p:cNvCxnSpPr>
            <a:cxnSpLocks/>
            <a:stCxn id="4" idx="3"/>
            <a:endCxn id="11" idx="7"/>
          </p:cNvCxnSpPr>
          <p:nvPr/>
        </p:nvCxnSpPr>
        <p:spPr>
          <a:xfrm flipH="1">
            <a:off x="2204091" y="1001510"/>
            <a:ext cx="3693763" cy="780245"/>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B0A2AB37-7198-4DC0-A9FC-121931D4F8B2}"/>
              </a:ext>
            </a:extLst>
          </p:cNvPr>
          <p:cNvCxnSpPr>
            <a:cxnSpLocks/>
            <a:endCxn id="13" idx="0"/>
          </p:cNvCxnSpPr>
          <p:nvPr/>
        </p:nvCxnSpPr>
        <p:spPr>
          <a:xfrm>
            <a:off x="6095999" y="1079132"/>
            <a:ext cx="2251" cy="604338"/>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B7797128-FD3B-B98C-F0F2-2BB4351C17F7}"/>
              </a:ext>
            </a:extLst>
          </p:cNvPr>
          <p:cNvCxnSpPr>
            <a:cxnSpLocks/>
            <a:stCxn id="4" idx="5"/>
            <a:endCxn id="15" idx="1"/>
          </p:cNvCxnSpPr>
          <p:nvPr/>
        </p:nvCxnSpPr>
        <p:spPr>
          <a:xfrm>
            <a:off x="6294145" y="1001510"/>
            <a:ext cx="3998297" cy="865199"/>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3BDFA2D-398A-6447-A44E-81DD833D77CC}"/>
              </a:ext>
            </a:extLst>
          </p:cNvPr>
          <p:cNvSpPr/>
          <p:nvPr/>
        </p:nvSpPr>
        <p:spPr>
          <a:xfrm>
            <a:off x="1725726" y="169680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13" name="Flowchart: Connector 12">
            <a:extLst>
              <a:ext uri="{FF2B5EF4-FFF2-40B4-BE49-F238E27FC236}">
                <a16:creationId xmlns:a16="http://schemas.microsoft.com/office/drawing/2014/main" id="{92C4345A-33F9-8401-628A-09C1E06A92B9}"/>
              </a:ext>
            </a:extLst>
          </p:cNvPr>
          <p:cNvSpPr/>
          <p:nvPr/>
        </p:nvSpPr>
        <p:spPr>
          <a:xfrm>
            <a:off x="5818030" y="168347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sp>
        <p:nvSpPr>
          <p:cNvPr id="15" name="Flowchart: Connector 14">
            <a:extLst>
              <a:ext uri="{FF2B5EF4-FFF2-40B4-BE49-F238E27FC236}">
                <a16:creationId xmlns:a16="http://schemas.microsoft.com/office/drawing/2014/main" id="{F2A89ABD-2CB5-BBB8-5CB9-337448BD00C7}"/>
              </a:ext>
            </a:extLst>
          </p:cNvPr>
          <p:cNvSpPr/>
          <p:nvPr/>
        </p:nvSpPr>
        <p:spPr>
          <a:xfrm>
            <a:off x="10210368" y="178175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F5767D6-B132-CA7C-6954-32293C7BE463}"/>
              </a:ext>
            </a:extLst>
          </p:cNvPr>
          <p:cNvCxnSpPr>
            <a:cxnSpLocks/>
            <a:stCxn id="11" idx="3"/>
            <a:endCxn id="42" idx="7"/>
          </p:cNvCxnSpPr>
          <p:nvPr/>
        </p:nvCxnSpPr>
        <p:spPr>
          <a:xfrm flipH="1">
            <a:off x="992480" y="2191950"/>
            <a:ext cx="815320" cy="820275"/>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B421CB4F-860A-DE05-49DD-EB49BC5838AE}"/>
              </a:ext>
            </a:extLst>
          </p:cNvPr>
          <p:cNvCxnSpPr>
            <a:cxnSpLocks/>
            <a:stCxn id="11" idx="5"/>
            <a:endCxn id="41" idx="1"/>
          </p:cNvCxnSpPr>
          <p:nvPr/>
        </p:nvCxnSpPr>
        <p:spPr>
          <a:xfrm>
            <a:off x="2204091" y="2191950"/>
            <a:ext cx="711395" cy="797869"/>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3C17FE84-8DB8-BDEF-E3EB-307AD7F5B6BF}"/>
              </a:ext>
            </a:extLst>
          </p:cNvPr>
          <p:cNvCxnSpPr>
            <a:cxnSpLocks/>
            <a:stCxn id="13" idx="3"/>
            <a:endCxn id="46" idx="0"/>
          </p:cNvCxnSpPr>
          <p:nvPr/>
        </p:nvCxnSpPr>
        <p:spPr>
          <a:xfrm flipH="1">
            <a:off x="5139075" y="2178619"/>
            <a:ext cx="761029" cy="809006"/>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1D8867C2-B471-AB20-D449-34A06707FB6C}"/>
              </a:ext>
            </a:extLst>
          </p:cNvPr>
          <p:cNvCxnSpPr>
            <a:cxnSpLocks/>
            <a:endCxn id="47" idx="1"/>
          </p:cNvCxnSpPr>
          <p:nvPr/>
        </p:nvCxnSpPr>
        <p:spPr>
          <a:xfrm>
            <a:off x="6209230" y="2217907"/>
            <a:ext cx="801928" cy="848394"/>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D5FD6683-7F01-E130-FDAC-667654ADD86A}"/>
              </a:ext>
            </a:extLst>
          </p:cNvPr>
          <p:cNvCxnSpPr>
            <a:cxnSpLocks/>
            <a:stCxn id="15" idx="5"/>
            <a:endCxn id="44" idx="1"/>
          </p:cNvCxnSpPr>
          <p:nvPr/>
        </p:nvCxnSpPr>
        <p:spPr>
          <a:xfrm>
            <a:off x="10688733" y="2276904"/>
            <a:ext cx="482378" cy="857793"/>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53911DBB-F920-3E8B-B614-7F8FCA3A484C}"/>
              </a:ext>
            </a:extLst>
          </p:cNvPr>
          <p:cNvCxnSpPr>
            <a:cxnSpLocks/>
            <a:stCxn id="15" idx="3"/>
            <a:endCxn id="45" idx="7"/>
          </p:cNvCxnSpPr>
          <p:nvPr/>
        </p:nvCxnSpPr>
        <p:spPr>
          <a:xfrm flipH="1">
            <a:off x="9733751" y="2276904"/>
            <a:ext cx="558691" cy="857793"/>
          </a:xfrm>
          <a:prstGeom prst="line">
            <a:avLst/>
          </a:prstGeom>
        </p:spPr>
        <p:style>
          <a:lnRef idx="2">
            <a:schemeClr val="dk1"/>
          </a:lnRef>
          <a:fillRef idx="0">
            <a:schemeClr val="dk1"/>
          </a:fillRef>
          <a:effectRef idx="1">
            <a:schemeClr val="dk1"/>
          </a:effectRef>
          <a:fontRef idx="minor">
            <a:schemeClr val="tx1"/>
          </a:fontRef>
        </p:style>
      </p:cxnSp>
      <p:sp>
        <p:nvSpPr>
          <p:cNvPr id="41" name="Flowchart: Connector 40">
            <a:extLst>
              <a:ext uri="{FF2B5EF4-FFF2-40B4-BE49-F238E27FC236}">
                <a16:creationId xmlns:a16="http://schemas.microsoft.com/office/drawing/2014/main" id="{4C342175-105E-895B-878C-3E533D9B55DC}"/>
              </a:ext>
            </a:extLst>
          </p:cNvPr>
          <p:cNvSpPr/>
          <p:nvPr/>
        </p:nvSpPr>
        <p:spPr>
          <a:xfrm>
            <a:off x="2833412" y="2904865"/>
            <a:ext cx="560439" cy="580104"/>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2" name="Flowchart: Connector 41">
            <a:extLst>
              <a:ext uri="{FF2B5EF4-FFF2-40B4-BE49-F238E27FC236}">
                <a16:creationId xmlns:a16="http://schemas.microsoft.com/office/drawing/2014/main" id="{9A03331D-3086-1041-C001-BED937FA5270}"/>
              </a:ext>
            </a:extLst>
          </p:cNvPr>
          <p:cNvSpPr/>
          <p:nvPr/>
        </p:nvSpPr>
        <p:spPr>
          <a:xfrm>
            <a:off x="514115" y="292727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44" name="Flowchart: Connector 43">
            <a:extLst>
              <a:ext uri="{FF2B5EF4-FFF2-40B4-BE49-F238E27FC236}">
                <a16:creationId xmlns:a16="http://schemas.microsoft.com/office/drawing/2014/main" id="{B41FEAB0-F0C4-7B98-BAFE-C51BE51458EE}"/>
              </a:ext>
            </a:extLst>
          </p:cNvPr>
          <p:cNvSpPr/>
          <p:nvPr/>
        </p:nvSpPr>
        <p:spPr>
          <a:xfrm>
            <a:off x="11089036" y="3049743"/>
            <a:ext cx="560440"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5" name="Flowchart: Connector 44">
            <a:extLst>
              <a:ext uri="{FF2B5EF4-FFF2-40B4-BE49-F238E27FC236}">
                <a16:creationId xmlns:a16="http://schemas.microsoft.com/office/drawing/2014/main" id="{06C0028F-E415-56CF-FC1F-06F16AA18042}"/>
              </a:ext>
            </a:extLst>
          </p:cNvPr>
          <p:cNvSpPr/>
          <p:nvPr/>
        </p:nvSpPr>
        <p:spPr>
          <a:xfrm>
            <a:off x="9255386" y="3049743"/>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sp>
        <p:nvSpPr>
          <p:cNvPr id="46" name="Flowchart: Connector 45">
            <a:extLst>
              <a:ext uri="{FF2B5EF4-FFF2-40B4-BE49-F238E27FC236}">
                <a16:creationId xmlns:a16="http://schemas.microsoft.com/office/drawing/2014/main" id="{A8A4B519-3B68-4323-B613-B899158E4A6A}"/>
              </a:ext>
            </a:extLst>
          </p:cNvPr>
          <p:cNvSpPr/>
          <p:nvPr/>
        </p:nvSpPr>
        <p:spPr>
          <a:xfrm>
            <a:off x="4858855" y="298762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endParaRPr lang="vi-VN" dirty="0">
              <a:ln w="0"/>
              <a:solidFill>
                <a:schemeClr val="tx1"/>
              </a:solidFill>
              <a:effectLst>
                <a:outerShdw blurRad="38100" dist="19050" dir="2700000" algn="tl" rotWithShape="0">
                  <a:schemeClr val="dk1">
                    <a:alpha val="40000"/>
                  </a:schemeClr>
                </a:outerShdw>
              </a:effectLst>
            </a:endParaRPr>
          </a:p>
        </p:txBody>
      </p:sp>
      <p:sp>
        <p:nvSpPr>
          <p:cNvPr id="47" name="Flowchart: Connector 46">
            <a:extLst>
              <a:ext uri="{FF2B5EF4-FFF2-40B4-BE49-F238E27FC236}">
                <a16:creationId xmlns:a16="http://schemas.microsoft.com/office/drawing/2014/main" id="{2F77F2DA-ECB9-959D-0405-F858F72F3479}"/>
              </a:ext>
            </a:extLst>
          </p:cNvPr>
          <p:cNvSpPr/>
          <p:nvPr/>
        </p:nvSpPr>
        <p:spPr>
          <a:xfrm>
            <a:off x="6929084" y="298134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0426BA8A-9FE6-497F-9342-BDC1A7DFF6B9}"/>
              </a:ext>
            </a:extLst>
          </p:cNvPr>
          <p:cNvCxnSpPr>
            <a:cxnSpLocks/>
            <a:stCxn id="42" idx="5"/>
            <a:endCxn id="59" idx="0"/>
          </p:cNvCxnSpPr>
          <p:nvPr/>
        </p:nvCxnSpPr>
        <p:spPr>
          <a:xfrm>
            <a:off x="992480" y="3422420"/>
            <a:ext cx="280220" cy="820275"/>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DB117E2-D337-D4D8-8CE4-8C3F5BCEE57E}"/>
              </a:ext>
            </a:extLst>
          </p:cNvPr>
          <p:cNvCxnSpPr>
            <a:cxnSpLocks/>
            <a:stCxn id="42" idx="3"/>
            <a:endCxn id="60" idx="0"/>
          </p:cNvCxnSpPr>
          <p:nvPr/>
        </p:nvCxnSpPr>
        <p:spPr>
          <a:xfrm flipH="1">
            <a:off x="324630" y="3422420"/>
            <a:ext cx="271559" cy="79426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3B93221-8D86-FB1D-B517-5D9BFB5631B3}"/>
              </a:ext>
            </a:extLst>
          </p:cNvPr>
          <p:cNvSpPr/>
          <p:nvPr/>
        </p:nvSpPr>
        <p:spPr>
          <a:xfrm>
            <a:off x="992480" y="42426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6</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B6EB3768-DA6D-F44D-0A1E-F419D07E803D}"/>
              </a:ext>
            </a:extLst>
          </p:cNvPr>
          <p:cNvSpPr/>
          <p:nvPr/>
        </p:nvSpPr>
        <p:spPr>
          <a:xfrm>
            <a:off x="44410" y="421668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4</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77" name="Straight Connector 76">
            <a:extLst>
              <a:ext uri="{FF2B5EF4-FFF2-40B4-BE49-F238E27FC236}">
                <a16:creationId xmlns:a16="http://schemas.microsoft.com/office/drawing/2014/main" id="{FC5E47DE-61AE-11B0-88A6-BB4C67903789}"/>
              </a:ext>
            </a:extLst>
          </p:cNvPr>
          <p:cNvCxnSpPr>
            <a:cxnSpLocks/>
            <a:endCxn id="79" idx="0"/>
          </p:cNvCxnSpPr>
          <p:nvPr/>
        </p:nvCxnSpPr>
        <p:spPr>
          <a:xfrm>
            <a:off x="3314036" y="340001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0E74C6F4-551D-0542-C83A-113BEDCCD8F4}"/>
              </a:ext>
            </a:extLst>
          </p:cNvPr>
          <p:cNvCxnSpPr>
            <a:cxnSpLocks/>
            <a:endCxn id="80" idx="0"/>
          </p:cNvCxnSpPr>
          <p:nvPr/>
        </p:nvCxnSpPr>
        <p:spPr>
          <a:xfrm flipH="1">
            <a:off x="2566385" y="340001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79" name="Flowchart: Connector 78">
            <a:extLst>
              <a:ext uri="{FF2B5EF4-FFF2-40B4-BE49-F238E27FC236}">
                <a16:creationId xmlns:a16="http://schemas.microsoft.com/office/drawing/2014/main" id="{2D5AB263-A288-D2FA-DFC8-810DD71F7AE4}"/>
              </a:ext>
            </a:extLst>
          </p:cNvPr>
          <p:cNvSpPr/>
          <p:nvPr/>
        </p:nvSpPr>
        <p:spPr>
          <a:xfrm>
            <a:off x="3402888" y="416973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80" name="Flowchart: Connector 79">
            <a:extLst>
              <a:ext uri="{FF2B5EF4-FFF2-40B4-BE49-F238E27FC236}">
                <a16:creationId xmlns:a16="http://schemas.microsoft.com/office/drawing/2014/main" id="{6AADEFB9-2761-E1B5-5A9C-E213E7F11FE9}"/>
              </a:ext>
            </a:extLst>
          </p:cNvPr>
          <p:cNvSpPr/>
          <p:nvPr/>
        </p:nvSpPr>
        <p:spPr>
          <a:xfrm>
            <a:off x="2286165" y="416973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98" name="Straight Connector 97">
            <a:extLst>
              <a:ext uri="{FF2B5EF4-FFF2-40B4-BE49-F238E27FC236}">
                <a16:creationId xmlns:a16="http://schemas.microsoft.com/office/drawing/2014/main" id="{775FD7AD-6C4C-67B0-F72A-E08CA1B2F7CB}"/>
              </a:ext>
            </a:extLst>
          </p:cNvPr>
          <p:cNvCxnSpPr>
            <a:cxnSpLocks/>
            <a:stCxn id="46" idx="5"/>
            <a:endCxn id="100" idx="0"/>
          </p:cNvCxnSpPr>
          <p:nvPr/>
        </p:nvCxnSpPr>
        <p:spPr>
          <a:xfrm>
            <a:off x="5337220" y="3482774"/>
            <a:ext cx="280415" cy="710720"/>
          </a:xfrm>
          <a:prstGeom prst="line">
            <a:avLst/>
          </a:prstGeom>
        </p:spPr>
        <p:style>
          <a:lnRef idx="2">
            <a:schemeClr val="dk1"/>
          </a:lnRef>
          <a:fillRef idx="0">
            <a:schemeClr val="dk1"/>
          </a:fillRef>
          <a:effectRef idx="1">
            <a:schemeClr val="dk1"/>
          </a:effectRef>
          <a:fontRef idx="minor">
            <a:schemeClr val="tx1"/>
          </a:fontRef>
        </p:style>
      </p:cxnSp>
      <p:cxnSp>
        <p:nvCxnSpPr>
          <p:cNvPr id="99" name="Straight Connector 98">
            <a:extLst>
              <a:ext uri="{FF2B5EF4-FFF2-40B4-BE49-F238E27FC236}">
                <a16:creationId xmlns:a16="http://schemas.microsoft.com/office/drawing/2014/main" id="{67ED108D-7CF5-A0E0-BCCA-8ABD95A604C5}"/>
              </a:ext>
            </a:extLst>
          </p:cNvPr>
          <p:cNvCxnSpPr>
            <a:cxnSpLocks/>
            <a:stCxn id="46" idx="3"/>
            <a:endCxn id="101" idx="0"/>
          </p:cNvCxnSpPr>
          <p:nvPr/>
        </p:nvCxnSpPr>
        <p:spPr>
          <a:xfrm flipH="1">
            <a:off x="4669553" y="3482774"/>
            <a:ext cx="271376" cy="710721"/>
          </a:xfrm>
          <a:prstGeom prst="line">
            <a:avLst/>
          </a:prstGeom>
        </p:spPr>
        <p:style>
          <a:lnRef idx="2">
            <a:schemeClr val="dk1"/>
          </a:lnRef>
          <a:fillRef idx="0">
            <a:schemeClr val="dk1"/>
          </a:fillRef>
          <a:effectRef idx="1">
            <a:schemeClr val="dk1"/>
          </a:effectRef>
          <a:fontRef idx="minor">
            <a:schemeClr val="tx1"/>
          </a:fontRef>
        </p:style>
      </p:cxnSp>
      <p:sp>
        <p:nvSpPr>
          <p:cNvPr id="100" name="Flowchart: Connector 99">
            <a:extLst>
              <a:ext uri="{FF2B5EF4-FFF2-40B4-BE49-F238E27FC236}">
                <a16:creationId xmlns:a16="http://schemas.microsoft.com/office/drawing/2014/main" id="{BA602E5B-8F2C-A4CE-405A-E19930B176C5}"/>
              </a:ext>
            </a:extLst>
          </p:cNvPr>
          <p:cNvSpPr/>
          <p:nvPr/>
        </p:nvSpPr>
        <p:spPr>
          <a:xfrm>
            <a:off x="5337415" y="4193494"/>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01" name="Flowchart: Connector 100">
            <a:extLst>
              <a:ext uri="{FF2B5EF4-FFF2-40B4-BE49-F238E27FC236}">
                <a16:creationId xmlns:a16="http://schemas.microsoft.com/office/drawing/2014/main" id="{6BDBF38E-CB02-71C7-38F8-4E358B1D9025}"/>
              </a:ext>
            </a:extLst>
          </p:cNvPr>
          <p:cNvSpPr/>
          <p:nvPr/>
        </p:nvSpPr>
        <p:spPr>
          <a:xfrm>
            <a:off x="4389333" y="41934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1" name="Straight Connector 110">
            <a:extLst>
              <a:ext uri="{FF2B5EF4-FFF2-40B4-BE49-F238E27FC236}">
                <a16:creationId xmlns:a16="http://schemas.microsoft.com/office/drawing/2014/main" id="{E7E93C8F-3F22-A190-69A1-753C08A7EE82}"/>
              </a:ext>
            </a:extLst>
          </p:cNvPr>
          <p:cNvCxnSpPr>
            <a:cxnSpLocks/>
            <a:endCxn id="113" idx="0"/>
          </p:cNvCxnSpPr>
          <p:nvPr/>
        </p:nvCxnSpPr>
        <p:spPr>
          <a:xfrm>
            <a:off x="7412750" y="348277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C8153E63-473B-EB70-6898-7C5E1F7892A0}"/>
              </a:ext>
            </a:extLst>
          </p:cNvPr>
          <p:cNvCxnSpPr>
            <a:cxnSpLocks/>
            <a:endCxn id="114" idx="0"/>
          </p:cNvCxnSpPr>
          <p:nvPr/>
        </p:nvCxnSpPr>
        <p:spPr>
          <a:xfrm flipH="1">
            <a:off x="6665099" y="348277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3" name="Flowchart: Connector 112">
            <a:extLst>
              <a:ext uri="{FF2B5EF4-FFF2-40B4-BE49-F238E27FC236}">
                <a16:creationId xmlns:a16="http://schemas.microsoft.com/office/drawing/2014/main" id="{21396DE6-1334-F9CB-3AAD-B9890093EFD6}"/>
              </a:ext>
            </a:extLst>
          </p:cNvPr>
          <p:cNvSpPr/>
          <p:nvPr/>
        </p:nvSpPr>
        <p:spPr>
          <a:xfrm>
            <a:off x="7501602" y="425249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4" name="Flowchart: Connector 113">
            <a:extLst>
              <a:ext uri="{FF2B5EF4-FFF2-40B4-BE49-F238E27FC236}">
                <a16:creationId xmlns:a16="http://schemas.microsoft.com/office/drawing/2014/main" id="{9B56EA3E-EA61-809A-F516-785BECAD215A}"/>
              </a:ext>
            </a:extLst>
          </p:cNvPr>
          <p:cNvSpPr/>
          <p:nvPr/>
        </p:nvSpPr>
        <p:spPr>
          <a:xfrm>
            <a:off x="6384879" y="425249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5" name="Straight Connector 114">
            <a:extLst>
              <a:ext uri="{FF2B5EF4-FFF2-40B4-BE49-F238E27FC236}">
                <a16:creationId xmlns:a16="http://schemas.microsoft.com/office/drawing/2014/main" id="{68F2FEF0-6F13-570B-EC89-DB7ABD30128D}"/>
              </a:ext>
            </a:extLst>
          </p:cNvPr>
          <p:cNvCxnSpPr>
            <a:cxnSpLocks/>
          </p:cNvCxnSpPr>
          <p:nvPr/>
        </p:nvCxnSpPr>
        <p:spPr>
          <a:xfrm>
            <a:off x="9721299" y="3561450"/>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6" name="Straight Connector 115">
            <a:extLst>
              <a:ext uri="{FF2B5EF4-FFF2-40B4-BE49-F238E27FC236}">
                <a16:creationId xmlns:a16="http://schemas.microsoft.com/office/drawing/2014/main" id="{00D65E59-550A-2A60-7DE0-D760E73C8FF3}"/>
              </a:ext>
            </a:extLst>
          </p:cNvPr>
          <p:cNvCxnSpPr>
            <a:cxnSpLocks/>
            <a:endCxn id="118" idx="0"/>
          </p:cNvCxnSpPr>
          <p:nvPr/>
        </p:nvCxnSpPr>
        <p:spPr>
          <a:xfrm flipH="1">
            <a:off x="8973648" y="3535590"/>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7" name="Flowchart: Connector 116">
            <a:extLst>
              <a:ext uri="{FF2B5EF4-FFF2-40B4-BE49-F238E27FC236}">
                <a16:creationId xmlns:a16="http://schemas.microsoft.com/office/drawing/2014/main" id="{C81D4BFA-771C-4824-C032-2E47EF320B1A}"/>
              </a:ext>
            </a:extLst>
          </p:cNvPr>
          <p:cNvSpPr/>
          <p:nvPr/>
        </p:nvSpPr>
        <p:spPr>
          <a:xfrm>
            <a:off x="9810151" y="432488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8" name="Flowchart: Connector 117">
            <a:extLst>
              <a:ext uri="{FF2B5EF4-FFF2-40B4-BE49-F238E27FC236}">
                <a16:creationId xmlns:a16="http://schemas.microsoft.com/office/drawing/2014/main" id="{1FDF69B7-0AC1-DDC5-CF56-3DE425E03A09}"/>
              </a:ext>
            </a:extLst>
          </p:cNvPr>
          <p:cNvSpPr/>
          <p:nvPr/>
        </p:nvSpPr>
        <p:spPr>
          <a:xfrm>
            <a:off x="8693428"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23" name="Straight Connector 122">
            <a:extLst>
              <a:ext uri="{FF2B5EF4-FFF2-40B4-BE49-F238E27FC236}">
                <a16:creationId xmlns:a16="http://schemas.microsoft.com/office/drawing/2014/main" id="{79A6C5A7-9A7B-07DB-2144-9C353A6E14C3}"/>
              </a:ext>
            </a:extLst>
          </p:cNvPr>
          <p:cNvCxnSpPr>
            <a:cxnSpLocks/>
            <a:stCxn id="44" idx="5"/>
            <a:endCxn id="125" idx="0"/>
          </p:cNvCxnSpPr>
          <p:nvPr/>
        </p:nvCxnSpPr>
        <p:spPr>
          <a:xfrm>
            <a:off x="11567401" y="3544892"/>
            <a:ext cx="299970" cy="760415"/>
          </a:xfrm>
          <a:prstGeom prst="line">
            <a:avLst/>
          </a:prstGeom>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0F767978-FC8E-2539-D591-37D0A502049D}"/>
              </a:ext>
            </a:extLst>
          </p:cNvPr>
          <p:cNvCxnSpPr>
            <a:cxnSpLocks/>
            <a:endCxn id="126" idx="0"/>
          </p:cNvCxnSpPr>
          <p:nvPr/>
        </p:nvCxnSpPr>
        <p:spPr>
          <a:xfrm flipH="1">
            <a:off x="10812973" y="352303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25" name="Flowchart: Connector 124">
            <a:extLst>
              <a:ext uri="{FF2B5EF4-FFF2-40B4-BE49-F238E27FC236}">
                <a16:creationId xmlns:a16="http://schemas.microsoft.com/office/drawing/2014/main" id="{12108F36-E469-CF6D-9F11-D6E30560FBEF}"/>
              </a:ext>
            </a:extLst>
          </p:cNvPr>
          <p:cNvSpPr/>
          <p:nvPr/>
        </p:nvSpPr>
        <p:spPr>
          <a:xfrm>
            <a:off x="11587151"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26" name="Flowchart: Connector 125">
            <a:extLst>
              <a:ext uri="{FF2B5EF4-FFF2-40B4-BE49-F238E27FC236}">
                <a16:creationId xmlns:a16="http://schemas.microsoft.com/office/drawing/2014/main" id="{686D15A6-1E0C-A889-B31F-076CA62A43B4}"/>
              </a:ext>
            </a:extLst>
          </p:cNvPr>
          <p:cNvSpPr/>
          <p:nvPr/>
        </p:nvSpPr>
        <p:spPr>
          <a:xfrm>
            <a:off x="10532753" y="429275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0A0C8AAD-0558-6FCA-A9F1-F0DE37CA3C74}"/>
              </a:ext>
            </a:extLst>
          </p:cNvPr>
          <p:cNvSpPr txBox="1"/>
          <p:nvPr/>
        </p:nvSpPr>
        <p:spPr>
          <a:xfrm>
            <a:off x="4805241" y="534802"/>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425FE26B-7814-8862-4639-A1EBB0955A2B}"/>
              </a:ext>
            </a:extLst>
          </p:cNvPr>
          <p:cNvSpPr txBox="1"/>
          <p:nvPr/>
        </p:nvSpPr>
        <p:spPr>
          <a:xfrm>
            <a:off x="4839428" y="1710213"/>
            <a:ext cx="1138667" cy="523220"/>
          </a:xfrm>
          <a:prstGeom prst="rect">
            <a:avLst/>
          </a:prstGeom>
          <a:noFill/>
        </p:spPr>
        <p:txBody>
          <a:bodyPr wrap="square" rtlCol="0">
            <a:spAutoFit/>
          </a:bodyPr>
          <a:lstStyle/>
          <a:p>
            <a:r>
              <a:rPr lang="en-US" sz="2800" dirty="0"/>
              <a:t>MIN</a:t>
            </a:r>
            <a:endParaRPr lang="vi-VN" sz="2800" dirty="0"/>
          </a:p>
        </p:txBody>
      </p:sp>
      <p:sp>
        <p:nvSpPr>
          <p:cNvPr id="146" name="TextBox 145">
            <a:extLst>
              <a:ext uri="{FF2B5EF4-FFF2-40B4-BE49-F238E27FC236}">
                <a16:creationId xmlns:a16="http://schemas.microsoft.com/office/drawing/2014/main" id="{AD321A5B-4C56-C6CE-27E4-B5027AC7370A}"/>
              </a:ext>
            </a:extLst>
          </p:cNvPr>
          <p:cNvSpPr txBox="1"/>
          <p:nvPr/>
        </p:nvSpPr>
        <p:spPr>
          <a:xfrm>
            <a:off x="5715846" y="3009788"/>
            <a:ext cx="916871" cy="523220"/>
          </a:xfrm>
          <a:prstGeom prst="rect">
            <a:avLst/>
          </a:prstGeom>
          <a:noFill/>
        </p:spPr>
        <p:txBody>
          <a:bodyPr wrap="square" rtlCol="0">
            <a:spAutoFit/>
          </a:bodyPr>
          <a:lstStyle/>
          <a:p>
            <a:r>
              <a:rPr lang="en-US" sz="2800" dirty="0"/>
              <a:t>MAX</a:t>
            </a:r>
            <a:endParaRPr lang="vi-VN" sz="2800" dirty="0"/>
          </a:p>
        </p:txBody>
      </p:sp>
      <p:sp>
        <p:nvSpPr>
          <p:cNvPr id="147" name="TextBox 146">
            <a:extLst>
              <a:ext uri="{FF2B5EF4-FFF2-40B4-BE49-F238E27FC236}">
                <a16:creationId xmlns:a16="http://schemas.microsoft.com/office/drawing/2014/main" id="{203EEBE6-4DAD-0AA0-C4FB-9010414300CE}"/>
              </a:ext>
            </a:extLst>
          </p:cNvPr>
          <p:cNvSpPr txBox="1"/>
          <p:nvPr/>
        </p:nvSpPr>
        <p:spPr>
          <a:xfrm>
            <a:off x="5775290" y="3801669"/>
            <a:ext cx="867880" cy="523220"/>
          </a:xfrm>
          <a:prstGeom prst="rect">
            <a:avLst/>
          </a:prstGeom>
          <a:noFill/>
        </p:spPr>
        <p:txBody>
          <a:bodyPr wrap="square" rtlCol="0">
            <a:spAutoFit/>
          </a:bodyPr>
          <a:lstStyle/>
          <a:p>
            <a:r>
              <a:rPr lang="en-US" sz="2800" dirty="0"/>
              <a:t>MIN</a:t>
            </a:r>
          </a:p>
        </p:txBody>
      </p:sp>
    </p:spTree>
    <p:extLst>
      <p:ext uri="{BB962C8B-B14F-4D97-AF65-F5344CB8AC3E}">
        <p14:creationId xmlns:p14="http://schemas.microsoft.com/office/powerpoint/2010/main" val="43920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xEl>
                                              <p:pRg st="0" end="0"/>
                                            </p:txEl>
                                          </p:spTgt>
                                        </p:tgtEl>
                                        <p:attrNameLst>
                                          <p:attrName>style.visibility</p:attrName>
                                        </p:attrNameLst>
                                      </p:cBhvr>
                                      <p:to>
                                        <p:strVal val="visible"/>
                                      </p:to>
                                    </p:set>
                                    <p:animEffect transition="in" filter="fade">
                                      <p:cBhvr>
                                        <p:cTn id="12" dur="500"/>
                                        <p:tgtEl>
                                          <p:spTgt spid="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xEl>
                                              <p:pRg st="0" end="0"/>
                                            </p:txEl>
                                          </p:spTgt>
                                        </p:tgtEl>
                                        <p:attrNameLst>
                                          <p:attrName>style.visibility</p:attrName>
                                        </p:attrNameLst>
                                      </p:cBhvr>
                                      <p:to>
                                        <p:strVal val="visible"/>
                                      </p:to>
                                    </p:set>
                                    <p:animEffect transition="in" filter="fade">
                                      <p:cBhvr>
                                        <p:cTn id="17" dur="500"/>
                                        <p:tgtEl>
                                          <p:spTgt spid="4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xEl>
                                              <p:pRg st="0" end="0"/>
                                            </p:txEl>
                                          </p:spTgt>
                                        </p:tgtEl>
                                        <p:attrNameLst>
                                          <p:attrName>style.visibility</p:attrName>
                                        </p:attrNameLst>
                                      </p:cBhvr>
                                      <p:to>
                                        <p:strVal val="visible"/>
                                      </p:to>
                                    </p:set>
                                    <p:animEffect transition="in" filter="fade">
                                      <p:cBhvr>
                                        <p:cTn id="22" dur="500"/>
                                        <p:tgtEl>
                                          <p:spTgt spid="4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animEffect transition="in" filter="fade">
                                      <p:cBhvr>
                                        <p:cTn id="27" dur="500"/>
                                        <p:tgtEl>
                                          <p:spTgt spid="4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
                                            <p:txEl>
                                              <p:pRg st="0" end="0"/>
                                            </p:txEl>
                                          </p:spTgt>
                                        </p:tgtEl>
                                        <p:attrNameLst>
                                          <p:attrName>style.visibility</p:attrName>
                                        </p:attrNameLst>
                                      </p:cBhvr>
                                      <p:to>
                                        <p:strVal val="visible"/>
                                      </p:to>
                                    </p:set>
                                    <p:animEffect transition="in" filter="fade">
                                      <p:cBhvr>
                                        <p:cTn id="32" dur="500"/>
                                        <p:tgtEl>
                                          <p:spTgt spid="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animEffect transition="in" filter="fade">
                                      <p:cBhvr>
                                        <p:cTn id="47" dur="500"/>
                                        <p:tgtEl>
                                          <p:spTgt spid="1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fade">
                                      <p:cBhvr>
                                        <p:cTn id="5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3DEA-93E3-E7B0-4F0A-0907D6D16D57}"/>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(1)</a:t>
            </a:r>
          </a:p>
        </p:txBody>
      </p:sp>
      <p:sp>
        <p:nvSpPr>
          <p:cNvPr id="3" name="Content Placeholder 2">
            <a:extLst>
              <a:ext uri="{FF2B5EF4-FFF2-40B4-BE49-F238E27FC236}">
                <a16:creationId xmlns:a16="http://schemas.microsoft.com/office/drawing/2014/main" id="{72B343E8-5274-062F-9136-33C94D4A176B}"/>
              </a:ext>
            </a:extLst>
          </p:cNvPr>
          <p:cNvSpPr>
            <a:spLocks noGrp="1"/>
          </p:cNvSpPr>
          <p:nvPr>
            <p:ph idx="1"/>
          </p:nvPr>
        </p:nvSpPr>
        <p:spPr/>
        <p:txBody>
          <a:bodyPr/>
          <a:lstStyle/>
          <a:p>
            <a:pPr marL="0" indent="0">
              <a:buNone/>
            </a:pPr>
            <a:r>
              <a:rPr lang="vi-VN" b="1" dirty="0">
                <a:latin typeface="Aptos" panose="020B0004020202020204" pitchFamily="34" charset="0"/>
              </a:rPr>
              <a:t>Vấn đề:</a:t>
            </a:r>
            <a:r>
              <a:rPr lang="vi-VN" dirty="0">
                <a:latin typeface="Aptos" panose="020B0004020202020204" pitchFamily="34" charset="0"/>
              </a:rPr>
              <a:t> Số lượng nút tăng theo hàm mũ (với </a:t>
            </a:r>
            <a:r>
              <a:rPr lang="vi-VN" dirty="0" err="1">
                <a:latin typeface="Aptos" panose="020B0004020202020204" pitchFamily="34" charset="0"/>
              </a:rPr>
              <a:t>ConnectX</a:t>
            </a:r>
            <a:r>
              <a:rPr lang="vi-VN" dirty="0">
                <a:latin typeface="Aptos" panose="020B0004020202020204" pitchFamily="34" charset="0"/>
              </a:rPr>
              <a:t>, hệ số nhánh là 7).</a:t>
            </a:r>
          </a:p>
          <a:p>
            <a:pPr marL="0" indent="0">
              <a:buNone/>
            </a:pPr>
            <a:r>
              <a:rPr lang="vi-VN" b="1" dirty="0">
                <a:latin typeface="Aptos" panose="020B0004020202020204" pitchFamily="34" charset="0"/>
              </a:rPr>
              <a:t>Hệ quả:</a:t>
            </a:r>
            <a:r>
              <a:rPr lang="vi-VN" dirty="0">
                <a:latin typeface="Aptos" panose="020B0004020202020204" pitchFamily="34" charset="0"/>
              </a:rPr>
              <a:t> Duyệt toàn bộ cây tốn quá nhiều thời gian và bộ nhớ, khiến AI không kịp phản hồi.</a:t>
            </a:r>
          </a:p>
          <a:p>
            <a:pPr marL="0" indent="0">
              <a:buNone/>
            </a:pPr>
            <a:r>
              <a:rPr lang="vi-VN" b="1" dirty="0">
                <a:latin typeface="Aptos" panose="020B0004020202020204" pitchFamily="34" charset="0"/>
              </a:rPr>
              <a:t>Giải pháp:</a:t>
            </a:r>
            <a:r>
              <a:rPr lang="vi-VN" dirty="0">
                <a:latin typeface="Aptos" panose="020B0004020202020204" pitchFamily="34" charset="0"/>
              </a:rPr>
              <a:t> Cắt bỏ các nhánh chắc chắn không ảnh hưởng đến kết quả cuối cùng mà không làm giảm độ chính xác của thuật toán.</a:t>
            </a:r>
          </a:p>
        </p:txBody>
      </p:sp>
    </p:spTree>
    <p:extLst>
      <p:ext uri="{BB962C8B-B14F-4D97-AF65-F5344CB8AC3E}">
        <p14:creationId xmlns:p14="http://schemas.microsoft.com/office/powerpoint/2010/main" val="2073989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57FB-6EA1-F6F6-7C61-E85B4208E63C}"/>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(2)</a:t>
            </a:r>
            <a:endParaRPr lang="vi-VN"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B512BB-3F70-41B5-0E6E-BFFFDC306A04}"/>
                  </a:ext>
                </a:extLst>
              </p:cNvPr>
              <p:cNvSpPr>
                <a:spLocks noGrp="1"/>
              </p:cNvSpPr>
              <p:nvPr>
                <p:ph idx="1"/>
              </p:nvPr>
            </p:nvSpPr>
            <p:spPr/>
            <p:txBody>
              <a:bodyPr>
                <a:noAutofit/>
              </a:bodyPr>
              <a:lstStyle/>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𝛂</m:t>
                    </m:r>
                  </m:oMath>
                </a14:m>
                <a:r>
                  <a:rPr lang="vi-VN" b="1" dirty="0">
                    <a:latin typeface="Aptos" panose="020B0004020202020204" pitchFamily="34" charset="0"/>
                  </a:rPr>
                  <a:t>: </a:t>
                </a:r>
                <a:r>
                  <a:rPr lang="vi-VN" dirty="0">
                    <a:latin typeface="Aptos" panose="020B0004020202020204" pitchFamily="34" charset="0"/>
                  </a:rPr>
                  <a:t>giá trị tối thiểu mà người chơi MAX chắc chắn đạt được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a:t>
                </a:r>
              </a:p>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𝛃</m:t>
                    </m:r>
                  </m:oMath>
                </a14:m>
                <a:r>
                  <a:rPr lang="vi-VN" b="1" dirty="0">
                    <a:latin typeface="Aptos" panose="020B0004020202020204" pitchFamily="34" charset="0"/>
                  </a:rPr>
                  <a:t>: </a:t>
                </a:r>
                <a:r>
                  <a:rPr lang="vi-VN" dirty="0">
                    <a:latin typeface="Aptos" panose="020B0004020202020204" pitchFamily="34" charset="0"/>
                  </a:rPr>
                  <a:t>giá trị tối đa mà người chơi MIN có thể ép MAX nhận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 </a:t>
                </a:r>
              </a:p>
              <a:p>
                <a:pPr marL="0" indent="0">
                  <a:buNone/>
                </a:pPr>
                <a:r>
                  <a:rPr lang="vi-VN" b="1" dirty="0">
                    <a:latin typeface="Aptos" panose="020B0004020202020204" pitchFamily="34" charset="0"/>
                  </a:rPr>
                  <a:t>Điều kiện cắt tỉa: </a:t>
                </a:r>
                <a:r>
                  <a:rPr lang="vi-VN" dirty="0">
                    <a:latin typeface="Aptos" panose="020B0004020202020204" pitchFamily="34" charset="0"/>
                  </a:rPr>
                  <a:t>Trong quá trình duyệt, nếu tại 1 nút bất kỳ xảy ra điều kiện </a:t>
                </a:r>
                <a14:m>
                  <m:oMath xmlns:m="http://schemas.openxmlformats.org/officeDocument/2006/math">
                    <m:r>
                      <m:rPr>
                        <m:sty m:val="p"/>
                      </m:rPr>
                      <a:rPr lang="en-US" i="1">
                        <a:latin typeface="Cambria Math" panose="02040503050406030204" pitchFamily="18" charset="0"/>
                      </a:rPr>
                      <m:t>α</m:t>
                    </m:r>
                  </m:oMath>
                </a14:m>
                <a:r>
                  <a:rPr lang="vi-VN" dirty="0">
                    <a:latin typeface="Aptos" panose="020B0004020202020204" pitchFamily="34" charset="0"/>
                  </a:rPr>
                  <a:t> </a:t>
                </a:r>
                <a14:m>
                  <m:oMath xmlns:m="http://schemas.openxmlformats.org/officeDocument/2006/math">
                    <m:r>
                      <a:rPr lang="vi-VN" i="1" smtClean="0">
                        <a:latin typeface="Cambria Math" panose="02040503050406030204" pitchFamily="18" charset="0"/>
                      </a:rPr>
                      <m:t>≥</m:t>
                    </m:r>
                  </m:oMath>
                </a14:m>
                <a:r>
                  <a:rPr lang="vi-VN" dirty="0">
                    <a:latin typeface="Aptos" panose="020B0004020202020204" pitchFamily="34" charset="0"/>
                  </a:rPr>
                  <a:t> </a:t>
                </a:r>
                <a14:m>
                  <m:oMath xmlns:m="http://schemas.openxmlformats.org/officeDocument/2006/math">
                    <m:r>
                      <m:rPr>
                        <m:sty m:val="p"/>
                      </m:rPr>
                      <a:rPr lang="en-US" i="1">
                        <a:latin typeface="Cambria Math" panose="02040503050406030204" pitchFamily="18" charset="0"/>
                      </a:rPr>
                      <m:t>β</m:t>
                    </m:r>
                  </m:oMath>
                </a14:m>
                <a:r>
                  <a:rPr lang="vi-VN" dirty="0">
                    <a:latin typeface="Aptos" panose="020B0004020202020204" pitchFamily="34" charset="0"/>
                  </a:rPr>
                  <a:t> </a:t>
                </a:r>
              </a:p>
              <a:p>
                <a:pPr marL="0" indent="0">
                  <a:buNone/>
                </a:pPr>
                <a:r>
                  <a:rPr lang="vi-VN" b="1" dirty="0">
                    <a:latin typeface="Aptos" panose="020B0004020202020204" pitchFamily="34" charset="0"/>
                  </a:rPr>
                  <a:t>Hành động: </a:t>
                </a:r>
                <a:r>
                  <a:rPr lang="vi-VN" dirty="0">
                    <a:latin typeface="Aptos" panose="020B0004020202020204" pitchFamily="34" charset="0"/>
                  </a:rPr>
                  <a:t>Thuật toán ngừng duyệt tất cả các nhánh còn lại của nút đó</a:t>
                </a:r>
              </a:p>
              <a:p>
                <a:pPr marL="0" indent="0">
                  <a:buNone/>
                </a:pPr>
                <a:r>
                  <a:rPr lang="vi-VN" b="1" dirty="0">
                    <a:latin typeface="Aptos" panose="020B0004020202020204" pitchFamily="34" charset="0"/>
                  </a:rPr>
                  <a:t>Ý nghĩa: </a:t>
                </a:r>
                <a:r>
                  <a:rPr lang="vi-VN" dirty="0">
                    <a:latin typeface="Aptos" panose="020B0004020202020204" pitchFamily="34" charset="0"/>
                  </a:rPr>
                  <a:t>Nhánh bị cắt là nhánh mà đối thủ chắc chắn sẽ không cho phép ta chọn, hoặc ta đã tìm thấy một lựa chọn khác tốt hơn trước đó.</a:t>
                </a:r>
              </a:p>
            </p:txBody>
          </p:sp>
        </mc:Choice>
        <mc:Fallback xmlns="">
          <p:sp>
            <p:nvSpPr>
              <p:cNvPr id="3" name="Content Placeholder 2">
                <a:extLst>
                  <a:ext uri="{FF2B5EF4-FFF2-40B4-BE49-F238E27FC236}">
                    <a16:creationId xmlns:a16="http://schemas.microsoft.com/office/drawing/2014/main" id="{4FB512BB-3F70-41B5-0E6E-BFFFDC306A04}"/>
                  </a:ext>
                </a:extLst>
              </p:cNvPr>
              <p:cNvSpPr>
                <a:spLocks noGrp="1" noRot="1" noChangeAspect="1" noMove="1" noResize="1" noEditPoints="1" noAdjustHandles="1" noChangeArrowheads="1" noChangeShapeType="1" noTextEdit="1"/>
              </p:cNvSpPr>
              <p:nvPr>
                <p:ph idx="1"/>
              </p:nvPr>
            </p:nvSpPr>
            <p:spPr>
              <a:blipFill>
                <a:blip r:embed="rId2"/>
                <a:stretch>
                  <a:fillRect l="-1217" t="-2381" r="-1159" b="-14846"/>
                </a:stretch>
              </a:blipFill>
            </p:spPr>
            <p:txBody>
              <a:bodyPr/>
              <a:lstStyle/>
              <a:p>
                <a:r>
                  <a:rPr lang="vi-VN">
                    <a:noFill/>
                  </a:rPr>
                  <a:t> </a:t>
                </a:r>
              </a:p>
            </p:txBody>
          </p:sp>
        </mc:Fallback>
      </mc:AlternateContent>
    </p:spTree>
    <p:extLst>
      <p:ext uri="{BB962C8B-B14F-4D97-AF65-F5344CB8AC3E}">
        <p14:creationId xmlns:p14="http://schemas.microsoft.com/office/powerpoint/2010/main" val="244128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DCBE-F547-107A-CEC9-74030DAEAC0F}"/>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4C030A8-49E5-AEE9-5136-CC7FE731B51A}"/>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2FCFABAC-7F5A-B62B-8BDF-01BC0634B020}"/>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7591DCF3-1408-9F84-E17A-A5FCF800850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999D0803-BAD9-07AE-283A-76A1F5FAB26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DBCF63D-0B89-1B59-83F8-E77B71C1C648}"/>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7C55C8E3-8B48-0E94-927A-5530506399D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D53A8AB-25D6-DEF4-B5CC-C10F4E3EBB3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F8D84A-12C4-14B8-8878-3530D255AD3D}"/>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D6D4DCE-892C-E005-055D-F42313452C1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63735537-A0CF-37BB-40E2-D15F1FBF756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8D845667-C28D-67C9-CF2B-F38FE2F2BE7B}"/>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94CF9DA8-C91F-D956-3A77-576ACF26EE3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AC9F8A99-239E-E167-2581-CFB6EA7E513B}"/>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3C0B5B-2BF7-313E-EF93-90FAD3EBFC4C}"/>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B3C0B5B-2BF7-313E-EF93-90FAD3EBFC4C}"/>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9E9F1A5-2F94-EAF2-7F77-CBD93D276C9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49E9F1A5-2F94-EAF2-7F77-CBD93D276C9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C1D10E5-454F-2D1D-207E-6C6743FF907B}"/>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C1D10E5-454F-2D1D-207E-6C6743FF907B}"/>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4591F95E-2EF6-2881-ECA3-5C30817B353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80C8734A-B46F-23DA-528E-E55FF899EF20}"/>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EDD094FD-927D-CEBC-987B-A0B7AA72571C}"/>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5FF8ED5-311E-EDD5-2353-8B521F638BE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8DACC989-947C-3869-1593-DB1C9CB7B2D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438B4A0-B9E8-DC23-83A4-3AA604A3B789}"/>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0DC59AF-C7BA-0CB6-0422-1BDCCBF2406C}"/>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5BAF1E7B-A8D9-4985-DBE8-B5820308AD74}"/>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5DED28D9-65BF-09C9-D8E3-B5F81C463089}"/>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742ABB18-9DA7-9EBA-CF1F-543A0C36F79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644390A-2A0A-2950-E75D-4A8F806E0C1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218B1862-8DA3-52F2-3B04-0E31429FA6D0}"/>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0FB043BC-C67A-FE44-826C-D367150988A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C6CBC45-474F-DF8B-A03A-27A7EE2EEDD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5946CF1E-2385-E035-A79A-8136F2DDB5E0}"/>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C61BA342-E865-C862-2570-B65613441413}"/>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0E0ABC64-36CB-FB49-0225-F74ECEE85BF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89E713A4-9193-349D-7840-5889B17654B5}"/>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E1896D60-71B9-C6E8-421B-04595A4BAEC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9149A7EA-CBDB-184F-D525-9E23167535AC}"/>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048B669-D8E8-1DDA-9402-1E77B884D4FA}"/>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7EAC703A-D2D7-EA46-BF74-4EEFB4D84810}"/>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FCD1A9F1-007D-D9E7-C835-D148CD0674A2}"/>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FCD1A9F1-007D-D9E7-C835-D148CD0674A2}"/>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70127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nodePh="1">
                                  <p:stCondLst>
                                    <p:cond delay="0"/>
                                  </p:stCondLst>
                                  <p:endCondLst>
                                    <p:cond evt="begin" delay="0">
                                      <p:tn val="10"/>
                                    </p:cond>
                                  </p:end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nodePh="1">
                                  <p:stCondLst>
                                    <p:cond delay="0"/>
                                  </p:stCondLst>
                                  <p:endCondLst>
                                    <p:cond evt="begin" delay="0">
                                      <p:tn val="15"/>
                                    </p:cond>
                                  </p:end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xEl>
                                              <p:pRg st="0" end="0"/>
                                            </p:txEl>
                                          </p:spTgt>
                                        </p:tgtEl>
                                        <p:attrNameLst>
                                          <p:attrName>style.visibility</p:attrName>
                                        </p:attrNameLst>
                                      </p:cBhvr>
                                      <p:to>
                                        <p:strVal val="visible"/>
                                      </p:to>
                                    </p:set>
                                    <p:animEffect transition="in" filter="fade">
                                      <p:cBhvr>
                                        <p:cTn id="22" dur="500"/>
                                        <p:tgtEl>
                                          <p:spTgt spid="36">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6">
                                            <p:txEl>
                                              <p:pRg st="2" end="2"/>
                                            </p:txEl>
                                          </p:spTgt>
                                        </p:tgtEl>
                                        <p:attrNameLst>
                                          <p:attrName>style.visibility</p:attrName>
                                        </p:attrNameLst>
                                      </p:cBhvr>
                                      <p:to>
                                        <p:strVal val="visible"/>
                                      </p:to>
                                    </p:set>
                                    <p:animEffect transition="in" filter="fade">
                                      <p:cBhvr>
                                        <p:cTn id="25" dur="500"/>
                                        <p:tgtEl>
                                          <p:spTgt spid="3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
                                            <p:txEl>
                                              <p:pRg st="0" end="0"/>
                                            </p:txEl>
                                          </p:spTgt>
                                        </p:tgtEl>
                                        <p:attrNameLst>
                                          <p:attrName>style.visibility</p:attrName>
                                        </p:attrNameLst>
                                      </p:cBhvr>
                                      <p:to>
                                        <p:strVal val="visible"/>
                                      </p:to>
                                    </p:set>
                                    <p:animEffect transition="in" filter="fade">
                                      <p:cBhvr>
                                        <p:cTn id="30" dur="500"/>
                                        <p:tgtEl>
                                          <p:spTgt spid="37">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xEl>
                                              <p:pRg st="2" end="2"/>
                                            </p:txEl>
                                          </p:spTgt>
                                        </p:tgtEl>
                                        <p:attrNameLst>
                                          <p:attrName>style.visibility</p:attrName>
                                        </p:attrNameLst>
                                      </p:cBhvr>
                                      <p:to>
                                        <p:strVal val="visible"/>
                                      </p:to>
                                    </p:set>
                                    <p:animEffect transition="in" filter="fade">
                                      <p:cBhvr>
                                        <p:cTn id="33" dur="500"/>
                                        <p:tgtEl>
                                          <p:spTgt spid="3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nodePh="1">
                                  <p:stCondLst>
                                    <p:cond delay="0"/>
                                  </p:stCondLst>
                                  <p:endCondLst>
                                    <p:cond evt="begin" delay="0">
                                      <p:tn val="36"/>
                                    </p:cond>
                                  </p:endCondLst>
                                  <p:childTnLst>
                                    <p:set>
                                      <p:cBhvr>
                                        <p:cTn id="37" dur="1" fill="hold">
                                          <p:stCondLst>
                                            <p:cond delay="0"/>
                                          </p:stCondLst>
                                        </p:cTn>
                                        <p:tgtEl>
                                          <p:spTgt spid="127">
                                            <p:txEl>
                                              <p:pRg st="0" end="0"/>
                                            </p:txEl>
                                          </p:spTgt>
                                        </p:tgtEl>
                                        <p:attrNameLst>
                                          <p:attrName>style.visibility</p:attrName>
                                        </p:attrNameLst>
                                      </p:cBhvr>
                                      <p:to>
                                        <p:strVal val="visible"/>
                                      </p:to>
                                    </p:set>
                                    <p:animEffect transition="in" filter="fade">
                                      <p:cBhvr>
                                        <p:cTn id="38" dur="500"/>
                                        <p:tgtEl>
                                          <p:spTgt spid="12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1">
                                            <p:txEl>
                                              <p:pRg st="0" end="0"/>
                                            </p:txEl>
                                          </p:spTgt>
                                        </p:tgtEl>
                                        <p:attrNameLst>
                                          <p:attrName>style.visibility</p:attrName>
                                        </p:attrNameLst>
                                      </p:cBhvr>
                                      <p:to>
                                        <p:strVal val="visible"/>
                                      </p:to>
                                    </p:set>
                                    <p:animEffect transition="in" filter="fade">
                                      <p:cBhvr>
                                        <p:cTn id="43" dur="500"/>
                                        <p:tgtEl>
                                          <p:spTgt spid="141">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41">
                                            <p:txEl>
                                              <p:pRg st="2" end="2"/>
                                            </p:txEl>
                                          </p:spTgt>
                                        </p:tgtEl>
                                        <p:attrNameLst>
                                          <p:attrName>style.visibility</p:attrName>
                                        </p:attrNameLst>
                                      </p:cBhvr>
                                      <p:to>
                                        <p:strVal val="visible"/>
                                      </p:to>
                                    </p:set>
                                    <p:animEffect transition="in" filter="fade">
                                      <p:cBhvr>
                                        <p:cTn id="46" dur="500"/>
                                        <p:tgtEl>
                                          <p:spTgt spid="1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7872E-DB87-6AE6-A23C-A47BD7384A7D}"/>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D3789321-FAB9-EE12-0E73-85FA5B64B4BD}"/>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B83B9AB7-8710-A68C-E259-F2AD05B9927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17194BD7-1216-A62E-47E3-C16D529E40A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4A031FB-5F48-81BF-8BC0-DF556A1D9AB2}"/>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9786E53-D631-4C0D-568E-7FC5682812DB}"/>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3C9327D2-B864-CB96-D8FD-C05BB3D18DF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D295412E-A06B-269F-E9D8-6D5A1C90FF2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54F35EB-04A3-7692-3E2C-3ED6497FBAF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7D8252D-DF82-7478-BAF8-0FA665468CE4}"/>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C0DB316-FC86-5703-4000-A7997C349F58}"/>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4A9C1EE-3D33-11FD-6E59-908596C60CB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CC3C7BFB-F382-3799-7EC0-65B92179D49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40BDDAEE-82A7-F36A-BD36-8FCBEC4FBB5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5F9E2FD-077A-DC6E-2F0B-CBDED716246A}"/>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45F9E2FD-077A-DC6E-2F0B-CBDED716246A}"/>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007BA6-E305-D609-D281-F12D9C03AB8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9007BA6-E305-D609-D281-F12D9C03AB8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E06C2C0-898C-9518-A9BD-C35C30ADB75A}"/>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0E06C2C0-898C-9518-A9BD-C35C30ADB75A}"/>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765690E3-41C6-274E-A931-6718EAD9FF2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C1D7C55-DF77-AF39-2DCF-8EB63C5BCEB1}"/>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5288F37-4F50-4611-C61D-89698A0B6A2A}"/>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232E9276-FB69-033B-8E7D-0E25D051E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B4BAFF33-7115-AF59-708F-6813C203A1A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5F78A283-4A56-6745-9C85-19E189E86DB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E85ACA5-745F-3416-EC37-852A9D2E68B4}"/>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CFF56497-D7C2-8E5F-811D-29B9D2DF1465}"/>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9618FC4-2AB0-68B9-0515-E8E79A0B6C21}"/>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4F581E5-E17B-56A0-0354-153476E16186}"/>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3E16256-3FED-0614-6056-7629F5172C4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D99ADA-48E6-5E57-711B-6FBCDC5D0C9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55A3DEC8-732D-D4C8-CB84-7E95FDE4ADDB}"/>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70BA0EC-7E38-B064-325B-BF9E454D0EFC}"/>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7365F89-72DF-31E4-34E9-5E5338B89FC3}"/>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0696264-3749-F5A1-09AD-51E83EEBAB7E}"/>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703D900-60F3-FB27-909E-913DD5F6ECF9}"/>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17095B3-CBBC-91DB-5602-5F6A167AE378}"/>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897AC1A-E2FA-3072-8B84-B3A7D96FD277}"/>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C0AE4AA-2143-5F18-0594-C2088AEF12F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C4DBBD33-472A-D8AC-DBCD-50CC04790E5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ED276CD4-334A-9CDE-1E01-C4AC8AAF81F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FF92BFD-5797-FAB5-D989-94C082C526A4}"/>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=10</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FF92BFD-5797-FAB5-D989-94C082C526A4}"/>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4622829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D547-3CD2-D3CA-FB6E-04089569633B}"/>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4A17F60-A566-A4BD-9C0A-A9E8F145967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DF93DF8-9735-F490-752E-08429681D669}"/>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E99EC61-EA17-C6F2-C6DD-D2CB9B6474F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40B4FC1-0F27-A9E2-3E36-7B4C50B44BB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731A7F6-2CF9-AA1A-9963-75D75A8B8E55}"/>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D98E02-782A-3999-3166-B788353A9569}"/>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EB564D3-A6AB-5964-CECF-D6F189144E7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EC1508-D8D8-3F91-EE5F-66FC12825528}"/>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25E37401-073E-22FA-5F3D-845EEFF459D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2899869-99D4-C50D-84AC-0D983DB735C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94D9258-802A-445F-3D66-6EB636571A1C}"/>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F76584B-7252-C688-1C56-759017F2731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D734615E-58D2-517E-B696-7DAA6012342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8192256-ACFB-7DB9-486A-19DB70A0F281}"/>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D8192256-ACFB-7DB9-486A-19DB70A0F281}"/>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A34C4DB-CADE-FBE2-851A-0D495D1CB55A}"/>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A34C4DB-CADE-FBE2-851A-0D495D1CB55A}"/>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679CA48-850F-55F4-E62D-D49A2D1314A5}"/>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C679CA48-850F-55F4-E62D-D49A2D1314A5}"/>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00449BA1-82AC-5678-6D92-45874053CB89}"/>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8DE4431-ED1C-2040-568A-255316063D0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B6655784-9ED2-59F8-0E1E-E673A344BC8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14365957-3AFE-9050-8291-CCFF4667AB64}"/>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10D2577F-3E22-3B9B-4C18-09CD27F37B1C}"/>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8024C1DC-16AA-516F-A7CE-7014A50162D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7FC48AE-CAE3-BFBC-BF55-7878EABD369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AEEEF507-4D95-1C14-CB54-3BDBA6C0726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A36943F4-7BFF-C2F7-FC49-EF625540E83F}"/>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6D55FA9-8136-2C00-5FAF-38AC3797041C}"/>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9256B806-EB41-4D97-7985-88FF0274E20F}"/>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807D242-2ADF-4DC6-FBF9-75829AAA25A6}"/>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9683BD91-DD86-05E6-5666-BA06F123D183}"/>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020D0EA-7539-A6D0-F597-B873BB5BD7D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036ED61F-CF41-D2A6-C7B2-37BB80921DE9}"/>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536D2AD8-32E9-A44E-15E7-FF366465CC6A}"/>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ABFA612-0B55-C8B7-B4BE-610854092CE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6167B54C-F858-5CE7-BDB5-B8220E366306}"/>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60919F0-9875-0FD7-033A-078BE8518AF4}"/>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ADF1E87-8972-1C45-8E9D-B467381241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12C6D8F-86BD-77F2-D10F-BCEEE99C5F9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A3C22EAB-1C20-D637-BB4D-6233D27CDC7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20A9E28-1358-00A0-BDB3-9DFC60CFF520}"/>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20A9E28-1358-00A0-BDB3-9DFC60CFF520}"/>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9829909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9B24-5F8F-BD7A-3E5F-E83E03C31D9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1888BD3E-5292-28EC-4B16-7D056C0A69F1}"/>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34F7E1D9-1788-A582-5B07-92619686EBC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9238D3FC-7975-A161-49C0-06AEB150E02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BB5C4E9-8217-0E3E-238A-5D525DB5A28F}"/>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0894421-87F3-CB2C-E28B-66A7650F8AC2}"/>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53CE3F0F-73F9-E28C-3E46-5E056FB40F8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1AFA8524-1E81-D75E-F392-BA6BDAB20971}"/>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0FD96D70-1090-EC1C-2F3B-A7FBD582322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C4DEF2BC-589C-6243-CF1C-311AE639A06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DD9F548D-6BD0-89C7-5F2D-8F033AA16E5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13E3240E-8273-C179-5757-AC09F5B0F24A}"/>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0BE99D59-F8DA-30D0-24E7-6F4EC65EC8CF}"/>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6930DD4-E2CB-F080-36B1-40E48B3F284D}"/>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2701350-6C39-6971-CFDE-48E3590A3F8B}"/>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2701350-6C39-6971-CFDE-48E3590A3F8B}"/>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08AA6AE-78B2-DA47-9774-0159CE6E088E}"/>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08AA6AE-78B2-DA47-9774-0159CE6E088E}"/>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6B06B1B-0294-914E-2404-E056F1312A58}"/>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6B06B1B-0294-914E-2404-E056F1312A58}"/>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59090BF8-A5D0-BCB3-FD62-D1CF11D2736C}"/>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EC0678B0-8BEC-3878-6B7A-52241407C5BC}"/>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A98B0EAC-1731-34FA-4761-9788DA7EFDB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B76A5A9-528A-B947-FB3B-B47D1EAA140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719693CE-6D20-94CD-90FC-CD536848E4FB}"/>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0A0574F8-1C1A-5BF0-6C79-20E0FBF78DA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4D01926B-8B8B-7CCA-4B5A-56615E9FD26F}"/>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EB2EA948-389B-D61F-B73A-8437179D9EC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23C119AB-3B7B-0E8B-287F-82949F641D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46CA248F-0823-8F54-F2CA-17411F7C13C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C41ADC75-74CA-58C6-7559-6BF48B057DF6}"/>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0CC6990-8E3B-98ED-1F79-DE7C00FB90C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2A352EBB-5F1E-3D29-5ACC-F2E64CE328D8}"/>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40E6E4B-E421-9A6F-490F-F4795A09D7A9}"/>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4C0EF291-278C-31F1-AB50-5D5560B036E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9669C68-18B6-D558-EC89-D0363105398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D27372FB-EB97-F3F8-2C32-B6E54EF0AB3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B8E478AF-D839-D87B-76BF-67BE03D5EBE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0513BB64-B950-D50B-8559-C5F0A5CAA35D}"/>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843A70AD-3D11-33E4-3363-49FC8CF4F98F}"/>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51B3F290-377E-639A-0372-2BDCE53309A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6C624430-DF8C-5FF7-DB25-DAE5CC46DB9F}"/>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CBAA787-F383-117D-9C97-5FAB54E6109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CBAA787-F383-117D-9C97-5FAB54E6109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5585495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4948-9860-E150-07EE-11701442115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C8866E0-2CD5-55C7-6D87-5DC48653F43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84A7672-F22F-A516-9BFA-8B0DAFA89A5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A28CBD82-9FE2-A772-23DC-DB27E315C4EC}"/>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6BA4CC3-9DB3-279C-FF1F-23440DA3B007}"/>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E6DB7E74-39FB-F8EB-FF2C-8D586DCE645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A2864CBB-D461-6A56-B0DA-1DF3B41E116B}"/>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B8DCA406-CD8F-BDE1-BA89-09B0E12834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FB528D79-618B-50DC-FACB-7EDD6819E717}"/>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5ABA90F-E801-02CB-3883-0BA7A248C8D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BD998E8-F186-EB8E-EED3-268D36485642}"/>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54F225D-42B7-D2BD-9C01-EA936C7B6401}"/>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0005533-E50F-BE77-1AB5-B010823452B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1C16964-1031-25F8-3CB7-0C8C6002906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74B672-F88F-C2E1-1671-062F53612E7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D74B672-F88F-C2E1-1671-062F53612E7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7256009-27EC-7BA9-AF8F-B7939AFF21C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E7256009-27EC-7BA9-AF8F-B7939AFF21C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261372A-73C2-F99D-571D-59CF7415DFB4}"/>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4261372A-73C2-F99D-571D-59CF7415DFB4}"/>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5C666FC-3205-7224-0471-54FAED07F2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F576B81-F85A-CEF3-C428-1499D5517FF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1B9976C0-E46B-B350-A9D9-AC7C662059E3}"/>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B46D3B83-9E20-E678-4022-F6ACDD74DFEE}"/>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E04A1C53-DA0F-8ADD-470D-4FB1CB84A12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C692E57-3CE1-2D58-5B79-113B6EDAEC0F}"/>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A3900CA-0DC8-58C6-833A-9B6ED6141127}"/>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DF9A765-E126-D784-3A89-17EBBB1ED41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04C2E2A8-A831-93B9-95BA-4A5BE5B62638}"/>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E2D1CE48-E9D9-6676-8336-1E1B947E2A8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B170CE2C-93C3-3944-CF50-644C9AF330F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C73DEA1-315E-ED01-CBE3-81D09E89EFC9}"/>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9E15071-5D0A-6847-6B55-39F1222A473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072F7D5-F4CD-7BE1-0854-F6FD7A80539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AF8EB5-27B3-E952-5D53-F8F005B63AA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B6F458F-7C5E-67C0-5E3C-6F2001BA0AC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99987E1A-45FE-4CED-A791-E4C8CAE8986B}"/>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E78B616-47AE-DF54-254B-E0D0C1CE10CB}"/>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66F66CB3-37BE-64C5-A927-60F35E0069D0}"/>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C3850582-3079-02D5-A3FA-8BD42B991DF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BA0C0A56-66A4-2426-A723-5A11D8A422A3}"/>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94B8840-9451-211B-85C8-647D02668197}"/>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0517608-D6CC-84AB-4644-DF0C4EDA480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0517608-D6CC-84AB-4644-DF0C4EDA480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4B4781A-6D2B-A974-CCFF-CA5DD1752002}"/>
                  </a:ext>
                </a:extLst>
              </p:cNvPr>
              <p:cNvSpPr txBox="1"/>
              <p:nvPr/>
            </p:nvSpPr>
            <p:spPr>
              <a:xfrm>
                <a:off x="4668431"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D4B4781A-6D2B-A974-CCFF-CA5DD1752002}"/>
                  </a:ext>
                </a:extLst>
              </p:cNvPr>
              <p:cNvSpPr txBox="1">
                <a:spLocks noRot="1" noChangeAspect="1" noMove="1" noResize="1" noEditPoints="1" noAdjustHandles="1" noChangeArrowheads="1" noChangeShapeType="1" noTextEdit="1"/>
              </p:cNvSpPr>
              <p:nvPr/>
            </p:nvSpPr>
            <p:spPr>
              <a:xfrm>
                <a:off x="4668431" y="4301230"/>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80354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165A-FCDC-663F-92ED-07D9A915DDC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5B4F0C25-6584-F22D-925F-D26361F65AB0}"/>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8339B43-6CC0-5C83-D056-0437B03ACE35}"/>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51D03C9D-3825-B68E-9FBB-41083BAD1EA2}"/>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316854B0-3131-A246-1DCB-11C111FCE08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AF7A5CF-51D6-8E72-D68D-322BE5D5965A}"/>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E16DD634-E2A8-59DF-E23D-C8EC98D3CA4A}"/>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4535EE1-577B-7C81-8D2E-D50738DC120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4E0A98B-5994-0B88-E6E8-8C7BBB98927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5A21BBB-9528-2248-CBD2-400BDC6F533E}"/>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BB27445-6495-77DE-1D82-FED6483692D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8F70190-8BEF-040E-0027-331611E22DA2}"/>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B06C898C-9260-70CA-F33E-2AB4DC7299E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FF924752-6EE8-FD9A-A774-2682A6761D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B2421E3-3888-E19A-7D9A-24F35099BF25}"/>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5B2421E3-3888-E19A-7D9A-24F35099BF25}"/>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A2A294-7333-A8AA-1048-FADD168B6086}"/>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F6A2A294-7333-A8AA-1048-FADD168B6086}"/>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79CB08C-73EE-5A52-FFFD-83CCB162BF99}"/>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A79CB08C-73EE-5A52-FFFD-83CCB162BF99}"/>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620855D7-F1EE-7A99-38BD-2E8BE2FFE04E}"/>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9DD0F09B-334F-C2CA-997E-9421E6AD34C4}"/>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CDC50273-F514-31D3-0527-E159978704E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93BB4D40-685A-544E-403F-58425F93D766}"/>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6050DABB-97B0-7402-E263-6FF100A1C283}"/>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9A10F1A-73E3-9CA0-4A97-9CB505BE2973}"/>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03B913E-0B51-52F2-EB56-CB5C0765E1F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0403F07-062B-7911-36AF-291F48D81746}"/>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EB921EA-2002-A945-014F-208CED235193}"/>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93D66B18-0634-CF7A-4BAA-823E3F09686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0FFBF0D-F7EE-DCE6-F01A-A942C5522999}"/>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B7ECDD-477E-B236-F4C4-7324DBE119BC}"/>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DD4CFC8-5333-C2A0-92AA-1194B6735106}"/>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4C8AA1D-5C2A-5E32-8389-C5B284F0980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60EE3B-7C5A-C072-37D0-FB3E8ED862D7}"/>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DBD1046C-E4B6-7BF1-CA05-F62A8797678F}"/>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45A17B2-BD42-6D93-6EE1-42B3261EFAEE}"/>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95241745-2827-1633-4F1D-DA7003D333B2}"/>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F10CB42-144E-FA08-8F5C-F0C995A3910E}"/>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BCABBDC7-FDCA-B288-F216-43A31572663D}"/>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21F02C3-0BDA-5BFD-ABDF-D50DE73AFE9D}"/>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7E3E38-9D02-C59E-B8BD-7F9860B3981D}"/>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58C663C-3735-E32C-A402-407093EC0B8B}"/>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58C663C-3735-E32C-A402-407093EC0B8B}"/>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17EE99B-C2A2-95F8-3158-EC324F072FD5}"/>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F17EE99B-C2A2-95F8-3158-EC324F072FD5}"/>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6964721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B5BEA-D938-4B6F-93ED-6226EECD1FA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B00384EA-61CF-9155-2AFF-A833C7713CC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79C564A-3496-9156-8271-19F8D79FBDCB}"/>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F661DF06-C620-834F-2853-6A69C148747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7B607BF-5AC9-6515-2B8A-4565354B6FE5}"/>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27A102B-2986-A4FD-3469-B09A4AF06EE3}"/>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4D2A0F89-1633-6D83-39D3-92D54A9653E8}"/>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E8C627D-3029-FA83-3983-08967899C8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6613E3B-B573-FC20-ED03-5C3F6873394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A98405D-A3D6-58A6-57A2-582F4ABFE8DF}"/>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5E98CB05-7551-69F0-CF60-7F090F36A09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5BD54EA1-9EE0-DFDE-EBB6-A0B4F138F0A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4C0064B9-D8F3-C15B-B069-48AAA2A3EC0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E1930346-C8CD-452B-9DED-EE00E63217D4}"/>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84C2425-0D9D-11F6-4CAE-9C407D785956}"/>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84C2425-0D9D-11F6-4CAE-9C407D785956}"/>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E55A23F-0E1D-B66E-A84C-767FAEA6723F}"/>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5E55A23F-0E1D-B66E-A84C-767FAEA6723F}"/>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0276924-E52D-4315-5A09-EAD06BFAFC2E}"/>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0276924-E52D-4315-5A09-EAD06BFAFC2E}"/>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F134099C-1B34-FF42-DB65-F1C0B4807AC5}"/>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E86DC34-B697-786C-0614-363ED2B3F66F}"/>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8D151B42-9CF8-D224-A55F-3996D5FD989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131DF37-97C4-728F-30E6-EAC4E40ECA97}"/>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CEF3A397-2107-F99C-693E-E053BF7525C1}"/>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5EA71FF-53F3-C02C-D35C-E8F682A8716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0B9555CF-4A24-419C-0BE5-F6DAD219591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E818EAC-F9EE-2FAC-EED3-AE070BA9F3E0}"/>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F8C6EEE-0354-B3AE-C39C-8A5F99F50D76}"/>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211E80E0-90FA-F040-DC18-66DAE44A49E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858B5E9-8076-3C16-5F2F-354B414BFDC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1070F65C-4FCE-692A-325D-52D45E0F08B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66D5F159-3545-DDC6-AD6F-AF99995D001A}"/>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0EAB519-F2ED-DC3C-AD80-BA5CE542A7F4}"/>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58383A0-0F76-279A-2ED9-92741C0F21A4}"/>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349980A4-35DF-2E3A-2C68-3A85D35CD741}"/>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E03EFBC0-AEBE-0016-8FAA-D8A73718D422}"/>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FDE6717B-2138-6512-4797-5E1401746921}"/>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D1866C6B-7E0A-50B1-BC74-87F751481513}"/>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3720046F-2A3A-E008-F19F-7294CEFA8D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664B81AC-1193-D07C-F3AE-B05C8D4B1B4B}"/>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B4D2957E-4BF3-E715-1D4B-A4EFC2DD23E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C538DE3-2479-6F3A-9567-3391DC873033}"/>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C538DE3-2479-6F3A-9567-3391DC873033}"/>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27CAC6-AB9E-88A9-7072-EB435811C31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827CAC6-AB9E-88A9-7072-EB435811C31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6953176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C05E-FE46-D389-D84C-6CCBA949FD8C}"/>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FB07CD-398B-5307-82C4-81352E26898F}"/>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5012F68E-4053-AD26-BCDE-1EBC18EA1408}"/>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22769D1D-DE14-9F6C-5598-9E4029333CB5}"/>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1192573-409B-4EDD-3E7D-FA89E24F9AE3}"/>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A04946D-709D-DDF9-0650-346B120C25E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B9624FEC-59D6-138F-817F-C8B8FEABF251}"/>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F190FB0-4F5D-8FC0-FCE5-BEB6B57D077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39C9F2C3-E060-C9F6-9720-5B562BB5E85C}"/>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5D70E8C8-3D2D-AFDF-9F88-D2FD240CF453}"/>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50089AD-9C8C-EF8F-127A-F66099DF6866}"/>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1702AF0-7927-CA26-4869-C7CA75E69EF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E49DEEA1-8C1A-BF55-BC21-53B76DCEFBA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1527B483-592D-BCDA-61D4-FE1B87F6C6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2765D9-9F13-FA26-86FF-4B15BF782399}"/>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762765D9-9F13-FA26-86FF-4B15BF782399}"/>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62CBBAD-55F6-B8F0-E070-C291320A1545}"/>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662CBBAD-55F6-B8F0-E070-C291320A1545}"/>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96B1EE9-8254-6968-2E87-93D173036A8D}"/>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96B1EE9-8254-6968-2E87-93D173036A8D}"/>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BB85F0E1-AD90-503B-2E55-66487254778F}"/>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6E9429E8-7F37-4C9F-CB65-0D1672103852}"/>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68B797C0-8059-D4CE-30D3-7277D6BB3EC2}"/>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1BF7F66-D6ED-C54C-A7F9-A86D50BFF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0ADCB9B-229E-E91B-14A2-6F02073E59E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E542D76-E4E7-458D-381F-5AEF336A4D51}"/>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4FFCBEF-7FFD-7015-26D5-C11AC59382E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86CD19F0-3DAB-7E19-EBED-FC89CD87F22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2DB0515-8699-1339-DC1C-6E1EDC5851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0B098114-1292-F254-7FAE-9ABC08F58E7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F919157-CEB1-2CEB-61AC-47A8286EA488}"/>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91E599B-09BC-C38B-BA96-C8151D26273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8F4679D-3CB8-F76F-F42F-1701A3EB786C}"/>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6CC7DAE2-4C9D-4B9A-3F6E-3018464425B0}"/>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3CB3951F-716F-C75C-7795-0431CF22D0E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A44C0E8-527F-3E23-0264-3483C66AF7F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5C8044E-D0B9-4B6E-2706-9B4363FBBD03}"/>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5C6D81CA-497A-7603-E9BB-2836C4D4760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18C76DC-2EA8-E74C-5AD2-28352EF4DDDC}"/>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0D947E4-D54E-C539-C841-8745924B6A3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A3C1805F-1A58-392C-5FD1-E02B757FEB12}"/>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E5BF0A-99E5-BF5B-B35E-A9B1F64F8663}"/>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DD49955-1C7A-1B8F-38AA-93E359290747}"/>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DD49955-1C7A-1B8F-38AA-93E359290747}"/>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8488AB-1385-A304-F218-2C38385DF62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598488AB-1385-A304-F218-2C38385DF62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005506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6CBB-1C91-6860-38ED-CDB0533C6F63}"/>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E931B37D-D44E-906F-DC15-8483C168740E}"/>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49CC04B-EA16-7218-EB9A-41BCC68C40B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77CF335-9046-D047-392F-2A0B7B9CCFF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9FDB21C-1763-F2DE-172E-BF6C1FF500D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FB9D775-7EEC-7F58-3395-8A4E5B4F8FA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B7AD26-FB91-70F5-FDED-FBE17AC919E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AD29DA56-ACA6-B2B3-F958-B83862B0432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63B3EEEB-0CD5-12F7-38E3-E561267C0F24}"/>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9E862FD4-B7C3-AF7A-FA28-CDF8E97B231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C4CFC538-B8CE-F987-313D-CAA794F1A22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70D572E-0C8E-C99C-3CFC-59FCCCA8A50D}"/>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64B8BC68-688D-A84F-285D-EEEC26F1813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98572D16-EE75-3AE3-F7E3-C34E43BB9888}"/>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95BC9C-BA80-C21A-5184-7F4D073CEF3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0F95BC9C-BA80-C21A-5184-7F4D073CEF3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A3297EF-0BC9-678E-4284-C21293CDEF1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0A3297EF-0BC9-678E-4284-C21293CDEF1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240076-429A-4887-620E-6DB08B2DBAE3}"/>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64240076-429A-4887-620E-6DB08B2DBAE3}"/>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21E4AD9-DBBD-354E-3B96-C1BFA23FBF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ACFDE4C-8D59-639F-0CE2-50F1325D9968}"/>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96763D78-3F7C-3627-6377-FEAADC67F6EE}"/>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ECF8AA4-0FA7-F016-9DD6-92520A2BF93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448AF0B-842F-DAC3-B207-C926E33E972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C9142DEF-425C-BFC8-C92D-14FCD0FA2DE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2AA17B4C-6396-0E5A-B2EE-43B1BF303E12}"/>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182EE3BA-8A51-2BB5-1DB6-BAB08288D5CA}"/>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85473A01-5F01-E6C8-095E-CD92B442B7D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AD8D91A3-FF12-754F-538A-5776FE4B6FE4}"/>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B437B9D-0ED5-85A5-58E4-08FD14EB7D3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A121687-9660-D6AA-20B4-F6F8D82E6238}"/>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2DBC26A-039E-7C2E-FE62-E23B3DBD84DE}"/>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E1F43F0-71F6-BA37-4864-B6A1F94AC3E1}"/>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1762C8DB-81D1-E093-27AB-1DA43834AC7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D61B1EA-774B-D1DD-F9D4-497C82FF7062}"/>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1EC40DC1-780E-7CA5-72F2-7435F006521F}"/>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ABA4569E-2EB6-D8A0-F7DD-9F1513C9F627}"/>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B5677EE-D43B-3F10-E4CA-73032707604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2358053D-0B24-2539-8C35-91F179AF5C08}"/>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0C2E1B5-65E5-78E6-FF92-12516E92627C}"/>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CA00EABD-FBAE-5356-6672-D08A40D9B45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7E31F3E-6107-D303-95C5-3354E6AD363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7E31F3E-6107-D303-95C5-3354E6AD363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1435EC-4A0E-6A6D-2B63-7F28BE4CBC31}"/>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241435EC-4A0E-6A6D-2B63-7F28BE4CBC31}"/>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392DD1-D14D-721E-6E59-6D824882ADA5}"/>
                  </a:ext>
                </a:extLst>
              </p:cNvPr>
              <p:cNvSpPr txBox="1"/>
              <p:nvPr/>
            </p:nvSpPr>
            <p:spPr>
              <a:xfrm>
                <a:off x="8401052" y="307259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78392DD1-D14D-721E-6E59-6D824882ADA5}"/>
                  </a:ext>
                </a:extLst>
              </p:cNvPr>
              <p:cNvSpPr txBox="1">
                <a:spLocks noRot="1" noChangeAspect="1" noMove="1" noResize="1" noEditPoints="1" noAdjustHandles="1" noChangeArrowheads="1" noChangeShapeType="1" noTextEdit="1"/>
              </p:cNvSpPr>
              <p:nvPr/>
            </p:nvSpPr>
            <p:spPr>
              <a:xfrm>
                <a:off x="8401052" y="3072598"/>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15F03A4-A7B8-E651-7486-7D34E9D227F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615F03A4-A7B8-E651-7486-7D34E9D227F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8980315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3A9E-4EED-D5CC-7D18-3D0C638D4686}"/>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D456A09-7E71-78B1-3287-0D4D79849EC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93BA0FD-038F-D4F6-6278-670D91BA6C2C}"/>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C8944BF-2A69-26CA-C8EF-B0C98D2C719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A4DDC550-8BAE-0B23-08C6-D296DC777C4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669EBE1-FD76-6675-3384-81609290806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D986FA0D-3E1A-D8DF-E8D2-7F38CB290EAF}"/>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13EDC7C-0B37-5234-B04A-655BA33F3613}"/>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CDF598F8-E007-98A9-060A-D35260C6A7D9}"/>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0D68BCC1-C99C-A329-E6FE-7FB5FAFC278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2DD6A84-402B-54EC-C24B-71BDA6F8FDB3}"/>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9127A43-DE15-139D-4B39-61D48E32A31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81DDEA33-E822-B967-2664-D9F9CD8E57F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23436881-D12A-EC5C-538F-CE4024920E1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8219225-5E09-9C7A-1EEC-80CC8C09B114}"/>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28219225-5E09-9C7A-1EEC-80CC8C09B114}"/>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AFA01A-6146-088E-83DF-18FFBD21B28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78AFA01A-6146-088E-83DF-18FFBD21B28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E058003-EB78-FB06-35CA-34D37EB39876}"/>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7E058003-EB78-FB06-35CA-34D37EB39876}"/>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10F12BA9-1182-B78A-5746-4087B2E38090}"/>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B01C2185-8506-04CF-FC0C-1389AB801A87}"/>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CCCA50C-6A0F-3622-BE5A-F282BA7E7888}"/>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C5123EC-088E-8F71-41A9-ED5E6DB2F11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FEA7AEC6-0356-DAA3-C113-A34B15CA0F4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86A5AD9-B5A9-8F01-B6E5-E5ED202A2B62}"/>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612C734E-25C3-EDCE-1E9E-A9C87E493AF8}"/>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B5C10ED-95E2-265A-D42D-CBF2A70914DD}"/>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D14D101E-00C7-742D-F165-369B94371CDE}"/>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818F44FF-EA6D-BA76-59BB-06121D4BECA9}"/>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EC3EE184-462F-41FD-AB5E-868F55B57E4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9D22B0CF-C348-B743-736B-8320DA705F65}"/>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3730D34F-857E-396A-8C42-512896795035}"/>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4F9B158-0BAD-14CE-E5CE-29876FECA153}"/>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9A051C1D-71CE-9601-39AD-A7C99281E938}"/>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01D61A01-ED3B-B906-19D1-A8D1B01BF58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664BB2A-BA29-58FC-B929-25F6370C323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15D13465-6423-6ED2-9E25-77B212D6E13D}"/>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CCC4570B-EE96-9D43-802C-6A8477947E81}"/>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F047A174-A264-66D1-0B32-8E71E6ABE343}"/>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114AD6E9-3FDF-546F-3E58-8C2005DAD4D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14E81F58-0E69-28C9-2158-1132AB67937A}"/>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4CF6CFEF-8E5F-701C-6ACB-6C50CEBA2B8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4CF6CFEF-8E5F-701C-6ACB-6C50CEBA2B8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AB501D-0BFC-D1EA-77EF-A9B0E0D394E4}"/>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AAB501D-0BFC-D1EA-77EF-A9B0E0D394E4}"/>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4EEE51-A6E6-396C-F3CD-7CE828BDF49F}"/>
                  </a:ext>
                </a:extLst>
              </p:cNvPr>
              <p:cNvSpPr txBox="1"/>
              <p:nvPr/>
            </p:nvSpPr>
            <p:spPr>
              <a:xfrm>
                <a:off x="8367156" y="3015076"/>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4F4EEE51-A6E6-396C-F3CD-7CE828BDF49F}"/>
                  </a:ext>
                </a:extLst>
              </p:cNvPr>
              <p:cNvSpPr txBox="1">
                <a:spLocks noRot="1" noChangeAspect="1" noMove="1" noResize="1" noEditPoints="1" noAdjustHandles="1" noChangeArrowheads="1" noChangeShapeType="1" noTextEdit="1"/>
              </p:cNvSpPr>
              <p:nvPr/>
            </p:nvSpPr>
            <p:spPr>
              <a:xfrm>
                <a:off x="8367156" y="3015076"/>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9F369-4004-7BDB-B135-283D23B0625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F7A9F369-4004-7BDB-B135-283D23B0625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6557A38C-025D-F6EE-4845-B04B997CAAD9}"/>
              </a:ext>
            </a:extLst>
          </p:cNvPr>
          <p:cNvCxnSpPr/>
          <p:nvPr/>
        </p:nvCxnSpPr>
        <p:spPr>
          <a:xfrm flipV="1">
            <a:off x="8523804" y="3952568"/>
            <a:ext cx="330737" cy="320654"/>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175BD0-3045-8175-4FAA-B96AD054B87D}"/>
              </a:ext>
            </a:extLst>
          </p:cNvPr>
          <p:cNvCxnSpPr/>
          <p:nvPr/>
        </p:nvCxnSpPr>
        <p:spPr>
          <a:xfrm flipV="1">
            <a:off x="8676204" y="4104968"/>
            <a:ext cx="330737" cy="32065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152465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CE6E-BA96-1754-D634-C664BD0455F5}"/>
              </a:ext>
            </a:extLst>
          </p:cNvPr>
          <p:cNvSpPr>
            <a:spLocks noGrp="1"/>
          </p:cNvSpPr>
          <p:nvPr>
            <p:ph type="title"/>
          </p:nvPr>
        </p:nvSpPr>
        <p:spPr/>
        <p:txBody>
          <a:bodyPr>
            <a:normAutofit/>
          </a:bodyPr>
          <a:lstStyle/>
          <a:p>
            <a:r>
              <a:rPr lang="vi-VN" sz="3600" dirty="0">
                <a:latin typeface="Aptos" panose="020B0004020202020204" pitchFamily="34" charset="0"/>
              </a:rPr>
              <a:t>Hiệu quả thực tế trong bài toán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231C3728-9154-A20C-077E-4240726CB66A}"/>
              </a:ext>
            </a:extLst>
          </p:cNvPr>
          <p:cNvSpPr>
            <a:spLocks noGrp="1"/>
          </p:cNvSpPr>
          <p:nvPr>
            <p:ph idx="1"/>
          </p:nvPr>
        </p:nvSpPr>
        <p:spPr/>
        <p:txBody>
          <a:bodyPr/>
          <a:lstStyle/>
          <a:p>
            <a:pPr marL="0" indent="0">
              <a:buNone/>
            </a:pPr>
            <a:r>
              <a:rPr lang="vi-VN" b="1" dirty="0">
                <a:latin typeface="Aptos" panose="020B0004020202020204" pitchFamily="34" charset="0"/>
              </a:rPr>
              <a:t>Giảm thiểu tìm kiếm:</a:t>
            </a:r>
            <a:r>
              <a:rPr lang="vi-VN" dirty="0">
                <a:latin typeface="Aptos" panose="020B0004020202020204" pitchFamily="34" charset="0"/>
              </a:rPr>
              <a:t> Loại bỏ hàng ngàn (hoặc hàng triệu) trạng thái thừa.</a:t>
            </a:r>
          </a:p>
          <a:p>
            <a:pPr marL="0" indent="0">
              <a:buNone/>
            </a:pPr>
            <a:r>
              <a:rPr lang="vi-VN" b="1" dirty="0">
                <a:latin typeface="Aptos" panose="020B0004020202020204" pitchFamily="34" charset="0"/>
              </a:rPr>
              <a:t>Tăng chiều sâu (</a:t>
            </a:r>
            <a:r>
              <a:rPr lang="vi-VN" b="1" dirty="0" err="1">
                <a:latin typeface="Aptos" panose="020B0004020202020204" pitchFamily="34" charset="0"/>
              </a:rPr>
              <a:t>Look-ahead</a:t>
            </a:r>
            <a:r>
              <a:rPr lang="vi-VN" b="1" dirty="0">
                <a:latin typeface="Aptos" panose="020B0004020202020204" pitchFamily="34" charset="0"/>
              </a:rPr>
              <a:t>):</a:t>
            </a:r>
            <a:r>
              <a:rPr lang="vi-VN" dirty="0">
                <a:latin typeface="Aptos" panose="020B0004020202020204" pitchFamily="34" charset="0"/>
              </a:rPr>
              <a:t> Giúp AI nhìn trước được nhiều nước đi hơn trong cùng một khoảng thời gian (ví dụ: từ nhìn trước 4 nước lên 8 nước).</a:t>
            </a:r>
          </a:p>
          <a:p>
            <a:pPr marL="0" indent="0">
              <a:buNone/>
            </a:pPr>
            <a:r>
              <a:rPr lang="vi-VN" b="1" dirty="0">
                <a:latin typeface="Aptos" panose="020B0004020202020204" pitchFamily="34" charset="0"/>
              </a:rPr>
              <a:t>Thứ tự duyệt nước đi: </a:t>
            </a:r>
            <a:r>
              <a:rPr lang="vi-VN" dirty="0">
                <a:latin typeface="Aptos" panose="020B0004020202020204" pitchFamily="34" charset="0"/>
              </a:rPr>
              <a:t>Giải thích ngắn gọn việc duyệt từ cột trung tâm giúp tìm thấy </a:t>
            </a:r>
            <a:r>
              <a:rPr lang="vi-VN" dirty="0" err="1">
                <a:latin typeface="Aptos" panose="020B0004020202020204" pitchFamily="34" charset="0"/>
              </a:rPr>
              <a:t>alpha</a:t>
            </a:r>
            <a:r>
              <a:rPr lang="vi-VN" dirty="0">
                <a:latin typeface="Aptos" panose="020B0004020202020204" pitchFamily="34" charset="0"/>
              </a:rPr>
              <a:t>, </a:t>
            </a:r>
            <a:r>
              <a:rPr lang="vi-VN" dirty="0" err="1">
                <a:latin typeface="Aptos" panose="020B0004020202020204" pitchFamily="34" charset="0"/>
              </a:rPr>
              <a:t>beta</a:t>
            </a:r>
            <a:r>
              <a:rPr lang="vi-VN" dirty="0">
                <a:latin typeface="Aptos" panose="020B0004020202020204" pitchFamily="34" charset="0"/>
              </a:rPr>
              <a:t> tốt sớm hơn, từ đó tăng hiệu suất cắt tỉa</a:t>
            </a:r>
          </a:p>
          <a:p>
            <a:endParaRPr lang="vi-VN" dirty="0"/>
          </a:p>
        </p:txBody>
      </p:sp>
    </p:spTree>
    <p:extLst>
      <p:ext uri="{BB962C8B-B14F-4D97-AF65-F5344CB8AC3E}">
        <p14:creationId xmlns:p14="http://schemas.microsoft.com/office/powerpoint/2010/main" val="155218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4D3A-87C6-7844-DAC7-1AB692877B6D}"/>
              </a:ext>
            </a:extLst>
          </p:cNvPr>
          <p:cNvSpPr>
            <a:spLocks noGrp="1"/>
          </p:cNvSpPr>
          <p:nvPr>
            <p:ph type="title"/>
          </p:nvPr>
        </p:nvSpPr>
        <p:spPr/>
        <p:txBody>
          <a:bodyPr>
            <a:normAutofit/>
          </a:bodyPr>
          <a:lstStyle/>
          <a:p>
            <a:r>
              <a:rPr lang="vi-VN" sz="3600" dirty="0">
                <a:latin typeface="Aptos" panose="020B0004020202020204" pitchFamily="34" charset="0"/>
              </a:rPr>
              <a:t>Thuật toán </a:t>
            </a:r>
            <a:r>
              <a:rPr lang="vi-VN" sz="3600" dirty="0" err="1">
                <a:latin typeface="Aptos" panose="020B0004020202020204" pitchFamily="34" charset="0"/>
              </a:rPr>
              <a:t>Minimax</a:t>
            </a:r>
            <a:r>
              <a:rPr lang="vi-VN" sz="3600" dirty="0">
                <a:latin typeface="Aptos" panose="020B0004020202020204" pitchFamily="34" charset="0"/>
              </a:rPr>
              <a:t> tối ưu hóa với </a:t>
            </a:r>
            <a:r>
              <a:rPr lang="vi-VN" sz="3600" dirty="0" err="1">
                <a:latin typeface="Aptos" panose="020B0004020202020204" pitchFamily="34" charset="0"/>
              </a:rPr>
              <a:t>Bitboard</a:t>
            </a:r>
            <a:r>
              <a:rPr lang="vi-VN" sz="3600" dirty="0">
                <a:latin typeface="Aptos" panose="020B0004020202020204" pitchFamily="34" charset="0"/>
              </a:rPr>
              <a:t>.</a:t>
            </a:r>
          </a:p>
        </p:txBody>
      </p:sp>
      <p:sp>
        <p:nvSpPr>
          <p:cNvPr id="3" name="Content Placeholder 2">
            <a:extLst>
              <a:ext uri="{FF2B5EF4-FFF2-40B4-BE49-F238E27FC236}">
                <a16:creationId xmlns:a16="http://schemas.microsoft.com/office/drawing/2014/main" id="{A6580FD3-9764-AAD1-756F-937052610ED1}"/>
              </a:ext>
            </a:extLst>
          </p:cNvPr>
          <p:cNvSpPr>
            <a:spLocks noGrp="1"/>
          </p:cNvSpPr>
          <p:nvPr>
            <p:ph idx="1"/>
          </p:nvPr>
        </p:nvSpPr>
        <p:spPr>
          <a:xfrm>
            <a:off x="838199" y="1825625"/>
            <a:ext cx="10872019" cy="4351338"/>
          </a:xfrm>
        </p:spPr>
        <p:txBody>
          <a:bodyPr>
            <a:normAutofit/>
          </a:bodyPr>
          <a:lstStyle/>
          <a:p>
            <a:pPr marL="0" indent="0">
              <a:buNone/>
            </a:pPr>
            <a:r>
              <a:rPr lang="vi-VN" b="1" dirty="0">
                <a:latin typeface="Aptos" panose="020B0004020202020204" pitchFamily="34" charset="0"/>
              </a:rPr>
              <a:t>Mục tiêu: </a:t>
            </a:r>
            <a:r>
              <a:rPr lang="vi-VN" dirty="0">
                <a:latin typeface="Aptos" panose="020B0004020202020204" pitchFamily="34" charset="0"/>
              </a:rPr>
              <a:t>Tìm kiếm nước đi tối ưu bằng cách giả lập cây quyết định đối kháng.</a:t>
            </a:r>
          </a:p>
          <a:p>
            <a:pPr marL="0" indent="0">
              <a:buNone/>
            </a:pPr>
            <a:r>
              <a:rPr lang="vi-VN" b="1" dirty="0">
                <a:latin typeface="Aptos" panose="020B0004020202020204" pitchFamily="34" charset="0"/>
              </a:rPr>
              <a:t>Đặc điểm: </a:t>
            </a:r>
            <a:r>
              <a:rPr lang="vi-VN" dirty="0">
                <a:latin typeface="Aptos" panose="020B0004020202020204" pitchFamily="34" charset="0"/>
              </a:rPr>
              <a:t>Sử dụng cấu trúc dữ liệu </a:t>
            </a:r>
            <a:r>
              <a:rPr lang="vi-VN" dirty="0" err="1">
                <a:latin typeface="Aptos" panose="020B0004020202020204" pitchFamily="34" charset="0"/>
              </a:rPr>
              <a:t>Bitboard</a:t>
            </a:r>
            <a:r>
              <a:rPr lang="vi-VN" dirty="0">
                <a:latin typeface="Aptos" panose="020B0004020202020204" pitchFamily="34" charset="0"/>
              </a:rPr>
              <a:t> giúp thao tác kiểm tra thắng/thua và đặt quân cờ cực nhanh (chỉ bằng các phép toán </a:t>
            </a:r>
            <a:r>
              <a:rPr lang="vi-VN" dirty="0" err="1">
                <a:latin typeface="Aptos" panose="020B0004020202020204" pitchFamily="34" charset="0"/>
              </a:rPr>
              <a:t>logic</a:t>
            </a:r>
            <a:r>
              <a:rPr lang="vi-VN" dirty="0">
                <a:latin typeface="Aptos" panose="020B0004020202020204" pitchFamily="34" charset="0"/>
              </a:rPr>
              <a:t> </a:t>
            </a:r>
            <a:r>
              <a:rPr lang="vi-VN" dirty="0" err="1">
                <a:latin typeface="Aptos" panose="020B0004020202020204" pitchFamily="34" charset="0"/>
              </a:rPr>
              <a:t>bit</a:t>
            </a:r>
            <a:r>
              <a:rPr lang="vi-VN" dirty="0">
                <a:latin typeface="Aptos" panose="020B0004020202020204" pitchFamily="34" charset="0"/>
              </a:rPr>
              <a:t>: AND, OR, SHIFT).</a:t>
            </a:r>
          </a:p>
          <a:p>
            <a:pPr marL="0" indent="0">
              <a:buNone/>
            </a:pPr>
            <a:r>
              <a:rPr lang="vi-VN" b="1" dirty="0">
                <a:latin typeface="Aptos" panose="020B0004020202020204" pitchFamily="34" charset="0"/>
              </a:rPr>
              <a:t>Cơ chế:</a:t>
            </a:r>
            <a:r>
              <a:rPr lang="vi-VN" dirty="0">
                <a:latin typeface="Aptos" panose="020B0004020202020204" pitchFamily="34" charset="0"/>
              </a:rPr>
              <a:t> Kết hợp cắt tỉa </a:t>
            </a:r>
            <a:r>
              <a:rPr lang="vi-VN" dirty="0" err="1">
                <a:latin typeface="Aptos" panose="020B0004020202020204" pitchFamily="34" charset="0"/>
              </a:rPr>
              <a:t>Alpha-Beta</a:t>
            </a:r>
            <a:r>
              <a:rPr lang="vi-VN" dirty="0">
                <a:latin typeface="Aptos" panose="020B0004020202020204" pitchFamily="34" charset="0"/>
              </a:rPr>
              <a:t> và Bảng chuyển đổi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để tránh tính toán trùng lặp.</a:t>
            </a:r>
            <a:endParaRPr lang="vi-VN" b="1" dirty="0">
              <a:latin typeface="Aptos" panose="020B0004020202020204" pitchFamily="34" charset="0"/>
            </a:endParaRPr>
          </a:p>
        </p:txBody>
      </p:sp>
    </p:spTree>
    <p:extLst>
      <p:ext uri="{BB962C8B-B14F-4D97-AF65-F5344CB8AC3E}">
        <p14:creationId xmlns:p14="http://schemas.microsoft.com/office/powerpoint/2010/main" val="1760303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1416-1974-04D7-729D-8D12F590CCC4}"/>
              </a:ext>
            </a:extLst>
          </p:cNvPr>
          <p:cNvSpPr>
            <a:spLocks noGrp="1"/>
          </p:cNvSpPr>
          <p:nvPr>
            <p:ph type="title"/>
          </p:nvPr>
        </p:nvSpPr>
        <p:spPr/>
        <p:txBody>
          <a:bodyPr>
            <a:normAutofit/>
          </a:bodyPr>
          <a:lstStyle/>
          <a:p>
            <a:r>
              <a:rPr lang="vi-VN" sz="3600" dirty="0">
                <a:latin typeface="Aptos" panose="020B0004020202020204" pitchFamily="34" charset="0"/>
              </a:rPr>
              <a:t>Sức mạnh </a:t>
            </a:r>
            <a:r>
              <a:rPr lang="vi-VN" sz="3600" dirty="0" err="1">
                <a:latin typeface="Aptos" panose="020B0004020202020204" pitchFamily="34" charset="0"/>
              </a:rPr>
              <a:t>Bitboard</a:t>
            </a:r>
            <a:r>
              <a:rPr lang="vi-VN" sz="3600" dirty="0">
                <a:latin typeface="Aptos" panose="020B0004020202020204" pitchFamily="34" charset="0"/>
              </a:rPr>
              <a:t> trong </a:t>
            </a:r>
            <a:r>
              <a:rPr lang="vi-VN" sz="3600" dirty="0" err="1">
                <a:latin typeface="Aptos" panose="020B0004020202020204" pitchFamily="34" charset="0"/>
              </a:rPr>
              <a:t>Minimax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38D4C87-137D-BE96-2CAF-F6F8E23B09F1}"/>
              </a:ext>
            </a:extLst>
          </p:cNvPr>
          <p:cNvSpPr>
            <a:spLocks noGrp="1"/>
          </p:cNvSpPr>
          <p:nvPr>
            <p:ph idx="1"/>
          </p:nvPr>
        </p:nvSpPr>
        <p:spPr/>
        <p:txBody>
          <a:bodyPr>
            <a:normAutofit/>
          </a:bodyPr>
          <a:lstStyle/>
          <a:p>
            <a:pPr marL="0" indent="0">
              <a:buNone/>
            </a:pPr>
            <a:r>
              <a:rPr lang="vi-VN" dirty="0">
                <a:latin typeface="Aptos" panose="020B0004020202020204" pitchFamily="34" charset="0"/>
              </a:rPr>
              <a:t>Thay vì dùng mảng 2 chiều (6x7), bàn cờ được gói gọn trong 2 số nguyên</a:t>
            </a:r>
          </a:p>
          <a:p>
            <a:pPr marL="0" lvl="0" indent="0" eaLnBrk="0" fontAlgn="base" hangingPunct="0">
              <a:lnSpc>
                <a:spcPct val="100000"/>
              </a:lnSpc>
              <a:spcBef>
                <a:spcPct val="0"/>
              </a:spcBef>
              <a:spcAft>
                <a:spcPct val="0"/>
              </a:spcAft>
              <a:buNone/>
            </a:pPr>
            <a:r>
              <a:rPr lang="vi-VN" altLang="vi-VN" b="1" dirty="0">
                <a:latin typeface="Aptos" panose="020B0004020202020204" pitchFamily="34" charset="0"/>
              </a:rPr>
              <a:t>Kiểm tra thắng: </a:t>
            </a:r>
            <a:r>
              <a:rPr lang="vi-VN" altLang="vi-VN" dirty="0">
                <a:latin typeface="Aptos" panose="020B0004020202020204" pitchFamily="34" charset="0"/>
              </a:rPr>
              <a:t>chỉ cần 1 dòng </a:t>
            </a:r>
            <a:r>
              <a:rPr lang="vi-VN" altLang="vi-VN" dirty="0" err="1">
                <a:latin typeface="Aptos" panose="020B0004020202020204" pitchFamily="34" charset="0"/>
              </a:rPr>
              <a:t>code</a:t>
            </a:r>
            <a:r>
              <a:rPr lang="vi-VN" altLang="vi-VN" dirty="0">
                <a:latin typeface="Aptos" panose="020B0004020202020204" pitchFamily="34" charset="0"/>
              </a:rPr>
              <a:t> </a:t>
            </a:r>
            <a:r>
              <a:rPr lang="vi-VN" altLang="vi-VN" dirty="0" err="1">
                <a:latin typeface="Aptos" panose="020B0004020202020204" pitchFamily="34" charset="0"/>
              </a:rPr>
              <a:t>logic</a:t>
            </a:r>
            <a:r>
              <a:rPr lang="vi-VN" altLang="vi-VN" dirty="0">
                <a:latin typeface="Aptos" panose="020B0004020202020204" pitchFamily="34" charset="0"/>
              </a:rPr>
              <a:t> </a:t>
            </a:r>
            <a:r>
              <a:rPr lang="vi-VN" altLang="vi-VN" dirty="0" err="1">
                <a:latin typeface="Aptos" panose="020B0004020202020204" pitchFamily="34" charset="0"/>
              </a:rPr>
              <a:t>bit</a:t>
            </a:r>
            <a:r>
              <a:rPr lang="vi-VN" altLang="vi-VN" dirty="0">
                <a:latin typeface="Aptos" panose="020B0004020202020204" pitchFamily="34" charset="0"/>
              </a:rPr>
              <a:t> thay vì chạy vòng lặp</a:t>
            </a:r>
          </a:p>
          <a:p>
            <a:pPr marL="0" indent="0">
              <a:buNone/>
            </a:pPr>
            <a:r>
              <a:rPr lang="vi-VN" b="1" dirty="0">
                <a:latin typeface="Aptos" panose="020B0004020202020204" pitchFamily="34" charset="0"/>
              </a:rPr>
              <a:t>Tiết kiệm bộ nhớ: </a:t>
            </a:r>
            <a:r>
              <a:rPr lang="vi-VN" dirty="0">
                <a:latin typeface="Aptos" panose="020B0004020202020204" pitchFamily="34" charset="0"/>
              </a:rPr>
              <a:t>Giúp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lưu được hàng triệu trạng thái mà không tốn nhiều RAM</a:t>
            </a:r>
          </a:p>
          <a:p>
            <a:pPr marL="0" indent="0">
              <a:buNone/>
            </a:pPr>
            <a:r>
              <a:rPr lang="vi-VN" b="1" dirty="0">
                <a:latin typeface="Aptos" panose="020B0004020202020204" pitchFamily="34" charset="0"/>
              </a:rPr>
              <a:t>Kết quả: </a:t>
            </a:r>
            <a:r>
              <a:rPr lang="vi-VN" dirty="0">
                <a:latin typeface="Aptos" panose="020B0004020202020204" pitchFamily="34" charset="0"/>
              </a:rPr>
              <a:t>AI có thể "nhìn xa" hơn (độ sâu </a:t>
            </a:r>
            <a:r>
              <a:rPr lang="vi-VN" dirty="0" err="1">
                <a:latin typeface="Aptos" panose="020B0004020202020204" pitchFamily="34" charset="0"/>
              </a:rPr>
              <a:t>depth</a:t>
            </a:r>
            <a:r>
              <a:rPr lang="vi-VN" dirty="0">
                <a:latin typeface="Aptos" panose="020B0004020202020204" pitchFamily="34" charset="0"/>
              </a:rPr>
              <a:t> lớn hơn) trong cùng một khoảng thời gian.</a:t>
            </a:r>
          </a:p>
          <a:p>
            <a:pPr marL="0" lvl="0" indent="0" eaLnBrk="0" fontAlgn="base" hangingPunct="0">
              <a:lnSpc>
                <a:spcPct val="100000"/>
              </a:lnSpc>
              <a:spcBef>
                <a:spcPct val="0"/>
              </a:spcBef>
              <a:spcAft>
                <a:spcPct val="0"/>
              </a:spcAft>
              <a:buNone/>
            </a:pPr>
            <a:endParaRPr lang="vi-VN" altLang="vi-VN" sz="1800" dirty="0"/>
          </a:p>
          <a:p>
            <a:pPr lvl="1"/>
            <a:endParaRPr lang="vi-VN" dirty="0">
              <a:latin typeface="Aptos" panose="020B0004020202020204" pitchFamily="34" charset="0"/>
            </a:endParaRPr>
          </a:p>
        </p:txBody>
      </p:sp>
    </p:spTree>
    <p:extLst>
      <p:ext uri="{BB962C8B-B14F-4D97-AF65-F5344CB8AC3E}">
        <p14:creationId xmlns:p14="http://schemas.microsoft.com/office/powerpoint/2010/main" val="163375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DDCF-BD3F-91BA-B828-28298D8BBF55}"/>
              </a:ext>
            </a:extLst>
          </p:cNvPr>
          <p:cNvSpPr>
            <a:spLocks noGrp="1"/>
          </p:cNvSpPr>
          <p:nvPr>
            <p:ph type="title"/>
          </p:nvPr>
        </p:nvSpPr>
        <p:spPr>
          <a:xfrm>
            <a:off x="838199" y="365125"/>
            <a:ext cx="10862187" cy="1325563"/>
          </a:xfrm>
        </p:spPr>
        <p:txBody>
          <a:bodyPr>
            <a:normAutofit/>
          </a:bodyPr>
          <a:lstStyle/>
          <a:p>
            <a:r>
              <a:rPr lang="vi-VN" sz="3600" dirty="0">
                <a:latin typeface="Aptos" panose="020B0004020202020204" pitchFamily="34" charset="0"/>
              </a:rPr>
              <a:t>Tối ưu hóa </a:t>
            </a:r>
            <a:r>
              <a:rPr lang="vi-VN" sz="3600" dirty="0" err="1">
                <a:latin typeface="Aptos" panose="020B0004020202020204" pitchFamily="34" charset="0"/>
              </a:rPr>
              <a:t>Alpha-Beta</a:t>
            </a:r>
            <a:r>
              <a:rPr lang="vi-VN" sz="3600" dirty="0">
                <a:latin typeface="Aptos" panose="020B0004020202020204" pitchFamily="34" charset="0"/>
              </a:rPr>
              <a:t> và Lưu trữ kết quả.</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87B384-5D8B-1226-6038-1EAA6B767184}"/>
                  </a:ext>
                </a:extLst>
              </p:cNvPr>
              <p:cNvSpPr>
                <a:spLocks noGrp="1"/>
              </p:cNvSpPr>
              <p:nvPr>
                <p:ph idx="1"/>
              </p:nvPr>
            </p:nvSpPr>
            <p:spPr/>
            <p:txBody>
              <a:bodyPr/>
              <a:lstStyle/>
              <a:p>
                <a:pPr marL="0" indent="0">
                  <a:buNone/>
                </a:pPr>
                <a:r>
                  <a:rPr lang="vi-VN" b="1" dirty="0">
                    <a:latin typeface="Aptos" panose="020B0004020202020204" pitchFamily="34" charset="0"/>
                  </a:rPr>
                  <a:t>Cắt tỉa: </a:t>
                </a:r>
                <a:r>
                  <a:rPr lang="vi-VN" dirty="0">
                    <a:latin typeface="Aptos" panose="020B0004020202020204" pitchFamily="34" charset="0"/>
                  </a:rPr>
                  <a:t>Nếu </a:t>
                </a:r>
                <a:r>
                  <a:rPr lang="vi-VN" dirty="0" err="1">
                    <a:latin typeface="Aptos" panose="020B0004020202020204" pitchFamily="34" charset="0"/>
                  </a:rPr>
                  <a:t>score</a:t>
                </a:r>
                <a:r>
                  <a:rPr lang="vi-VN" dirty="0">
                    <a:latin typeface="Aptos" panose="020B0004020202020204" pitchFamily="34" charset="0"/>
                  </a:rPr>
                  <a:t> ≥ </a:t>
                </a:r>
                <a:r>
                  <a:rPr lang="vi-VN" dirty="0" err="1">
                    <a:latin typeface="Aptos" panose="020B0004020202020204" pitchFamily="34" charset="0"/>
                  </a:rPr>
                  <a:t>beta</a:t>
                </a:r>
                <a:r>
                  <a:rPr lang="vi-VN" dirty="0">
                    <a:latin typeface="Aptos" panose="020B0004020202020204" pitchFamily="34" charset="0"/>
                  </a:rPr>
                  <a:t>, ngừng tìm kiếm nhánh hiện tại (vì đối thủ sẽ không bao giờ cho phép ta đi vào nhánh này)</a:t>
                </a:r>
                <a:endParaRPr lang="vi-VN" b="1" dirty="0">
                  <a:latin typeface="Aptos" panose="020B0004020202020204" pitchFamily="34" charset="0"/>
                </a:endParaRPr>
              </a:p>
              <a:p>
                <a:pPr marL="0" indent="0">
                  <a:buNone/>
                </a:pPr>
                <a:r>
                  <a:rPr lang="vi-VN" b="1" dirty="0">
                    <a:latin typeface="Aptos" panose="020B0004020202020204" pitchFamily="34" charset="0"/>
                  </a:rPr>
                  <a:t>Lưu trữ: </a:t>
                </a:r>
                <a:r>
                  <a:rPr lang="vi-VN" dirty="0">
                    <a:latin typeface="Aptos" panose="020B0004020202020204" pitchFamily="34" charset="0"/>
                  </a:rPr>
                  <a:t>Sau khi tìm ra điểm số tốt nhất cho một trạng thái, hàm sẽ lưu nó vào </a:t>
                </a:r>
                <a:r>
                  <a:rPr lang="vi-VN" b="1" dirty="0" err="1">
                    <a:latin typeface="Aptos" panose="020B0004020202020204" pitchFamily="34" charset="0"/>
                  </a:rPr>
                  <a:t>tt</a:t>
                </a:r>
                <a:r>
                  <a:rPr lang="vi-VN" dirty="0">
                    <a:latin typeface="Aptos" panose="020B0004020202020204" pitchFamily="34" charset="0"/>
                  </a:rPr>
                  <a:t> kèm theo loại giá trị (</a:t>
                </a:r>
                <a:r>
                  <a:rPr lang="vi-VN" dirty="0" err="1">
                    <a:latin typeface="Aptos" panose="020B0004020202020204" pitchFamily="34" charset="0"/>
                  </a:rPr>
                  <a:t>Exact</a:t>
                </a:r>
                <a:r>
                  <a:rPr lang="vi-VN" dirty="0">
                    <a:latin typeface="Aptos" panose="020B0004020202020204" pitchFamily="34" charset="0"/>
                  </a:rPr>
                  <a:t>, </a:t>
                </a:r>
                <a:r>
                  <a:rPr lang="vi-VN" dirty="0" err="1">
                    <a:latin typeface="Aptos" panose="020B0004020202020204" pitchFamily="34" charset="0"/>
                  </a:rPr>
                  <a:t>Lowerbound</a:t>
                </a:r>
                <a:r>
                  <a:rPr lang="vi-VN" dirty="0">
                    <a:latin typeface="Aptos" panose="020B0004020202020204" pitchFamily="34" charset="0"/>
                  </a:rPr>
                  <a:t>, hoặc </a:t>
                </a:r>
                <a:r>
                  <a:rPr lang="vi-VN" dirty="0" err="1">
                    <a:latin typeface="Aptos" panose="020B0004020202020204" pitchFamily="34" charset="0"/>
                  </a:rPr>
                  <a:t>Upperbound</a:t>
                </a:r>
                <a:r>
                  <a:rPr lang="vi-VN" dirty="0">
                    <a:latin typeface="Aptos" panose="020B0004020202020204" pitchFamily="34" charset="0"/>
                  </a:rPr>
                  <a:t>).</a:t>
                </a:r>
              </a:p>
              <a:p>
                <a:pPr marL="457200" lvl="1" indent="0">
                  <a:buNone/>
                </a:pPr>
                <a:r>
                  <a:rPr lang="vi-VN" dirty="0"/>
                  <a:t>- </a:t>
                </a:r>
                <a:r>
                  <a:rPr lang="vi-VN" dirty="0" err="1"/>
                  <a:t>Exact</a:t>
                </a:r>
                <a:r>
                  <a:rPr lang="vi-VN" dirty="0"/>
                  <a:t>: </a:t>
                </a:r>
                <a14:m>
                  <m:oMath xmlns:m="http://schemas.openxmlformats.org/officeDocument/2006/math">
                    <m:r>
                      <a:rPr lang="vi-VN" i="1" smtClean="0">
                        <a:latin typeface="Cambria Math" panose="02040503050406030204" pitchFamily="18" charset="0"/>
                      </a:rPr>
                      <m:t>𝛼</m:t>
                    </m:r>
                    <m:r>
                      <a:rPr lang="vi-VN" i="1" smtClean="0">
                        <a:latin typeface="Cambria Math" panose="02040503050406030204" pitchFamily="18" charset="0"/>
                      </a:rPr>
                      <m:t>≤</m:t>
                    </m:r>
                    <m:r>
                      <a:rPr lang="vi-VN" b="0" i="1" smtClean="0">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𝛽</m:t>
                    </m:r>
                  </m:oMath>
                </a14:m>
                <a:endParaRPr lang="vi-VN" b="0" dirty="0"/>
              </a:p>
              <a:p>
                <a:pPr marL="457200" lvl="1" indent="0">
                  <a:buNone/>
                </a:pPr>
                <a:r>
                  <a:rPr lang="vi-VN" dirty="0"/>
                  <a:t>- </a:t>
                </a:r>
                <a:r>
                  <a:rPr lang="vi-VN" dirty="0" err="1"/>
                  <a:t>Lowerbound</a:t>
                </a:r>
                <a:r>
                  <a:rPr lang="vi-VN" dirty="0"/>
                  <a:t>: </a:t>
                </a:r>
                <a14:m>
                  <m:oMath xmlns:m="http://schemas.openxmlformats.org/officeDocument/2006/math">
                    <m:r>
                      <a:rPr lang="vi-VN" i="1" smtClean="0">
                        <a:latin typeface="Cambria Math" panose="02040503050406030204" pitchFamily="18" charset="0"/>
                      </a:rPr>
                      <m:t>𝑉</m:t>
                    </m:r>
                    <m:r>
                      <a:rPr lang="vi-VN" i="1" smtClean="0">
                        <a:latin typeface="Cambria Math" panose="02040503050406030204" pitchFamily="18" charset="0"/>
                      </a:rPr>
                      <m:t>≥</m:t>
                    </m:r>
                    <m:r>
                      <a:rPr lang="vi-VN" i="1">
                        <a:latin typeface="Cambria Math" panose="02040503050406030204" pitchFamily="18" charset="0"/>
                      </a:rPr>
                      <m:t>𝛽</m:t>
                    </m:r>
                  </m:oMath>
                </a14:m>
                <a:endParaRPr lang="vi-VN" dirty="0"/>
              </a:p>
              <a:p>
                <a:pPr marL="457200" lvl="1" indent="0">
                  <a:buNone/>
                </a:pPr>
                <a:r>
                  <a:rPr lang="vi-VN" dirty="0"/>
                  <a:t>- </a:t>
                </a:r>
                <a:r>
                  <a:rPr lang="vi-VN" dirty="0" err="1"/>
                  <a:t>Upperbound</a:t>
                </a:r>
                <a:r>
                  <a:rPr lang="vi-VN" dirty="0"/>
                  <a:t>: </a:t>
                </a:r>
                <a14:m>
                  <m:oMath xmlns:m="http://schemas.openxmlformats.org/officeDocument/2006/math">
                    <m:r>
                      <a:rPr lang="vi-VN" i="1">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𝛼</m:t>
                    </m:r>
                  </m:oMath>
                </a14:m>
                <a:endParaRPr lang="vi-VN" dirty="0"/>
              </a:p>
              <a:p>
                <a:pPr lvl="1"/>
                <a:endParaRPr lang="vi-VN" b="0" dirty="0"/>
              </a:p>
            </p:txBody>
          </p:sp>
        </mc:Choice>
        <mc:Fallback xmlns="">
          <p:sp>
            <p:nvSpPr>
              <p:cNvPr id="3" name="Content Placeholder 2">
                <a:extLst>
                  <a:ext uri="{FF2B5EF4-FFF2-40B4-BE49-F238E27FC236}">
                    <a16:creationId xmlns:a16="http://schemas.microsoft.com/office/drawing/2014/main" id="{0187B384-5D8B-1226-6038-1EAA6B767184}"/>
                  </a:ext>
                </a:extLst>
              </p:cNvPr>
              <p:cNvSpPr>
                <a:spLocks noGrp="1" noRot="1" noChangeAspect="1" noMove="1" noResize="1" noEditPoints="1" noAdjustHandles="1" noChangeArrowheads="1" noChangeShapeType="1" noTextEdit="1"/>
              </p:cNvSpPr>
              <p:nvPr>
                <p:ph idx="1"/>
              </p:nvPr>
            </p:nvSpPr>
            <p:spPr>
              <a:blipFill>
                <a:blip r:embed="rId2"/>
                <a:stretch>
                  <a:fillRect l="-1217" t="-2381" r="-174"/>
                </a:stretch>
              </a:blipFill>
            </p:spPr>
            <p:txBody>
              <a:bodyPr/>
              <a:lstStyle/>
              <a:p>
                <a:r>
                  <a:rPr lang="vi-VN">
                    <a:noFill/>
                  </a:rPr>
                  <a:t> </a:t>
                </a:r>
              </a:p>
            </p:txBody>
          </p:sp>
        </mc:Fallback>
      </mc:AlternateContent>
    </p:spTree>
    <p:extLst>
      <p:ext uri="{BB962C8B-B14F-4D97-AF65-F5344CB8AC3E}">
        <p14:creationId xmlns:p14="http://schemas.microsoft.com/office/powerpoint/2010/main" val="1759668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1166-EE9E-A2C2-FBF1-4BC852AE6DA7}"/>
              </a:ext>
            </a:extLst>
          </p:cNvPr>
          <p:cNvSpPr>
            <a:spLocks noGrp="1"/>
          </p:cNvSpPr>
          <p:nvPr>
            <p:ph type="title"/>
          </p:nvPr>
        </p:nvSpPr>
        <p:spPr/>
        <p:txBody>
          <a:bodyPr>
            <a:normAutofit/>
          </a:bodyPr>
          <a:lstStyle/>
          <a:p>
            <a:r>
              <a:rPr lang="en-US" sz="3600" dirty="0"/>
              <a:t>Iterative Deepening (1)</a:t>
            </a:r>
            <a:endParaRPr lang="vi-VN" sz="3600" dirty="0"/>
          </a:p>
        </p:txBody>
      </p:sp>
      <p:sp>
        <p:nvSpPr>
          <p:cNvPr id="3" name="Content Placeholder 2">
            <a:extLst>
              <a:ext uri="{FF2B5EF4-FFF2-40B4-BE49-F238E27FC236}">
                <a16:creationId xmlns:a16="http://schemas.microsoft.com/office/drawing/2014/main" id="{41245B64-917B-4A6C-9378-5D6193979A93}"/>
              </a:ext>
            </a:extLst>
          </p:cNvPr>
          <p:cNvSpPr>
            <a:spLocks noGrp="1"/>
          </p:cNvSpPr>
          <p:nvPr>
            <p:ph idx="1"/>
          </p:nvPr>
        </p:nvSpPr>
        <p:spPr/>
        <p:txBody>
          <a:bodyPr/>
          <a:lstStyle/>
          <a:p>
            <a:pPr marL="0" indent="0">
              <a:buNone/>
            </a:pPr>
            <a:r>
              <a:rPr lang="en-US" dirty="0" err="1"/>
              <a:t>Vấn</a:t>
            </a:r>
            <a:r>
              <a:rPr lang="en-US" dirty="0"/>
              <a:t> </a:t>
            </a:r>
            <a:r>
              <a:rPr lang="en-US" dirty="0" err="1"/>
              <a:t>đề</a:t>
            </a:r>
            <a:r>
              <a:rPr lang="en-US" dirty="0"/>
              <a:t> </a:t>
            </a:r>
            <a:r>
              <a:rPr lang="en-US" dirty="0" err="1"/>
              <a:t>của</a:t>
            </a:r>
            <a:r>
              <a:rPr lang="en-US" dirty="0"/>
              <a:t> </a:t>
            </a:r>
            <a:r>
              <a:rPr lang="en-US" dirty="0" err="1"/>
              <a:t>việc</a:t>
            </a:r>
            <a:r>
              <a:rPr lang="en-US" dirty="0"/>
              <a:t> </a:t>
            </a:r>
            <a:r>
              <a:rPr lang="en-US" dirty="0" err="1"/>
              <a:t>tìm</a:t>
            </a:r>
            <a:r>
              <a:rPr lang="en-US" dirty="0"/>
              <a:t> </a:t>
            </a:r>
            <a:r>
              <a:rPr lang="en-US" dirty="0" err="1"/>
              <a:t>kiếm</a:t>
            </a:r>
            <a:r>
              <a:rPr lang="en-US" dirty="0"/>
              <a:t> </a:t>
            </a:r>
            <a:r>
              <a:rPr lang="en-US" dirty="0" err="1"/>
              <a:t>độ</a:t>
            </a:r>
            <a:r>
              <a:rPr lang="en-US" dirty="0"/>
              <a:t> </a:t>
            </a:r>
            <a:r>
              <a:rPr lang="en-US" dirty="0" err="1"/>
              <a:t>sâu</a:t>
            </a:r>
            <a:r>
              <a:rPr lang="en-US" dirty="0"/>
              <a:t> </a:t>
            </a:r>
            <a:r>
              <a:rPr lang="en-US" dirty="0" err="1"/>
              <a:t>cố</a:t>
            </a:r>
            <a:r>
              <a:rPr lang="en-US" dirty="0"/>
              <a:t> </a:t>
            </a:r>
            <a:r>
              <a:rPr lang="en-US" dirty="0" err="1"/>
              <a:t>định</a:t>
            </a:r>
            <a:endParaRPr lang="en-US" dirty="0"/>
          </a:p>
          <a:p>
            <a:pPr lvl="1"/>
            <a:r>
              <a:rPr lang="en-US" b="1" dirty="0" err="1"/>
              <a:t>Bối</a:t>
            </a:r>
            <a:r>
              <a:rPr lang="en-US" b="1" dirty="0"/>
              <a:t> </a:t>
            </a:r>
            <a:r>
              <a:rPr lang="en-US" b="1" dirty="0" err="1"/>
              <a:t>cảnh</a:t>
            </a:r>
            <a:r>
              <a:rPr lang="en-US" b="1" dirty="0"/>
              <a:t>: </a:t>
            </a:r>
            <a:r>
              <a:rPr lang="vi-VN" dirty="0">
                <a:latin typeface="Aptos" panose="020B0004020202020204" pitchFamily="34" charset="0"/>
                <a:cs typeface="Aparajita" panose="02020603050405020304" pitchFamily="18" charset="0"/>
              </a:rPr>
              <a:t>Trong cuộc thi (như </a:t>
            </a:r>
            <a:r>
              <a:rPr lang="vi-VN" dirty="0" err="1">
                <a:latin typeface="Aptos" panose="020B0004020202020204" pitchFamily="34" charset="0"/>
                <a:cs typeface="Aparajita" panose="02020603050405020304" pitchFamily="18" charset="0"/>
              </a:rPr>
              <a:t>Kaggle</a:t>
            </a:r>
            <a:r>
              <a:rPr lang="vi-VN" dirty="0">
                <a:latin typeface="Aptos" panose="020B0004020202020204" pitchFamily="34" charset="0"/>
                <a:cs typeface="Aparajita" panose="02020603050405020304" pitchFamily="18" charset="0"/>
              </a:rPr>
              <a:t>), AI bị giới hạn thời gian nghiêm ngặt (ví dụ: 2 giây/lượt).</a:t>
            </a:r>
          </a:p>
          <a:p>
            <a:pPr lvl="1"/>
            <a:r>
              <a:rPr lang="vi-VN" b="1" dirty="0">
                <a:latin typeface="Aptos" panose="020B0004020202020204" pitchFamily="34" charset="0"/>
                <a:cs typeface="Aparajita" panose="02020603050405020304" pitchFamily="18" charset="0"/>
              </a:rPr>
              <a:t>Thách thức: </a:t>
            </a:r>
          </a:p>
          <a:p>
            <a:pPr lvl="2"/>
            <a:r>
              <a:rPr lang="vi-VN" dirty="0">
                <a:latin typeface="Aptos" panose="020B0004020202020204" pitchFamily="34" charset="0"/>
              </a:rPr>
              <a:t>Nếu đặt độ sâu quá thấp: AI chơi yếu, không nhìn xa được các bẫy của đối thủ.</a:t>
            </a:r>
            <a:endParaRPr lang="vi-VN" dirty="0">
              <a:latin typeface="Aptos" panose="020B0004020202020204" pitchFamily="34" charset="0"/>
              <a:cs typeface="Aparajita" panose="02020603050405020304" pitchFamily="18" charset="0"/>
            </a:endParaRPr>
          </a:p>
          <a:p>
            <a:pPr lvl="2"/>
            <a:r>
              <a:rPr lang="vi-VN" dirty="0">
                <a:latin typeface="Aptos" panose="020B0004020202020204" pitchFamily="34" charset="0"/>
              </a:rPr>
              <a:t>Nếu đặt độ sâu quá cao: AI có nguy cơ không tính toán xong trước </a:t>
            </a:r>
            <a:r>
              <a:rPr lang="vi-VN" dirty="0" err="1">
                <a:latin typeface="Aptos" panose="020B0004020202020204" pitchFamily="34" charset="0"/>
              </a:rPr>
              <a:t>deadline</a:t>
            </a:r>
            <a:r>
              <a:rPr lang="vi-VN" dirty="0">
                <a:latin typeface="Aptos" panose="020B0004020202020204" pitchFamily="34" charset="0"/>
              </a:rPr>
              <a:t> và bị xử thua (</a:t>
            </a:r>
            <a:r>
              <a:rPr lang="vi-VN" dirty="0" err="1">
                <a:latin typeface="Aptos" panose="020B0004020202020204" pitchFamily="34" charset="0"/>
              </a:rPr>
              <a:t>Timeout</a:t>
            </a:r>
            <a:r>
              <a:rPr lang="vi-VN" dirty="0">
                <a:latin typeface="Aptos" panose="020B0004020202020204" pitchFamily="34" charset="0"/>
              </a:rPr>
              <a:t>).</a:t>
            </a:r>
          </a:p>
          <a:p>
            <a:pPr lvl="1"/>
            <a:r>
              <a:rPr lang="vi-VN" b="1" dirty="0">
                <a:latin typeface="Aptos" panose="020B0004020202020204" pitchFamily="34" charset="0"/>
              </a:rPr>
              <a:t>Câu hỏi đặt ra:</a:t>
            </a:r>
            <a:r>
              <a:rPr lang="vi-VN" dirty="0">
                <a:latin typeface="Aptos" panose="020B0004020202020204" pitchFamily="34" charset="0"/>
              </a:rPr>
              <a:t> Làm sao để AI tận dụng đến </a:t>
            </a:r>
            <a:r>
              <a:rPr lang="vi-VN" dirty="0" err="1">
                <a:latin typeface="Aptos" panose="020B0004020202020204" pitchFamily="34" charset="0"/>
              </a:rPr>
              <a:t>miligiây</a:t>
            </a:r>
            <a:r>
              <a:rPr lang="vi-VN" dirty="0">
                <a:latin typeface="Aptos" panose="020B0004020202020204" pitchFamily="34" charset="0"/>
              </a:rPr>
              <a:t> cuối cùng để đào sâu nhất có thể mà vẫn luôn có nước đi dự phòng?</a:t>
            </a:r>
          </a:p>
        </p:txBody>
      </p:sp>
    </p:spTree>
    <p:extLst>
      <p:ext uri="{BB962C8B-B14F-4D97-AF65-F5344CB8AC3E}">
        <p14:creationId xmlns:p14="http://schemas.microsoft.com/office/powerpoint/2010/main" val="481247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FC3F-6EC0-EA06-2485-0F432CA56C6F}"/>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(2)</a:t>
            </a:r>
          </a:p>
        </p:txBody>
      </p:sp>
      <p:sp>
        <p:nvSpPr>
          <p:cNvPr id="3" name="Content Placeholder 2">
            <a:extLst>
              <a:ext uri="{FF2B5EF4-FFF2-40B4-BE49-F238E27FC236}">
                <a16:creationId xmlns:a16="http://schemas.microsoft.com/office/drawing/2014/main" id="{A54AA26C-3D5E-15A1-9588-DBDA89DA74BA}"/>
              </a:ext>
            </a:extLst>
          </p:cNvPr>
          <p:cNvSpPr>
            <a:spLocks noGrp="1"/>
          </p:cNvSpPr>
          <p:nvPr>
            <p:ph idx="1"/>
          </p:nvPr>
        </p:nvSpPr>
        <p:spPr/>
        <p:txBody>
          <a:bodyPr/>
          <a:lstStyle/>
          <a:p>
            <a:pPr marL="0" indent="0">
              <a:buNone/>
            </a:pPr>
            <a:r>
              <a:rPr lang="vi-VN" b="1" dirty="0"/>
              <a:t>Định nghĩa</a:t>
            </a:r>
            <a:r>
              <a:rPr lang="vi-VN" dirty="0"/>
              <a:t>: Thay vì nhảy ngay vào độ sâu 10, thuật toán sẽ thực hiện nhiều lần tìm kiếm đệ quy với độ sâu tăng dần:</a:t>
            </a:r>
          </a:p>
          <a:p>
            <a:pPr lvl="1"/>
            <a:r>
              <a:rPr lang="vi-VN" dirty="0"/>
              <a:t>Lần 1: Tìm với </a:t>
            </a:r>
            <a:r>
              <a:rPr lang="vi-VN" dirty="0" err="1"/>
              <a:t>depth</a:t>
            </a:r>
            <a:r>
              <a:rPr lang="vi-VN" dirty="0"/>
              <a:t> = 1</a:t>
            </a:r>
          </a:p>
          <a:p>
            <a:pPr lvl="1"/>
            <a:r>
              <a:rPr lang="vi-VN" dirty="0"/>
              <a:t>Lần 2: Tìm với </a:t>
            </a:r>
            <a:r>
              <a:rPr lang="vi-VN" dirty="0" err="1"/>
              <a:t>depth</a:t>
            </a:r>
            <a:r>
              <a:rPr lang="vi-VN" dirty="0"/>
              <a:t> = 2</a:t>
            </a:r>
          </a:p>
          <a:p>
            <a:pPr lvl="1"/>
            <a:r>
              <a:rPr lang="vi-VN" dirty="0"/>
              <a:t>… cho tới khi hết thời gian hoặc thắng tuyệt đối</a:t>
            </a:r>
          </a:p>
          <a:p>
            <a:pPr marL="0" indent="0">
              <a:buNone/>
            </a:pPr>
            <a:r>
              <a:rPr lang="vi-VN" dirty="0"/>
              <a:t>Sự kết hợp giữa tính toàn diện của BFS và tính tiết kiệm bộ nhớ của DFS</a:t>
            </a:r>
          </a:p>
        </p:txBody>
      </p:sp>
    </p:spTree>
    <p:extLst>
      <p:ext uri="{BB962C8B-B14F-4D97-AF65-F5344CB8AC3E}">
        <p14:creationId xmlns:p14="http://schemas.microsoft.com/office/powerpoint/2010/main" val="4876830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8697-0820-F2D9-B65B-FD8BD99AB713}"/>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(3)</a:t>
            </a:r>
            <a:endParaRPr lang="vi-VN" sz="3600" dirty="0"/>
          </a:p>
        </p:txBody>
      </p:sp>
      <p:sp>
        <p:nvSpPr>
          <p:cNvPr id="3" name="Content Placeholder 2">
            <a:extLst>
              <a:ext uri="{FF2B5EF4-FFF2-40B4-BE49-F238E27FC236}">
                <a16:creationId xmlns:a16="http://schemas.microsoft.com/office/drawing/2014/main" id="{3ABBCA20-B1AC-EA47-2DE6-BB5794F0CF71}"/>
              </a:ext>
            </a:extLst>
          </p:cNvPr>
          <p:cNvSpPr>
            <a:spLocks noGrp="1"/>
          </p:cNvSpPr>
          <p:nvPr>
            <p:ph idx="1"/>
          </p:nvPr>
        </p:nvSpPr>
        <p:spPr/>
        <p:txBody>
          <a:bodyPr/>
          <a:lstStyle/>
          <a:p>
            <a:r>
              <a:rPr lang="vi-VN" b="1" dirty="0"/>
              <a:t>Quy trình:</a:t>
            </a:r>
          </a:p>
          <a:p>
            <a:pPr lvl="1"/>
            <a:r>
              <a:rPr lang="vi-VN" dirty="0"/>
              <a:t>Bước 1: Khởi tạo </a:t>
            </a:r>
            <a:r>
              <a:rPr lang="vi-VN" dirty="0" err="1"/>
              <a:t>depth</a:t>
            </a:r>
            <a:r>
              <a:rPr lang="vi-VN" dirty="0"/>
              <a:t> = 1</a:t>
            </a:r>
          </a:p>
          <a:p>
            <a:pPr lvl="1"/>
            <a:r>
              <a:rPr lang="vi-VN" dirty="0"/>
              <a:t>Bước 2: Chạy hàm </a:t>
            </a:r>
            <a:r>
              <a:rPr lang="vi-VN" dirty="0" err="1">
                <a:latin typeface="Aptos" panose="020B0004020202020204" pitchFamily="34" charset="0"/>
              </a:rPr>
              <a:t>Minimax</a:t>
            </a:r>
            <a:r>
              <a:rPr lang="vi-VN" dirty="0">
                <a:latin typeface="Aptos" panose="020B0004020202020204" pitchFamily="34" charset="0"/>
              </a:rPr>
              <a:t>/</a:t>
            </a:r>
            <a:r>
              <a:rPr lang="vi-VN" dirty="0" err="1">
                <a:latin typeface="Aptos" panose="020B0004020202020204" pitchFamily="34" charset="0"/>
              </a:rPr>
              <a:t>Alpha-Beta</a:t>
            </a:r>
            <a:r>
              <a:rPr lang="vi-VN" dirty="0">
                <a:latin typeface="Aptos" panose="020B0004020202020204" pitchFamily="34" charset="0"/>
              </a:rPr>
              <a:t> với </a:t>
            </a:r>
            <a:r>
              <a:rPr lang="vi-VN" dirty="0" err="1">
                <a:latin typeface="Aptos" panose="020B0004020202020204" pitchFamily="34" charset="0"/>
              </a:rPr>
              <a:t>depth</a:t>
            </a:r>
            <a:r>
              <a:rPr lang="vi-VN" dirty="0">
                <a:latin typeface="Aptos" panose="020B0004020202020204" pitchFamily="34" charset="0"/>
              </a:rPr>
              <a:t> hiện tại.</a:t>
            </a:r>
          </a:p>
          <a:p>
            <a:pPr lvl="1"/>
            <a:r>
              <a:rPr lang="vi-VN" dirty="0">
                <a:latin typeface="Aptos" panose="020B0004020202020204" pitchFamily="34" charset="0"/>
              </a:rPr>
              <a:t>Bước 3: Lưu lại nước đi tốt nhất vừa tìm được (</a:t>
            </a:r>
            <a:r>
              <a:rPr lang="vi-VN" dirty="0" err="1">
                <a:latin typeface="Aptos" panose="020B0004020202020204" pitchFamily="34" charset="0"/>
              </a:rPr>
              <a:t>best_move</a:t>
            </a:r>
            <a:r>
              <a:rPr lang="vi-VN" dirty="0">
                <a:latin typeface="Aptos" panose="020B0004020202020204" pitchFamily="34" charset="0"/>
              </a:rPr>
              <a:t>)</a:t>
            </a:r>
          </a:p>
          <a:p>
            <a:pPr lvl="1"/>
            <a:r>
              <a:rPr lang="vi-VN" dirty="0">
                <a:latin typeface="Aptos" panose="020B0004020202020204" pitchFamily="34" charset="0"/>
              </a:rPr>
              <a:t>Bước 4: Kiểm tra đồng hồ: Nếu còn thời gian, tăng </a:t>
            </a:r>
            <a:r>
              <a:rPr lang="vi-VN" dirty="0" err="1">
                <a:latin typeface="Aptos" panose="020B0004020202020204" pitchFamily="34" charset="0"/>
              </a:rPr>
              <a:t>depth</a:t>
            </a:r>
            <a:r>
              <a:rPr lang="vi-VN" dirty="0">
                <a:latin typeface="Aptos" panose="020B0004020202020204" pitchFamily="34" charset="0"/>
              </a:rPr>
              <a:t> lên 1 và quay lại bước 2</a:t>
            </a:r>
          </a:p>
          <a:p>
            <a:pPr lvl="1"/>
            <a:r>
              <a:rPr lang="vi-VN" dirty="0">
                <a:latin typeface="Aptos" panose="020B0004020202020204" pitchFamily="34" charset="0"/>
              </a:rPr>
              <a:t>Bước 5: Nếu hết thời gian: Trả về </a:t>
            </a:r>
            <a:r>
              <a:rPr lang="vi-VN" dirty="0" err="1">
                <a:latin typeface="Aptos" panose="020B0004020202020204" pitchFamily="34" charset="0"/>
              </a:rPr>
              <a:t>best_move</a:t>
            </a:r>
            <a:r>
              <a:rPr lang="vi-VN" dirty="0">
                <a:latin typeface="Aptos" panose="020B0004020202020204" pitchFamily="34" charset="0"/>
              </a:rPr>
              <a:t> của lần hoàn thành gần nhất.</a:t>
            </a:r>
          </a:p>
          <a:p>
            <a:r>
              <a:rPr lang="vi-VN" b="1" dirty="0">
                <a:latin typeface="Aptos" panose="020B0004020202020204" pitchFamily="34" charset="0"/>
              </a:rPr>
              <a:t>Điểm mấu chốt:</a:t>
            </a:r>
            <a:r>
              <a:rPr lang="vi-VN" dirty="0">
                <a:latin typeface="Aptos" panose="020B0004020202020204" pitchFamily="34" charset="0"/>
              </a:rPr>
              <a:t> Luôn có một "phương án dự phòng" chất lượng tăng dần theo thời gian.</a:t>
            </a:r>
          </a:p>
        </p:txBody>
      </p:sp>
    </p:spTree>
    <p:extLst>
      <p:ext uri="{BB962C8B-B14F-4D97-AF65-F5344CB8AC3E}">
        <p14:creationId xmlns:p14="http://schemas.microsoft.com/office/powerpoint/2010/main" val="1561608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3DE6-AE10-8C20-CF48-51D29F118381}"/>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kết hợp với TT</a:t>
            </a:r>
            <a:endParaRPr lang="vi-VN" sz="3600" dirty="0"/>
          </a:p>
        </p:txBody>
      </p:sp>
      <p:sp>
        <p:nvSpPr>
          <p:cNvPr id="3" name="Content Placeholder 2">
            <a:extLst>
              <a:ext uri="{FF2B5EF4-FFF2-40B4-BE49-F238E27FC236}">
                <a16:creationId xmlns:a16="http://schemas.microsoft.com/office/drawing/2014/main" id="{97D13F6B-6AC5-9BA8-9F7F-CD720CF8F331}"/>
              </a:ext>
            </a:extLst>
          </p:cNvPr>
          <p:cNvSpPr>
            <a:spLocks noGrp="1"/>
          </p:cNvSpPr>
          <p:nvPr>
            <p:ph idx="1"/>
          </p:nvPr>
        </p:nvSpPr>
        <p:spPr/>
        <p:txBody>
          <a:bodyPr/>
          <a:lstStyle/>
          <a:p>
            <a:r>
              <a:rPr lang="vi-VN" b="1" dirty="0">
                <a:latin typeface="Aptos" panose="020B0004020202020204" pitchFamily="34" charset="0"/>
              </a:rPr>
              <a:t>Vai trò của TT:</a:t>
            </a:r>
            <a:r>
              <a:rPr lang="vi-VN" dirty="0">
                <a:latin typeface="Aptos" panose="020B0004020202020204" pitchFamily="34" charset="0"/>
              </a:rPr>
              <a:t> Lưu trữ điểm số của các trạng thái bàn cờ đã duyệt</a:t>
            </a:r>
          </a:p>
          <a:p>
            <a:r>
              <a:rPr lang="vi-VN" b="1" dirty="0">
                <a:latin typeface="Aptos" panose="020B0004020202020204" pitchFamily="34" charset="0"/>
              </a:rPr>
              <a:t>Sự phối hợp:</a:t>
            </a:r>
            <a:r>
              <a:rPr lang="vi-VN" dirty="0">
                <a:latin typeface="Aptos" panose="020B0004020202020204" pitchFamily="34" charset="0"/>
              </a:rPr>
              <a:t> Khi IDS chạy ở </a:t>
            </a:r>
            <a:r>
              <a:rPr lang="vi-VN" dirty="0" err="1">
                <a:latin typeface="Aptos" panose="020B0004020202020204" pitchFamily="34" charset="0"/>
              </a:rPr>
              <a:t>depth</a:t>
            </a:r>
            <a:r>
              <a:rPr lang="vi-VN" dirty="0">
                <a:latin typeface="Aptos" panose="020B0004020202020204" pitchFamily="34" charset="0"/>
              </a:rPr>
              <a:t> = 5, nó sẽ gặp lại các trạng thái của </a:t>
            </a:r>
            <a:r>
              <a:rPr lang="vi-VN" dirty="0" err="1">
                <a:latin typeface="Aptos" panose="020B0004020202020204" pitchFamily="34" charset="0"/>
              </a:rPr>
              <a:t>depth</a:t>
            </a:r>
            <a:r>
              <a:rPr lang="vi-VN" dirty="0">
                <a:latin typeface="Aptos" panose="020B0004020202020204" pitchFamily="34" charset="0"/>
              </a:rPr>
              <a:t> = 4 đã lưu trong TT</a:t>
            </a:r>
          </a:p>
          <a:p>
            <a:pPr lvl="1"/>
            <a:r>
              <a:rPr lang="vi-VN" dirty="0">
                <a:latin typeface="Aptos" panose="020B0004020202020204" pitchFamily="34" charset="0"/>
              </a:rPr>
              <a:t>AI không cần tính lại mà lấy ngay kết quả từ TT, giúp tốc độ tìm kiếm ở các tầng sâu trở nên cực nhanh</a:t>
            </a:r>
          </a:p>
        </p:txBody>
      </p:sp>
    </p:spTree>
    <p:extLst>
      <p:ext uri="{BB962C8B-B14F-4D97-AF65-F5344CB8AC3E}">
        <p14:creationId xmlns:p14="http://schemas.microsoft.com/office/powerpoint/2010/main" val="3015308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E24E-DBF4-4997-D943-5218EB7F310B}"/>
              </a:ext>
            </a:extLst>
          </p:cNvPr>
          <p:cNvSpPr>
            <a:spLocks noGrp="1"/>
          </p:cNvSpPr>
          <p:nvPr>
            <p:ph type="title"/>
          </p:nvPr>
        </p:nvSpPr>
        <p:spPr/>
        <p:txBody>
          <a:bodyPr>
            <a:normAutofit/>
          </a:bodyPr>
          <a:lstStyle/>
          <a:p>
            <a:r>
              <a:rPr lang="vi-VN" sz="3600" dirty="0">
                <a:latin typeface="Aptos" panose="020B0004020202020204" pitchFamily="34" charset="0"/>
              </a:rPr>
              <a:t>Triết lý của PVS - Sự tự tin vào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F25E9D4C-A255-C5C4-9341-D7EFABBAD15F}"/>
              </a:ext>
            </a:extLst>
          </p:cNvPr>
          <p:cNvSpPr>
            <a:spLocks noGrp="1"/>
          </p:cNvSpPr>
          <p:nvPr>
            <p:ph idx="1"/>
          </p:nvPr>
        </p:nvSpPr>
        <p:spPr/>
        <p:txBody>
          <a:bodyPr/>
          <a:lstStyle/>
          <a:p>
            <a:r>
              <a:rPr lang="vi-VN" b="1" dirty="0" err="1">
                <a:latin typeface="Aptos" panose="020B0004020202020204" pitchFamily="34" charset="0"/>
              </a:rPr>
              <a:t>Principal</a:t>
            </a:r>
            <a:r>
              <a:rPr lang="vi-VN" b="1" dirty="0">
                <a:latin typeface="Aptos" panose="020B0004020202020204" pitchFamily="34" charset="0"/>
              </a:rPr>
              <a:t> </a:t>
            </a:r>
            <a:r>
              <a:rPr lang="vi-VN" b="1" dirty="0" err="1">
                <a:latin typeface="Aptos" panose="020B0004020202020204" pitchFamily="34" charset="0"/>
              </a:rPr>
              <a:t>Variation</a:t>
            </a:r>
            <a:r>
              <a:rPr lang="vi-VN" b="1" dirty="0">
                <a:latin typeface="Aptos" panose="020B0004020202020204" pitchFamily="34" charset="0"/>
              </a:rPr>
              <a:t> là gì?</a:t>
            </a:r>
            <a:r>
              <a:rPr lang="vi-VN" dirty="0">
                <a:latin typeface="Aptos" panose="020B0004020202020204" pitchFamily="34" charset="0"/>
              </a:rPr>
              <a:t> Thuật toán giả định rằng nước đi đầu tiên được thử (thường là cột trung tâm hoặc nước đi tốt nhất từ độ sâu trước đó) chính là nước đi tối ưu nhất. Nhánh này được gọi là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a:t>
            </a:r>
          </a:p>
          <a:p>
            <a:r>
              <a:rPr lang="vi-VN" b="1" dirty="0">
                <a:latin typeface="Aptos" panose="020B0004020202020204" pitchFamily="34" charset="0"/>
              </a:rPr>
              <a:t>Sự khác biệt với </a:t>
            </a:r>
            <a:r>
              <a:rPr lang="vi-VN" b="1" dirty="0" err="1">
                <a:latin typeface="Aptos" panose="020B0004020202020204" pitchFamily="34" charset="0"/>
              </a:rPr>
              <a:t>Alpha-Beta</a:t>
            </a:r>
            <a:r>
              <a:rPr lang="vi-VN" b="1" dirty="0">
                <a:latin typeface="Aptos" panose="020B0004020202020204" pitchFamily="34" charset="0"/>
              </a:rPr>
              <a:t> thuần: </a:t>
            </a:r>
            <a:r>
              <a:rPr lang="vi-VN" dirty="0">
                <a:latin typeface="Aptos" panose="020B0004020202020204" pitchFamily="34" charset="0"/>
              </a:rPr>
              <a:t>PVS dành toàn bộ sự tập trung để đánh giá nhánh đầu tiên. Với các nhánh sau, nó chỉ muốn </a:t>
            </a:r>
            <a:r>
              <a:rPr lang="vi-VN" b="1" dirty="0">
                <a:latin typeface="Aptos" panose="020B0004020202020204" pitchFamily="34" charset="0"/>
              </a:rPr>
              <a:t>chứng minh chúng tệ hơn nhánh đầu tiên</a:t>
            </a:r>
            <a:r>
              <a:rPr lang="vi-VN" dirty="0">
                <a:latin typeface="Aptos" panose="020B0004020202020204" pitchFamily="34" charset="0"/>
              </a:rPr>
              <a:t> thay vì tìm xem chúng chính xác được bao nhiêu điểm</a:t>
            </a:r>
            <a:endParaRPr lang="vi-VN" b="1" dirty="0">
              <a:latin typeface="Aptos" panose="020B0004020202020204" pitchFamily="34" charset="0"/>
            </a:endParaRPr>
          </a:p>
        </p:txBody>
      </p:sp>
    </p:spTree>
    <p:extLst>
      <p:ext uri="{BB962C8B-B14F-4D97-AF65-F5344CB8AC3E}">
        <p14:creationId xmlns:p14="http://schemas.microsoft.com/office/powerpoint/2010/main" val="1421422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0D7D-4590-9351-606F-8E3471428736}"/>
              </a:ext>
            </a:extLst>
          </p:cNvPr>
          <p:cNvSpPr>
            <a:spLocks noGrp="1"/>
          </p:cNvSpPr>
          <p:nvPr>
            <p:ph type="title"/>
          </p:nvPr>
        </p:nvSpPr>
        <p:spPr/>
        <p:txBody>
          <a:bodyPr>
            <a:normAutofit/>
          </a:bodyPr>
          <a:lstStyle/>
          <a:p>
            <a:r>
              <a:rPr lang="vi-VN" sz="3600" dirty="0" err="1">
                <a:latin typeface="Aptos" panose="020B0004020202020204" pitchFamily="34" charset="0"/>
              </a:rPr>
              <a:t>Null-Window</a:t>
            </a:r>
            <a:r>
              <a:rPr lang="vi-VN" sz="3600" dirty="0">
                <a:latin typeface="Aptos" panose="020B0004020202020204" pitchFamily="34" charset="0"/>
              </a:rPr>
              <a:t> </a:t>
            </a:r>
            <a:r>
              <a:rPr lang="vi-VN" sz="3600" dirty="0" err="1">
                <a:latin typeface="Aptos" panose="020B0004020202020204" pitchFamily="34" charset="0"/>
              </a:rPr>
              <a:t>Search</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1E2D7-B1DB-8651-32EE-8A17B123CFCE}"/>
                  </a:ext>
                </a:extLst>
              </p:cNvPr>
              <p:cNvSpPr>
                <a:spLocks noGrp="1"/>
              </p:cNvSpPr>
              <p:nvPr>
                <p:ph idx="1"/>
              </p:nvPr>
            </p:nvSpPr>
            <p:spPr/>
            <p:txBody>
              <a:bodyPr>
                <a:normAutofit/>
              </a:bodyPr>
              <a:lstStyle/>
              <a:p>
                <a:r>
                  <a:rPr lang="vi-VN" b="1" dirty="0"/>
                  <a:t>Khái niệm Cửa sổ rỗng:</a:t>
                </a:r>
                <a:r>
                  <a:rPr lang="vi-VN" dirty="0"/>
                  <a:t> Thay vì tìm kiếm với cửa sổ đầy đủ [</a:t>
                </a:r>
                <a14:m>
                  <m:oMath xmlns:m="http://schemas.openxmlformats.org/officeDocument/2006/math">
                    <m:r>
                      <m:rPr>
                        <m:sty m:val="p"/>
                      </m:rPr>
                      <a:rPr lang="vi-VN" b="0" i="1" smtClean="0">
                        <a:latin typeface="Cambria Math" panose="02040503050406030204" pitchFamily="18" charset="0"/>
                      </a:rPr>
                      <m:t>α</m:t>
                    </m:r>
                  </m:oMath>
                </a14:m>
                <a:r>
                  <a:rPr lang="vi-VN" dirty="0"/>
                  <a:t>, </a:t>
                </a:r>
                <a14:m>
                  <m:oMath xmlns:m="http://schemas.openxmlformats.org/officeDocument/2006/math">
                    <m:r>
                      <m:rPr>
                        <m:sty m:val="p"/>
                      </m:rPr>
                      <a:rPr lang="vi-VN" b="0" i="1" smtClean="0">
                        <a:latin typeface="Cambria Math" panose="02040503050406030204" pitchFamily="18" charset="0"/>
                      </a:rPr>
                      <m:t>β</m:t>
                    </m:r>
                  </m:oMath>
                </a14:m>
                <a:r>
                  <a:rPr lang="vi-VN" dirty="0"/>
                  <a:t>], PVS thu hẹp giới hạn tìm kiếm lại thành một khe hở cực nhỏ: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t>- 1, -</a:t>
                </a:r>
                <a14:m>
                  <m:oMath xmlns:m="http://schemas.openxmlformats.org/officeDocument/2006/math">
                    <m:r>
                      <m:rPr>
                        <m:sty m:val="p"/>
                      </m:rPr>
                      <a:rPr lang="vi-VN" i="1">
                        <a:latin typeface="Cambria Math" panose="02040503050406030204" pitchFamily="18" charset="0"/>
                      </a:rPr>
                      <m:t>α</m:t>
                    </m:r>
                  </m:oMath>
                </a14:m>
                <a:r>
                  <a:rPr lang="vi-VN" dirty="0"/>
                  <a:t>]</a:t>
                </a:r>
              </a:p>
              <a:p>
                <a:r>
                  <a:rPr lang="vi-VN" b="1" dirty="0"/>
                  <a:t>Ý nghĩa chiến thuật:</a:t>
                </a:r>
              </a:p>
              <a:p>
                <a:pPr lvl="1"/>
                <a:r>
                  <a:rPr lang="vi-VN" dirty="0"/>
                  <a:t>Cửa sổ này giống như một câu hỏi "Có/Không" (</a:t>
                </a:r>
                <a:r>
                  <a:rPr lang="vi-VN" dirty="0" err="1"/>
                  <a:t>Yes</a:t>
                </a:r>
                <a:r>
                  <a:rPr lang="vi-VN" dirty="0"/>
                  <a:t>/No </a:t>
                </a:r>
                <a:r>
                  <a:rPr lang="vi-VN" dirty="0" err="1"/>
                  <a:t>Question</a:t>
                </a:r>
                <a:r>
                  <a:rPr lang="vi-VN" dirty="0"/>
                  <a:t>).</a:t>
                </a:r>
              </a:p>
              <a:p>
                <a:pPr lvl="1"/>
                <a:r>
                  <a:rPr lang="vi-VN" dirty="0"/>
                  <a:t>Nó chỉ hỏi: </a:t>
                </a:r>
                <a:r>
                  <a:rPr lang="vi-VN" i="1" dirty="0"/>
                  <a:t>"Nước đi này có tốt hơn kỷ lục hiện tại (</a:t>
                </a:r>
                <a14:m>
                  <m:oMath xmlns:m="http://schemas.openxmlformats.org/officeDocument/2006/math">
                    <m:r>
                      <m:rPr>
                        <m:sty m:val="p"/>
                      </m:rPr>
                      <a:rPr lang="vi-VN" i="1">
                        <a:latin typeface="Cambria Math" panose="02040503050406030204" pitchFamily="18" charset="0"/>
                      </a:rPr>
                      <m:t>α</m:t>
                    </m:r>
                  </m:oMath>
                </a14:m>
                <a:r>
                  <a:rPr lang="vi-VN" i="1" dirty="0"/>
                  <a:t>) không?"</a:t>
                </a:r>
                <a:r>
                  <a:rPr lang="vi-VN" dirty="0"/>
                  <a:t> thay vì hỏi </a:t>
                </a:r>
                <a:r>
                  <a:rPr lang="vi-VN" i="1" dirty="0"/>
                  <a:t>"Nước đi này được chính xác bao nhiêu điểm?"</a:t>
                </a:r>
                <a:endParaRPr lang="vi-VN" dirty="0"/>
              </a:p>
              <a:p>
                <a:pPr lvl="1"/>
                <a:r>
                  <a:rPr lang="vi-VN" dirty="0"/>
                  <a:t>Vì khoảng tìm kiếm gần như bằng 0, quá trình cắt tỉa </a:t>
                </a:r>
                <a:r>
                  <a:rPr lang="vi-VN" dirty="0" err="1"/>
                  <a:t>Alpha-Beta</a:t>
                </a:r>
                <a:r>
                  <a:rPr lang="vi-VN" dirty="0"/>
                  <a:t> xảy ra cực kỳ nhanh chóng</a:t>
                </a:r>
              </a:p>
              <a:p>
                <a:pPr lvl="1"/>
                <a:endParaRPr lang="vi-VN" b="1" dirty="0"/>
              </a:p>
            </p:txBody>
          </p:sp>
        </mc:Choice>
        <mc:Fallback xmlns="">
          <p:sp>
            <p:nvSpPr>
              <p:cNvPr id="3" name="Content Placeholder 2">
                <a:extLst>
                  <a:ext uri="{FF2B5EF4-FFF2-40B4-BE49-F238E27FC236}">
                    <a16:creationId xmlns:a16="http://schemas.microsoft.com/office/drawing/2014/main" id="{E5C1E2D7-B1DB-8651-32EE-8A17B123CFCE}"/>
                  </a:ext>
                </a:extLst>
              </p:cNvPr>
              <p:cNvSpPr>
                <a:spLocks noGrp="1" noRot="1" noChangeAspect="1" noMove="1" noResize="1" noEditPoints="1" noAdjustHandles="1" noChangeArrowheads="1" noChangeShapeType="1" noTextEdit="1"/>
              </p:cNvSpPr>
              <p:nvPr>
                <p:ph idx="1"/>
              </p:nvPr>
            </p:nvSpPr>
            <p:spPr>
              <a:blipFill>
                <a:blip r:embed="rId2"/>
                <a:stretch>
                  <a:fillRect l="-1043" t="-2381" r="-1333"/>
                </a:stretch>
              </a:blipFill>
            </p:spPr>
            <p:txBody>
              <a:bodyPr/>
              <a:lstStyle/>
              <a:p>
                <a:r>
                  <a:rPr lang="vi-VN">
                    <a:noFill/>
                  </a:rPr>
                  <a:t> </a:t>
                </a:r>
              </a:p>
            </p:txBody>
          </p:sp>
        </mc:Fallback>
      </mc:AlternateContent>
    </p:spTree>
    <p:extLst>
      <p:ext uri="{BB962C8B-B14F-4D97-AF65-F5344CB8AC3E}">
        <p14:creationId xmlns:p14="http://schemas.microsoft.com/office/powerpoint/2010/main" val="4125139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B660-EFBF-A09E-4A52-8C91EF38AF37}"/>
              </a:ext>
            </a:extLst>
          </p:cNvPr>
          <p:cNvSpPr>
            <a:spLocks noGrp="1"/>
          </p:cNvSpPr>
          <p:nvPr>
            <p:ph type="title"/>
          </p:nvPr>
        </p:nvSpPr>
        <p:spPr/>
        <p:txBody>
          <a:bodyPr>
            <a:normAutofit/>
          </a:bodyPr>
          <a:lstStyle/>
          <a:p>
            <a:r>
              <a:rPr lang="vi-VN" sz="3600" dirty="0">
                <a:latin typeface="Aptos" panose="020B0004020202020204" pitchFamily="34" charset="0"/>
              </a:rPr>
              <a:t>Quy trình 3 bước tại mỗi </a:t>
            </a:r>
            <a:r>
              <a:rPr lang="vi-VN" sz="3600" dirty="0" err="1">
                <a:latin typeface="Aptos" panose="020B0004020202020204" pitchFamily="34" charset="0"/>
              </a:rPr>
              <a:t>Node</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C2991D-3D08-BFCB-9B33-60D588ABF54C}"/>
                  </a:ext>
                </a:extLst>
              </p:cNvPr>
              <p:cNvSpPr>
                <a:spLocks noGrp="1"/>
              </p:cNvSpPr>
              <p:nvPr>
                <p:ph idx="1"/>
              </p:nvPr>
            </p:nvSpPr>
            <p:spPr/>
            <p:txBody>
              <a:bodyPr>
                <a:normAutofit fontScale="92500" lnSpcReduction="10000"/>
              </a:bodyPr>
              <a:lstStyle/>
              <a:p>
                <a:r>
                  <a:rPr lang="vi-VN" sz="3000" b="1" dirty="0">
                    <a:latin typeface="Aptos" panose="020B0004020202020204" pitchFamily="34" charset="0"/>
                  </a:rPr>
                  <a:t>Bước 1: Khảo sát </a:t>
                </a:r>
                <a:r>
                  <a:rPr lang="vi-VN" sz="3000" b="1" dirty="0" err="1">
                    <a:latin typeface="Aptos" panose="020B0004020202020204" pitchFamily="34" charset="0"/>
                  </a:rPr>
                  <a:t>First</a:t>
                </a:r>
                <a:r>
                  <a:rPr lang="vi-VN" sz="3000" b="1" dirty="0">
                    <a:latin typeface="Aptos" panose="020B0004020202020204" pitchFamily="34" charset="0"/>
                  </a:rPr>
                  <a:t> </a:t>
                </a:r>
                <a:r>
                  <a:rPr lang="vi-VN" sz="3000" b="1" dirty="0" err="1">
                    <a:latin typeface="Aptos" panose="020B0004020202020204" pitchFamily="34" charset="0"/>
                  </a:rPr>
                  <a:t>Child</a:t>
                </a:r>
                <a:r>
                  <a:rPr lang="vi-VN" sz="3000" b="1" dirty="0">
                    <a:latin typeface="Aptos" panose="020B0004020202020204" pitchFamily="34" charset="0"/>
                  </a:rPr>
                  <a:t> (Nước đi đầu tiên):</a:t>
                </a:r>
                <a:endParaRPr lang="vi-VN" sz="3000" dirty="0">
                  <a:latin typeface="Aptos" panose="020B0004020202020204" pitchFamily="34" charset="0"/>
                </a:endParaRPr>
              </a:p>
              <a:p>
                <a:pPr lvl="1"/>
                <a:r>
                  <a:rPr lang="vi-VN" sz="2600" dirty="0">
                    <a:latin typeface="Aptos" panose="020B0004020202020204" pitchFamily="34" charset="0"/>
                  </a:rPr>
                  <a:t>Biến </a:t>
                </a:r>
                <a:r>
                  <a:rPr lang="vi-VN" sz="2600" dirty="0" err="1">
                    <a:latin typeface="Aptos" panose="020B0004020202020204" pitchFamily="34" charset="0"/>
                  </a:rPr>
                  <a:t>first_child</a:t>
                </a:r>
                <a:r>
                  <a:rPr lang="vi-VN" sz="2600" dirty="0">
                    <a:latin typeface="Aptos" panose="020B0004020202020204" pitchFamily="34" charset="0"/>
                  </a:rPr>
                  <a:t> được gán là </a:t>
                </a:r>
                <a:r>
                  <a:rPr lang="vi-VN" sz="2600" dirty="0" err="1">
                    <a:latin typeface="Aptos" panose="020B0004020202020204" pitchFamily="34" charset="0"/>
                  </a:rPr>
                  <a:t>True</a:t>
                </a:r>
                <a:endParaRPr lang="vi-VN" sz="2600" dirty="0">
                  <a:latin typeface="Aptos" panose="020B0004020202020204" pitchFamily="34" charset="0"/>
                </a:endParaRPr>
              </a:p>
              <a:p>
                <a:pPr lvl="1"/>
                <a:r>
                  <a:rPr lang="vi-VN" sz="2600" dirty="0">
                    <a:latin typeface="Aptos" panose="020B0004020202020204" pitchFamily="34" charset="0"/>
                  </a:rPr>
                  <a:t>AI đánh giá nước đi này bằng cửa sổ đầy đủ (</a:t>
                </a:r>
                <a:r>
                  <a:rPr lang="vi-VN" sz="2600" dirty="0" err="1">
                    <a:latin typeface="Aptos" panose="020B0004020202020204" pitchFamily="34" charset="0"/>
                  </a:rPr>
                  <a:t>Full-window</a:t>
                </a:r>
                <a:r>
                  <a:rPr lang="vi-VN" sz="2600" dirty="0">
                    <a:latin typeface="Aptos" panose="020B0004020202020204" pitchFamily="34" charset="0"/>
                  </a:rPr>
                  <a:t> </a:t>
                </a:r>
                <a:r>
                  <a:rPr lang="vi-VN" sz="2600" dirty="0" err="1">
                    <a:latin typeface="Aptos" panose="020B0004020202020204" pitchFamily="34" charset="0"/>
                  </a:rPr>
                  <a:t>search</a:t>
                </a:r>
                <a:r>
                  <a:rPr lang="vi-VN" sz="2600" dirty="0">
                    <a:latin typeface="Aptos" panose="020B0004020202020204" pitchFamily="34" charset="0"/>
                  </a:rPr>
                  <a:t>) với giới hạn [-</a:t>
                </a:r>
                <a14:m>
                  <m:oMath xmlns:m="http://schemas.openxmlformats.org/officeDocument/2006/math">
                    <m:r>
                      <m:rPr>
                        <m:sty m:val="p"/>
                      </m:rPr>
                      <a:rPr lang="vi-VN" sz="2600" b="0" i="1" smtClean="0">
                        <a:latin typeface="Cambria Math" panose="02040503050406030204" pitchFamily="18" charset="0"/>
                      </a:rPr>
                      <m:t>β</m:t>
                    </m:r>
                    <m:r>
                      <a:rPr lang="vi-VN" sz="2600" b="0" i="1" smtClean="0">
                        <a:latin typeface="Cambria Math" panose="02040503050406030204" pitchFamily="18" charset="0"/>
                      </a:rPr>
                      <m:t> </m:t>
                    </m:r>
                  </m:oMath>
                </a14:m>
                <a:r>
                  <a:rPr lang="vi-VN" sz="2600" dirty="0">
                    <a:latin typeface="Aptos" panose="020B0004020202020204" pitchFamily="34" charset="0"/>
                  </a:rPr>
                  <a:t>,-</a:t>
                </a:r>
                <a14:m>
                  <m:oMath xmlns:m="http://schemas.openxmlformats.org/officeDocument/2006/math">
                    <m:r>
                      <m:rPr>
                        <m:sty m:val="p"/>
                      </m:rPr>
                      <a:rPr lang="vi-VN" sz="2600" i="1" smtClean="0">
                        <a:latin typeface="Cambria Math" panose="02040503050406030204" pitchFamily="18" charset="0"/>
                      </a:rPr>
                      <m:t>α</m:t>
                    </m:r>
                  </m:oMath>
                </a14:m>
                <a:r>
                  <a:rPr lang="vi-VN" sz="2600" dirty="0">
                    <a:latin typeface="Aptos" panose="020B0004020202020204" pitchFamily="34" charset="0"/>
                  </a:rPr>
                  <a:t>] </a:t>
                </a:r>
              </a:p>
              <a:p>
                <a:r>
                  <a:rPr lang="vi-VN" sz="3000" b="1" dirty="0">
                    <a:latin typeface="Aptos" panose="020B0004020202020204" pitchFamily="34" charset="0"/>
                  </a:rPr>
                  <a:t>Bước 2: Tìm kiếm </a:t>
                </a:r>
                <a:r>
                  <a:rPr lang="vi-VN" sz="3000" b="1" dirty="0" err="1">
                    <a:latin typeface="Aptos" panose="020B0004020202020204" pitchFamily="34" charset="0"/>
                  </a:rPr>
                  <a:t>Null-window</a:t>
                </a:r>
                <a:r>
                  <a:rPr lang="vi-VN" sz="3000" b="1" dirty="0">
                    <a:latin typeface="Aptos" panose="020B0004020202020204" pitchFamily="34" charset="0"/>
                  </a:rPr>
                  <a:t> (Các nước đi còn lại):</a:t>
                </a:r>
                <a:endParaRPr lang="vi-VN" sz="3000" dirty="0">
                  <a:latin typeface="Aptos" panose="020B0004020202020204" pitchFamily="34" charset="0"/>
                </a:endParaRPr>
              </a:p>
              <a:p>
                <a:pPr lvl="1"/>
                <a:r>
                  <a:rPr lang="vi-VN" sz="2600" dirty="0">
                    <a:latin typeface="Aptos" panose="020B0004020202020204" pitchFamily="34" charset="0"/>
                  </a:rPr>
                  <a:t>Khi </a:t>
                </a:r>
                <a:r>
                  <a:rPr lang="vi-VN" sz="2600" dirty="0" err="1">
                    <a:latin typeface="Aptos" panose="020B0004020202020204" pitchFamily="34" charset="0"/>
                  </a:rPr>
                  <a:t>first_child</a:t>
                </a:r>
                <a:r>
                  <a:rPr lang="vi-VN" sz="2600" dirty="0">
                    <a:latin typeface="Aptos" panose="020B0004020202020204" pitchFamily="34" charset="0"/>
                  </a:rPr>
                  <a:t> = </a:t>
                </a:r>
                <a:r>
                  <a:rPr lang="vi-VN" sz="2600" dirty="0" err="1">
                    <a:latin typeface="Aptos" panose="020B0004020202020204" pitchFamily="34" charset="0"/>
                  </a:rPr>
                  <a:t>False</a:t>
                </a:r>
                <a:r>
                  <a:rPr lang="vi-VN" sz="2600" dirty="0">
                    <a:latin typeface="Aptos" panose="020B0004020202020204" pitchFamily="34" charset="0"/>
                  </a:rPr>
                  <a:t>, các nước đi sau được đánh giá bằng </a:t>
                </a:r>
                <a:r>
                  <a:rPr lang="vi-VN" sz="2600" dirty="0" err="1">
                    <a:latin typeface="Aptos" panose="020B0004020202020204" pitchFamily="34" charset="0"/>
                  </a:rPr>
                  <a:t>Null-window</a:t>
                </a:r>
                <a:r>
                  <a:rPr lang="vi-VN" sz="2600" dirty="0">
                    <a:latin typeface="Aptos" panose="020B0004020202020204" pitchFamily="34" charset="0"/>
                  </a:rPr>
                  <a:t>  [- </a:t>
                </a:r>
                <a14:m>
                  <m:oMath xmlns:m="http://schemas.openxmlformats.org/officeDocument/2006/math">
                    <m:r>
                      <m:rPr>
                        <m:sty m:val="p"/>
                      </m:rPr>
                      <a:rPr lang="vi-VN" sz="2600" i="1">
                        <a:latin typeface="Cambria Math" panose="02040503050406030204" pitchFamily="18" charset="0"/>
                      </a:rPr>
                      <m:t>α</m:t>
                    </m:r>
                    <m:r>
                      <a:rPr lang="vi-VN" sz="2600" i="1">
                        <a:latin typeface="Cambria Math" panose="02040503050406030204" pitchFamily="18" charset="0"/>
                      </a:rPr>
                      <m:t> </m:t>
                    </m:r>
                  </m:oMath>
                </a14:m>
                <a:r>
                  <a:rPr lang="vi-VN" sz="2600" dirty="0">
                    <a:latin typeface="Aptos" panose="020B0004020202020204" pitchFamily="34" charset="0"/>
                  </a:rPr>
                  <a:t>- 1, - </a:t>
                </a:r>
                <a14:m>
                  <m:oMath xmlns:m="http://schemas.openxmlformats.org/officeDocument/2006/math">
                    <m:r>
                      <m:rPr>
                        <m:sty m:val="p"/>
                      </m:rPr>
                      <a:rPr lang="vi-VN" sz="2600" i="1">
                        <a:latin typeface="Cambria Math" panose="02040503050406030204" pitchFamily="18" charset="0"/>
                      </a:rPr>
                      <m:t>α</m:t>
                    </m:r>
                  </m:oMath>
                </a14:m>
                <a:r>
                  <a:rPr lang="vi-VN" sz="2600" dirty="0">
                    <a:latin typeface="Aptos" panose="020B0004020202020204" pitchFamily="34" charset="0"/>
                  </a:rPr>
                  <a:t>] để mong đợi chúng thất bại (bị cắt tỉa) càng nhanh càng tốt</a:t>
                </a:r>
              </a:p>
              <a:p>
                <a:r>
                  <a:rPr lang="vi-VN" sz="3000" b="1" dirty="0">
                    <a:latin typeface="Aptos" panose="020B0004020202020204" pitchFamily="34" charset="0"/>
                  </a:rPr>
                  <a:t>Bước 3: Tái khảo sát (Re-</a:t>
                </a:r>
                <a:r>
                  <a:rPr lang="vi-VN" sz="3000" b="1" dirty="0" err="1">
                    <a:latin typeface="Aptos" panose="020B0004020202020204" pitchFamily="34" charset="0"/>
                  </a:rPr>
                  <a:t>search</a:t>
                </a:r>
                <a:r>
                  <a:rPr lang="vi-VN" sz="3000" b="1" dirty="0">
                    <a:latin typeface="Aptos" panose="020B0004020202020204" pitchFamily="34" charset="0"/>
                  </a:rPr>
                  <a:t>):</a:t>
                </a:r>
                <a:endParaRPr lang="vi-VN" sz="3000" dirty="0">
                  <a:latin typeface="Aptos" panose="020B0004020202020204" pitchFamily="34" charset="0"/>
                </a:endParaRPr>
              </a:p>
              <a:p>
                <a:pPr lvl="1"/>
                <a:r>
                  <a:rPr lang="vi-VN" dirty="0">
                    <a:latin typeface="Aptos" panose="020B0004020202020204" pitchFamily="34" charset="0"/>
                  </a:rPr>
                  <a:t>Nếu </a:t>
                </a:r>
                <a:r>
                  <a:rPr lang="vi-VN" dirty="0" err="1">
                    <a:latin typeface="Aptos" panose="020B0004020202020204" pitchFamily="34" charset="0"/>
                  </a:rPr>
                  <a:t>Null-window</a:t>
                </a:r>
                <a:r>
                  <a:rPr lang="vi-VN" dirty="0">
                    <a:latin typeface="Aptos" panose="020B0004020202020204" pitchFamily="34" charset="0"/>
                  </a:rPr>
                  <a:t> phát hiện ra một nút thực sự tốt hơn </a:t>
                </a:r>
                <a14:m>
                  <m:oMath xmlns:m="http://schemas.openxmlformats.org/officeDocument/2006/math">
                    <m:r>
                      <m:rPr>
                        <m:sty m:val="p"/>
                      </m:rPr>
                      <a:rPr lang="vi-VN" i="1">
                        <a:latin typeface="Cambria Math" panose="02040503050406030204" pitchFamily="18" charset="0"/>
                      </a:rPr>
                      <m:t>α</m:t>
                    </m:r>
                    <m:r>
                      <a:rPr lang="vi-VN" b="0" i="1" smtClean="0">
                        <a:latin typeface="Cambria Math" panose="02040503050406030204" pitchFamily="18" charset="0"/>
                      </a:rPr>
                      <m:t> </m:t>
                    </m:r>
                  </m:oMath>
                </a14:m>
                <a:r>
                  <a:rPr lang="vi-VN" dirty="0">
                    <a:latin typeface="Aptos" panose="020B0004020202020204" pitchFamily="34" charset="0"/>
                  </a:rPr>
                  <a:t>(nghĩa là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latin typeface="Aptos" panose="020B0004020202020204" pitchFamily="34" charset="0"/>
                  </a:rPr>
                  <a:t>&lt; </a:t>
                </a:r>
                <a:r>
                  <a:rPr lang="vi-VN" dirty="0" err="1">
                    <a:latin typeface="Aptos" panose="020B0004020202020204" pitchFamily="34" charset="0"/>
                  </a:rPr>
                  <a:t>res</a:t>
                </a:r>
                <a:r>
                  <a:rPr lang="vi-VN" dirty="0">
                    <a:latin typeface="Aptos" panose="020B0004020202020204" pitchFamily="34" charset="0"/>
                  </a:rPr>
                  <a:t> &lt;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điều đó chứng tỏ "niềm tin" ban đầu đã sai</a:t>
                </a:r>
              </a:p>
              <a:p>
                <a:pPr lvl="1"/>
                <a:r>
                  <a:rPr lang="vi-VN" dirty="0">
                    <a:latin typeface="Aptos" panose="020B0004020202020204" pitchFamily="34" charset="0"/>
                  </a:rPr>
                  <a:t>Thuật toán buộc phải "sửa sai" bằng cách duyệt lại nhánh đó với cửa sổ đầy đủ [-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a:t>
                </a:r>
                <a:r>
                  <a:rPr lang="vi-VN" dirty="0" err="1">
                    <a:latin typeface="Aptos" panose="020B0004020202020204" pitchFamily="34" charset="0"/>
                  </a:rPr>
                  <a:t>res</a:t>
                </a:r>
                <a:r>
                  <a:rPr lang="vi-VN" dirty="0">
                    <a:latin typeface="Aptos" panose="020B0004020202020204" pitchFamily="34" charset="0"/>
                  </a:rPr>
                  <a:t>] để tìm giá trị chính xác</a:t>
                </a:r>
              </a:p>
              <a:p>
                <a:endParaRPr lang="vi-VN" dirty="0"/>
              </a:p>
            </p:txBody>
          </p:sp>
        </mc:Choice>
        <mc:Fallback xmlns="">
          <p:sp>
            <p:nvSpPr>
              <p:cNvPr id="3" name="Content Placeholder 2">
                <a:extLst>
                  <a:ext uri="{FF2B5EF4-FFF2-40B4-BE49-F238E27FC236}">
                    <a16:creationId xmlns:a16="http://schemas.microsoft.com/office/drawing/2014/main" id="{EAC2991D-3D08-BFCB-9B33-60D588ABF54C}"/>
                  </a:ext>
                </a:extLst>
              </p:cNvPr>
              <p:cNvSpPr>
                <a:spLocks noGrp="1" noRot="1" noChangeAspect="1" noMove="1" noResize="1" noEditPoints="1" noAdjustHandles="1" noChangeArrowheads="1" noChangeShapeType="1" noTextEdit="1"/>
              </p:cNvSpPr>
              <p:nvPr>
                <p:ph idx="1"/>
              </p:nvPr>
            </p:nvSpPr>
            <p:spPr>
              <a:blipFill>
                <a:blip r:embed="rId2"/>
                <a:stretch>
                  <a:fillRect l="-1043" t="-3081" r="-348" b="-280"/>
                </a:stretch>
              </a:blipFill>
            </p:spPr>
            <p:txBody>
              <a:bodyPr/>
              <a:lstStyle/>
              <a:p>
                <a:r>
                  <a:rPr lang="vi-VN">
                    <a:noFill/>
                  </a:rPr>
                  <a:t> </a:t>
                </a:r>
              </a:p>
            </p:txBody>
          </p:sp>
        </mc:Fallback>
      </mc:AlternateContent>
    </p:spTree>
    <p:extLst>
      <p:ext uri="{BB962C8B-B14F-4D97-AF65-F5344CB8AC3E}">
        <p14:creationId xmlns:p14="http://schemas.microsoft.com/office/powerpoint/2010/main" val="427352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E1283-2D4C-8D6A-980B-67932D6E83B3}"/>
              </a:ext>
            </a:extLst>
          </p:cNvPr>
          <p:cNvSpPr>
            <a:spLocks noGrp="1"/>
          </p:cNvSpPr>
          <p:nvPr>
            <p:ph type="title"/>
          </p:nvPr>
        </p:nvSpPr>
        <p:spPr/>
        <p:txBody>
          <a:bodyPr>
            <a:normAutofit/>
          </a:bodyPr>
          <a:lstStyle/>
          <a:p>
            <a:r>
              <a:rPr lang="vi-VN" sz="3600" dirty="0">
                <a:latin typeface="Aptos" panose="020B0004020202020204" pitchFamily="34" charset="0"/>
              </a:rPr>
              <a:t>Kỹ thuật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33B30B-912A-B082-2FDE-FFADD953EC37}"/>
                  </a:ext>
                </a:extLst>
              </p:cNvPr>
              <p:cNvSpPr>
                <a:spLocks noGrp="1"/>
              </p:cNvSpPr>
              <p:nvPr>
                <p:ph idx="1"/>
              </p:nvPr>
            </p:nvSpPr>
            <p:spPr/>
            <p:txBody>
              <a:bodyPr/>
              <a:lstStyle/>
              <a:p>
                <a:pPr marL="0" indent="0">
                  <a:buNone/>
                </a:pPr>
                <a:r>
                  <a:rPr lang="vi-VN" b="1" dirty="0">
                    <a:latin typeface="Aptos" panose="020B0004020202020204" pitchFamily="34" charset="0"/>
                  </a:rPr>
                  <a:t>Tại sao cần sắp xếp? </a:t>
                </a:r>
                <a:r>
                  <a:rPr lang="vi-VN" dirty="0">
                    <a:latin typeface="Aptos" panose="020B0004020202020204" pitchFamily="34" charset="0"/>
                  </a:rPr>
                  <a:t>Nếu ta kiểm tra nước đi tốt trước, </a:t>
                </a:r>
                <a:r>
                  <a:rPr lang="vi-VN" dirty="0" err="1">
                    <a:latin typeface="Aptos" panose="020B0004020202020204" pitchFamily="34" charset="0"/>
                  </a:rPr>
                  <a:t>Alpha-Beta</a:t>
                </a:r>
                <a:r>
                  <a:rPr lang="vi-VN" dirty="0">
                    <a:latin typeface="Aptos" panose="020B0004020202020204" pitchFamily="34" charset="0"/>
                  </a:rPr>
                  <a:t> sẽ cắt tỉa được nhiều nhánh hơn</a:t>
                </a:r>
              </a:p>
              <a:p>
                <a:pPr marL="0" indent="0">
                  <a:buNone/>
                </a:pPr>
                <a:r>
                  <a:rPr lang="vi-VN" b="1" dirty="0">
                    <a:latin typeface="Aptos" panose="020B0004020202020204" pitchFamily="34" charset="0"/>
                  </a:rPr>
                  <a:t>Thực hiện:</a:t>
                </a:r>
                <a:r>
                  <a:rPr lang="vi-VN" dirty="0">
                    <a:latin typeface="Aptos" panose="020B0004020202020204" pitchFamily="34" charset="0"/>
                  </a:rPr>
                  <a:t> Ưu tiên duyệt các cột ở giữa bàn cờ trước ([ 3, 2, 4, 1, 5, 0, 6])</a:t>
                </a:r>
              </a:p>
              <a:p>
                <a:pPr marL="0" indent="0">
                  <a:buNone/>
                </a:pPr>
                <a:r>
                  <a:rPr lang="vi-VN" b="1" dirty="0">
                    <a:latin typeface="Aptos" panose="020B0004020202020204" pitchFamily="34" charset="0"/>
                  </a:rPr>
                  <a:t>Kết quả: </a:t>
                </a:r>
                <a:r>
                  <a:rPr lang="vi-VN" dirty="0">
                    <a:latin typeface="Aptos" panose="020B0004020202020204" pitchFamily="34" charset="0"/>
                  </a:rPr>
                  <a:t>Giảm số lượng nút cần duyệt trên cây quyết định từ O(</a:t>
                </a:r>
                <a14:m>
                  <m:oMath xmlns:m="http://schemas.openxmlformats.org/officeDocument/2006/math">
                    <m:sSup>
                      <m:sSupPr>
                        <m:ctrlPr>
                          <a:rPr lang="vi-VN" b="0" i="1" smtClean="0">
                            <a:latin typeface="Cambria Math" panose="02040503050406030204" pitchFamily="18" charset="0"/>
                          </a:rPr>
                        </m:ctrlPr>
                      </m:sSupPr>
                      <m:e>
                        <m:r>
                          <a:rPr lang="vi-VN" b="0" i="1" smtClean="0">
                            <a:latin typeface="Cambria Math" panose="02040503050406030204" pitchFamily="18" charset="0"/>
                          </a:rPr>
                          <m:t>𝑏</m:t>
                        </m:r>
                      </m:e>
                      <m:sup>
                        <m:r>
                          <a:rPr lang="vi-VN" b="0" i="1" smtClean="0">
                            <a:latin typeface="Cambria Math" panose="02040503050406030204" pitchFamily="18" charset="0"/>
                          </a:rPr>
                          <m:t>𝑑</m:t>
                        </m:r>
                        <m:r>
                          <a:rPr lang="vi-VN" b="0" i="1" smtClean="0">
                            <a:latin typeface="Cambria Math" panose="02040503050406030204" pitchFamily="18" charset="0"/>
                          </a:rPr>
                          <m:t>/2</m:t>
                        </m:r>
                      </m:sup>
                    </m:sSup>
                  </m:oMath>
                </a14:m>
                <a:r>
                  <a:rPr lang="vi-VN" dirty="0">
                    <a:latin typeface="Aptos" panose="020B0004020202020204" pitchFamily="34" charset="0"/>
                  </a:rPr>
                  <a:t>)</a:t>
                </a:r>
              </a:p>
              <a:p>
                <a:endParaRPr lang="vi-VN" dirty="0"/>
              </a:p>
            </p:txBody>
          </p:sp>
        </mc:Choice>
        <mc:Fallback xmlns="">
          <p:sp>
            <p:nvSpPr>
              <p:cNvPr id="3" name="Content Placeholder 2">
                <a:extLst>
                  <a:ext uri="{FF2B5EF4-FFF2-40B4-BE49-F238E27FC236}">
                    <a16:creationId xmlns:a16="http://schemas.microsoft.com/office/drawing/2014/main" id="{F233B30B-912A-B082-2FDE-FFADD953EC37}"/>
                  </a:ext>
                </a:extLst>
              </p:cNvPr>
              <p:cNvSpPr>
                <a:spLocks noGrp="1" noRot="1" noChangeAspect="1" noMove="1" noResize="1" noEditPoints="1" noAdjustHandles="1" noChangeArrowheads="1" noChangeShapeType="1" noTextEdit="1"/>
              </p:cNvSpPr>
              <p:nvPr>
                <p:ph idx="1"/>
              </p:nvPr>
            </p:nvSpPr>
            <p:spPr>
              <a:blipFill>
                <a:blip r:embed="rId2"/>
                <a:stretch>
                  <a:fillRect l="-1217" t="-2381" r="-290"/>
                </a:stretch>
              </a:blipFill>
            </p:spPr>
            <p:txBody>
              <a:bodyPr/>
              <a:lstStyle/>
              <a:p>
                <a:r>
                  <a:rPr lang="vi-VN">
                    <a:noFill/>
                  </a:rPr>
                  <a:t> </a:t>
                </a:r>
              </a:p>
            </p:txBody>
          </p:sp>
        </mc:Fallback>
      </mc:AlternateContent>
    </p:spTree>
    <p:extLst>
      <p:ext uri="{BB962C8B-B14F-4D97-AF65-F5344CB8AC3E}">
        <p14:creationId xmlns:p14="http://schemas.microsoft.com/office/powerpoint/2010/main" val="39915818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C1CC-A9BE-455D-FAE9-6E9619F7CA4C}"/>
              </a:ext>
            </a:extLst>
          </p:cNvPr>
          <p:cNvSpPr>
            <a:spLocks noGrp="1"/>
          </p:cNvSpPr>
          <p:nvPr>
            <p:ph type="title"/>
          </p:nvPr>
        </p:nvSpPr>
        <p:spPr/>
        <p:txBody>
          <a:bodyPr>
            <a:normAutofit/>
          </a:bodyPr>
          <a:lstStyle/>
          <a:p>
            <a:r>
              <a:rPr lang="en-US" sz="3600" dirty="0" err="1"/>
              <a:t>Tầm</a:t>
            </a:r>
            <a:r>
              <a:rPr lang="en-US" sz="3600" dirty="0"/>
              <a:t> </a:t>
            </a:r>
            <a:r>
              <a:rPr lang="en-US" sz="3600" dirty="0" err="1"/>
              <a:t>quan</a:t>
            </a:r>
            <a:r>
              <a:rPr lang="en-US" sz="3600" dirty="0"/>
              <a:t> </a:t>
            </a:r>
            <a:r>
              <a:rPr lang="en-US" sz="3600" dirty="0" err="1"/>
              <a:t>trọng</a:t>
            </a:r>
            <a:r>
              <a:rPr lang="en-US" sz="3600" dirty="0"/>
              <a:t> </a:t>
            </a:r>
            <a:r>
              <a:rPr lang="en-US" sz="3600" dirty="0" err="1"/>
              <a:t>của</a:t>
            </a:r>
            <a:r>
              <a:rPr lang="en-US" sz="3600" dirty="0"/>
              <a:t> _</a:t>
            </a:r>
            <a:r>
              <a:rPr lang="en-US" sz="3600" dirty="0" err="1"/>
              <a:t>ordered_moves</a:t>
            </a:r>
            <a:endParaRPr lang="vi-VN" sz="3600" dirty="0"/>
          </a:p>
        </p:txBody>
      </p:sp>
      <p:sp>
        <p:nvSpPr>
          <p:cNvPr id="3" name="Content Placeholder 2">
            <a:extLst>
              <a:ext uri="{FF2B5EF4-FFF2-40B4-BE49-F238E27FC236}">
                <a16:creationId xmlns:a16="http://schemas.microsoft.com/office/drawing/2014/main" id="{8A20C8ED-B172-B190-4A36-9807A6CBF970}"/>
              </a:ext>
            </a:extLst>
          </p:cNvPr>
          <p:cNvSpPr>
            <a:spLocks noGrp="1"/>
          </p:cNvSpPr>
          <p:nvPr>
            <p:ph idx="1"/>
          </p:nvPr>
        </p:nvSpPr>
        <p:spPr/>
        <p:txBody>
          <a:bodyPr/>
          <a:lstStyle/>
          <a:p>
            <a:r>
              <a:rPr lang="vi-VN" b="1" dirty="0">
                <a:latin typeface="Aptos" panose="020B0004020202020204" pitchFamily="34" charset="0"/>
              </a:rPr>
              <a:t>Vấn đề cốt lõi:</a:t>
            </a:r>
            <a:r>
              <a:rPr lang="vi-VN" dirty="0">
                <a:latin typeface="Aptos" panose="020B0004020202020204" pitchFamily="34" charset="0"/>
              </a:rPr>
              <a:t> PVS chỉ thực sự mạnh khi hàm sắp xếp nước đi hoạt động chuẩn xác</a:t>
            </a:r>
            <a:endParaRPr lang="en-US" dirty="0">
              <a:latin typeface="Aptos" panose="020B0004020202020204" pitchFamily="34" charset="0"/>
            </a:endParaRPr>
          </a:p>
          <a:p>
            <a:r>
              <a:rPr lang="vi-VN" b="1" dirty="0">
                <a:latin typeface="Aptos" panose="020B0004020202020204" pitchFamily="34" charset="0"/>
              </a:rPr>
              <a:t>Thứ tự trong </a:t>
            </a:r>
            <a:r>
              <a:rPr lang="vi-VN" b="1" dirty="0" err="1">
                <a:latin typeface="Aptos" panose="020B0004020202020204" pitchFamily="34" charset="0"/>
              </a:rPr>
              <a:t>ConnectX</a:t>
            </a:r>
            <a:r>
              <a:rPr lang="vi-VN" b="1" dirty="0">
                <a:latin typeface="Aptos" panose="020B0004020202020204" pitchFamily="34" charset="0"/>
              </a:rPr>
              <a:t>:</a:t>
            </a:r>
            <a:endParaRPr lang="vi-VN" dirty="0">
              <a:latin typeface="Aptos" panose="020B0004020202020204" pitchFamily="34" charset="0"/>
            </a:endParaRPr>
          </a:p>
          <a:p>
            <a:pPr lvl="1"/>
            <a:r>
              <a:rPr lang="vi-VN" dirty="0">
                <a:latin typeface="Aptos" panose="020B0004020202020204" pitchFamily="34" charset="0"/>
              </a:rPr>
              <a:t>Hàm _</a:t>
            </a:r>
            <a:r>
              <a:rPr lang="vi-VN" dirty="0" err="1">
                <a:latin typeface="Aptos" panose="020B0004020202020204" pitchFamily="34" charset="0"/>
              </a:rPr>
              <a:t>ordered_moves</a:t>
            </a:r>
            <a:r>
              <a:rPr lang="vi-VN" dirty="0">
                <a:latin typeface="Aptos" panose="020B0004020202020204" pitchFamily="34" charset="0"/>
              </a:rPr>
              <a:t>() trả về thứ tự các cột: [3, 2, 4, 1, 5, 0, 6]</a:t>
            </a:r>
          </a:p>
          <a:p>
            <a:pPr lvl="1"/>
            <a:r>
              <a:rPr lang="vi-VN" dirty="0">
                <a:latin typeface="Aptos" panose="020B0004020202020204" pitchFamily="34" charset="0"/>
              </a:rPr>
              <a:t>Ưu tiên cột trung tâm giúp nhánh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 có xác suất cao chính là nhánh chứa nước đi tốt nhất thực sự.</a:t>
            </a:r>
          </a:p>
          <a:p>
            <a:endParaRPr lang="vi-VN" dirty="0"/>
          </a:p>
        </p:txBody>
      </p:sp>
    </p:spTree>
    <p:extLst>
      <p:ext uri="{BB962C8B-B14F-4D97-AF65-F5344CB8AC3E}">
        <p14:creationId xmlns:p14="http://schemas.microsoft.com/office/powerpoint/2010/main" val="1995774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2F01-A0C8-E9A9-F2B1-261900FF8405}"/>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a:t>
            </a:r>
            <a:endParaRPr lang="vi-VN" sz="3600" dirty="0"/>
          </a:p>
        </p:txBody>
      </p:sp>
      <p:sp>
        <p:nvSpPr>
          <p:cNvPr id="3" name="Content Placeholder 2">
            <a:extLst>
              <a:ext uri="{FF2B5EF4-FFF2-40B4-BE49-F238E27FC236}">
                <a16:creationId xmlns:a16="http://schemas.microsoft.com/office/drawing/2014/main" id="{051C71B4-8D9A-CDC0-3490-911C96898750}"/>
              </a:ext>
            </a:extLst>
          </p:cNvPr>
          <p:cNvSpPr>
            <a:spLocks noGrp="1"/>
          </p:cNvSpPr>
          <p:nvPr>
            <p:ph idx="1"/>
          </p:nvPr>
        </p:nvSpPr>
        <p:spPr/>
        <p:txBody>
          <a:bodyPr/>
          <a:lstStyle/>
          <a:p>
            <a:pPr marL="0" indent="0">
              <a:buNone/>
            </a:pPr>
            <a:r>
              <a:rPr lang="vi-VN" b="1" dirty="0">
                <a:latin typeface="Aptos" panose="020B0004020202020204" pitchFamily="34" charset="0"/>
              </a:rPr>
              <a:t>Bước 1: </a:t>
            </a:r>
            <a:r>
              <a:rPr lang="vi-VN" dirty="0">
                <a:latin typeface="Aptos" panose="020B0004020202020204" pitchFamily="34" charset="0"/>
              </a:rPr>
              <a:t>Ngay từ đầu, trước khi bắt đầu tìm kiếm, AI đã lấy danh sách các nước đi hợp lệ theo thứ tự từ giữa ra biên: [3, 2, 4, 1, 5, 0, 6]</a:t>
            </a:r>
          </a:p>
          <a:p>
            <a:pPr marL="0" indent="0">
              <a:buNone/>
            </a:pPr>
            <a:r>
              <a:rPr lang="vi-VN" b="1" dirty="0">
                <a:latin typeface="Aptos" panose="020B0004020202020204" pitchFamily="34" charset="0"/>
              </a:rPr>
              <a:t>Bước 2: </a:t>
            </a:r>
            <a:r>
              <a:rPr lang="vi-VN" dirty="0">
                <a:latin typeface="Aptos" panose="020B0004020202020204" pitchFamily="34" charset="0"/>
              </a:rPr>
              <a:t>Thuật toán đi vào vòng lặp </a:t>
            </a:r>
            <a:r>
              <a:rPr lang="vi-VN" dirty="0" err="1">
                <a:latin typeface="Aptos" panose="020B0004020202020204" pitchFamily="34" charset="0"/>
              </a:rPr>
              <a:t>for</a:t>
            </a:r>
            <a:r>
              <a:rPr lang="vi-VN" dirty="0">
                <a:latin typeface="Aptos" panose="020B0004020202020204" pitchFamily="34" charset="0"/>
              </a:rPr>
              <a:t> </a:t>
            </a:r>
            <a:r>
              <a:rPr lang="vi-VN" dirty="0" err="1">
                <a:latin typeface="Aptos" panose="020B0004020202020204" pitchFamily="34" charset="0"/>
              </a:rPr>
              <a:t>depth</a:t>
            </a:r>
            <a:r>
              <a:rPr lang="vi-VN" dirty="0">
                <a:latin typeface="Aptos" panose="020B0004020202020204" pitchFamily="34" charset="0"/>
              </a:rPr>
              <a:t> in </a:t>
            </a:r>
            <a:r>
              <a:rPr lang="vi-VN" dirty="0" err="1">
                <a:latin typeface="Aptos" panose="020B0004020202020204" pitchFamily="34" charset="0"/>
              </a:rPr>
              <a:t>range</a:t>
            </a:r>
            <a:r>
              <a:rPr lang="vi-VN" dirty="0">
                <a:latin typeface="Aptos" panose="020B0004020202020204" pitchFamily="34" charset="0"/>
              </a:rPr>
              <a:t>(...)</a:t>
            </a:r>
          </a:p>
          <a:p>
            <a:pPr marL="0" indent="0">
              <a:buNone/>
            </a:pPr>
            <a:r>
              <a:rPr lang="vi-VN" b="1" dirty="0">
                <a:latin typeface="Aptos" panose="020B0004020202020204" pitchFamily="34" charset="0"/>
              </a:rPr>
              <a:t>Bước 3: </a:t>
            </a:r>
            <a:r>
              <a:rPr lang="vi-VN" dirty="0">
                <a:latin typeface="Aptos" panose="020B0004020202020204" pitchFamily="34" charset="0"/>
              </a:rPr>
              <a:t>Tại mỗi một vòng lặp của IDS (ví dụ đang ở </a:t>
            </a:r>
            <a:r>
              <a:rPr lang="vi-VN" dirty="0" err="1">
                <a:latin typeface="Aptos" panose="020B0004020202020204" pitchFamily="34" charset="0"/>
              </a:rPr>
              <a:t>depth</a:t>
            </a:r>
            <a:r>
              <a:rPr lang="vi-VN" dirty="0">
                <a:latin typeface="Aptos" panose="020B0004020202020204" pitchFamily="34" charset="0"/>
              </a:rPr>
              <a:t> = 3), AI lấy cái </a:t>
            </a:r>
            <a:r>
              <a:rPr lang="vi-VN" dirty="0" err="1">
                <a:latin typeface="Aptos" panose="020B0004020202020204" pitchFamily="34" charset="0"/>
              </a:rPr>
              <a:t>best_move</a:t>
            </a:r>
            <a:r>
              <a:rPr lang="vi-VN" dirty="0">
                <a:latin typeface="Aptos" panose="020B0004020202020204" pitchFamily="34" charset="0"/>
              </a:rPr>
              <a:t> mà nó vừa tìm được ở </a:t>
            </a:r>
            <a:r>
              <a:rPr lang="vi-VN" dirty="0" err="1">
                <a:latin typeface="Aptos" panose="020B0004020202020204" pitchFamily="34" charset="0"/>
              </a:rPr>
              <a:t>depth</a:t>
            </a:r>
            <a:r>
              <a:rPr lang="vi-VN" dirty="0">
                <a:latin typeface="Aptos" panose="020B0004020202020204" pitchFamily="34" charset="0"/>
              </a:rPr>
              <a:t> = 2 </a:t>
            </a:r>
            <a:r>
              <a:rPr lang="vi-VN" b="1" dirty="0">
                <a:latin typeface="Aptos" panose="020B0004020202020204" pitchFamily="34" charset="0"/>
              </a:rPr>
              <a:t>nhét lên vị trí đầu tiên</a:t>
            </a:r>
            <a:r>
              <a:rPr lang="vi-VN" dirty="0">
                <a:latin typeface="Aptos" panose="020B0004020202020204" pitchFamily="34" charset="0"/>
              </a:rPr>
              <a:t> của danh sách nước đi</a:t>
            </a:r>
          </a:p>
          <a:p>
            <a:pPr lvl="1"/>
            <a:r>
              <a:rPr lang="vi-VN" dirty="0">
                <a:latin typeface="Aptos" panose="020B0004020202020204" pitchFamily="34" charset="0"/>
              </a:rPr>
              <a:t>Bước này đảm bảo "nhánh chính" luôn được đánh giá đầu tiên</a:t>
            </a:r>
          </a:p>
        </p:txBody>
      </p:sp>
    </p:spTree>
    <p:extLst>
      <p:ext uri="{BB962C8B-B14F-4D97-AF65-F5344CB8AC3E}">
        <p14:creationId xmlns:p14="http://schemas.microsoft.com/office/powerpoint/2010/main" val="13753791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F0E0-08E3-93E3-14BD-83054878B7C2}"/>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 (2)</a:t>
            </a:r>
            <a:endParaRPr lang="vi-VN" sz="3600" dirty="0"/>
          </a:p>
        </p:txBody>
      </p:sp>
      <p:sp>
        <p:nvSpPr>
          <p:cNvPr id="3" name="Content Placeholder 2">
            <a:extLst>
              <a:ext uri="{FF2B5EF4-FFF2-40B4-BE49-F238E27FC236}">
                <a16:creationId xmlns:a16="http://schemas.microsoft.com/office/drawing/2014/main" id="{0E3D1225-B698-32C4-875A-A2535FA9F81C}"/>
              </a:ext>
            </a:extLst>
          </p:cNvPr>
          <p:cNvSpPr>
            <a:spLocks noGrp="1"/>
          </p:cNvSpPr>
          <p:nvPr>
            <p:ph idx="1"/>
          </p:nvPr>
        </p:nvSpPr>
        <p:spPr/>
        <p:txBody>
          <a:bodyPr/>
          <a:lstStyle/>
          <a:p>
            <a:pPr marL="0" indent="0">
              <a:buNone/>
            </a:pPr>
            <a:r>
              <a:rPr lang="vi-VN" b="1" dirty="0">
                <a:latin typeface="Aptos" panose="020B0004020202020204" pitchFamily="34" charset="0"/>
              </a:rPr>
              <a:t>Bước 4: </a:t>
            </a:r>
            <a:r>
              <a:rPr lang="vi-VN" dirty="0">
                <a:latin typeface="Aptos" panose="020B0004020202020204" pitchFamily="34" charset="0"/>
              </a:rPr>
              <a:t>Lúc này, với danh sách </a:t>
            </a:r>
            <a:r>
              <a:rPr lang="vi-VN" dirty="0" err="1">
                <a:latin typeface="Aptos" panose="020B0004020202020204" pitchFamily="34" charset="0"/>
              </a:rPr>
              <a:t>moves</a:t>
            </a:r>
            <a:r>
              <a:rPr lang="vi-VN" dirty="0">
                <a:latin typeface="Aptos" panose="020B0004020202020204" pitchFamily="34" charset="0"/>
              </a:rPr>
              <a:t> đã được sắp xếp cực kỳ hoàn hảo ở Bước 3, IDS mới bắt đầu gọi hàm </a:t>
            </a:r>
            <a:r>
              <a:rPr lang="vi-VN" dirty="0" err="1">
                <a:latin typeface="Aptos" panose="020B0004020202020204" pitchFamily="34" charset="0"/>
              </a:rPr>
              <a:t>pvs</a:t>
            </a:r>
            <a:r>
              <a:rPr lang="vi-VN" dirty="0">
                <a:latin typeface="Aptos" panose="020B0004020202020204" pitchFamily="34" charset="0"/>
              </a:rPr>
              <a:t> để chấm điểm</a:t>
            </a:r>
          </a:p>
          <a:p>
            <a:pPr lvl="1"/>
            <a:r>
              <a:rPr lang="vi-VN" dirty="0">
                <a:latin typeface="Aptos" panose="020B0004020202020204" pitchFamily="34" charset="0"/>
              </a:rPr>
              <a:t>Với nước đi đầu tiên trong danh sách (tức là </a:t>
            </a:r>
            <a:r>
              <a:rPr lang="vi-VN" dirty="0" err="1">
                <a:latin typeface="Aptos" panose="020B0004020202020204" pitchFamily="34" charset="0"/>
              </a:rPr>
              <a:t>moves</a:t>
            </a:r>
            <a:r>
              <a:rPr lang="vi-VN" dirty="0">
                <a:latin typeface="Aptos" panose="020B0004020202020204" pitchFamily="34" charset="0"/>
              </a:rPr>
              <a:t>[0]), nó mở cửa sổ lớn (</a:t>
            </a:r>
            <a:r>
              <a:rPr lang="vi-VN" dirty="0" err="1">
                <a:latin typeface="Aptos" panose="020B0004020202020204" pitchFamily="34" charset="0"/>
              </a:rPr>
              <a:t>Full-window</a:t>
            </a:r>
            <a:r>
              <a:rPr lang="vi-VN" dirty="0">
                <a:latin typeface="Aptos" panose="020B0004020202020204" pitchFamily="34" charset="0"/>
              </a:rPr>
              <a:t>)</a:t>
            </a:r>
          </a:p>
          <a:p>
            <a:pPr lvl="1"/>
            <a:r>
              <a:rPr lang="vi-VN" dirty="0">
                <a:latin typeface="Aptos" panose="020B0004020202020204" pitchFamily="34" charset="0"/>
              </a:rPr>
              <a:t>Với các nước đi sau, nó dùng cửa sổ hẹp (</a:t>
            </a:r>
            <a:r>
              <a:rPr lang="vi-VN" dirty="0" err="1">
                <a:latin typeface="Aptos" panose="020B0004020202020204" pitchFamily="34" charset="0"/>
              </a:rPr>
              <a:t>Null-window</a:t>
            </a:r>
            <a:r>
              <a:rPr lang="vi-VN" dirty="0">
                <a:latin typeface="Aptos" panose="020B0004020202020204" pitchFamily="34" charset="0"/>
              </a:rPr>
              <a:t>)</a:t>
            </a:r>
          </a:p>
          <a:p>
            <a:pPr marL="0" indent="0">
              <a:buNone/>
            </a:pPr>
            <a:r>
              <a:rPr lang="vi-VN" dirty="0">
                <a:latin typeface="Aptos" panose="020B0004020202020204" pitchFamily="34" charset="0"/>
              </a:rPr>
              <a:t>Và ở các tầng sâu bên dưới bên trong hàm đệ quy </a:t>
            </a:r>
            <a:r>
              <a:rPr lang="vi-VN" dirty="0" err="1">
                <a:latin typeface="Aptos" panose="020B0004020202020204" pitchFamily="34" charset="0"/>
              </a:rPr>
              <a:t>pvs</a:t>
            </a:r>
            <a:r>
              <a:rPr lang="vi-VN" dirty="0">
                <a:latin typeface="Aptos" panose="020B0004020202020204" pitchFamily="34" charset="0"/>
              </a:rPr>
              <a:t>, </a:t>
            </a:r>
            <a:r>
              <a:rPr lang="vi-VN" dirty="0">
                <a:solidFill>
                  <a:srgbClr val="FF0000"/>
                </a:solidFill>
                <a:latin typeface="Aptos" panose="020B0004020202020204" pitchFamily="34" charset="0"/>
              </a:rPr>
              <a:t>thuật toán lại gọi hàm _</a:t>
            </a:r>
            <a:r>
              <a:rPr lang="vi-VN" dirty="0" err="1">
                <a:solidFill>
                  <a:srgbClr val="FF0000"/>
                </a:solidFill>
                <a:latin typeface="Aptos" panose="020B0004020202020204" pitchFamily="34" charset="0"/>
              </a:rPr>
              <a:t>ordered_moves</a:t>
            </a:r>
            <a:r>
              <a:rPr lang="vi-VN" dirty="0">
                <a:solidFill>
                  <a:srgbClr val="FF0000"/>
                </a:solidFill>
                <a:latin typeface="Aptos" panose="020B0004020202020204" pitchFamily="34" charset="0"/>
              </a:rPr>
              <a:t>() một lần nữa</a:t>
            </a:r>
            <a:r>
              <a:rPr lang="vi-VN" dirty="0">
                <a:latin typeface="Aptos" panose="020B0004020202020204" pitchFamily="34" charset="0"/>
              </a:rPr>
              <a:t> để tiếp tục duy trì việc duyệt từ giữa ra biên</a:t>
            </a:r>
          </a:p>
          <a:p>
            <a:endParaRPr lang="vi-VN" dirty="0">
              <a:latin typeface="Aptos" panose="020B0004020202020204" pitchFamily="34" charset="0"/>
            </a:endParaRPr>
          </a:p>
        </p:txBody>
      </p:sp>
    </p:spTree>
    <p:extLst>
      <p:ext uri="{BB962C8B-B14F-4D97-AF65-F5344CB8AC3E}">
        <p14:creationId xmlns:p14="http://schemas.microsoft.com/office/powerpoint/2010/main" val="1611300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957F-307F-79D0-F8E0-1AD74FAF4B22}"/>
              </a:ext>
            </a:extLst>
          </p:cNvPr>
          <p:cNvSpPr>
            <a:spLocks noGrp="1"/>
          </p:cNvSpPr>
          <p:nvPr>
            <p:ph type="title"/>
          </p:nvPr>
        </p:nvSpPr>
        <p:spPr>
          <a:xfrm>
            <a:off x="1714500" y="2335815"/>
            <a:ext cx="8763000" cy="1325563"/>
          </a:xfrm>
        </p:spPr>
        <p:txBody>
          <a:bodyPr/>
          <a:lstStyle/>
          <a:p>
            <a:pPr algn="ctr"/>
            <a:r>
              <a:rPr lang="en-US"/>
              <a:t>Thank for listening :&gt;</a:t>
            </a:r>
          </a:p>
        </p:txBody>
      </p:sp>
    </p:spTree>
    <p:extLst>
      <p:ext uri="{BB962C8B-B14F-4D97-AF65-F5344CB8AC3E}">
        <p14:creationId xmlns:p14="http://schemas.microsoft.com/office/powerpoint/2010/main" val="2057640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3746</Words>
  <Application>Microsoft Office PowerPoint</Application>
  <PresentationFormat>Widescreen</PresentationFormat>
  <Paragraphs>505</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Aptos Display</vt:lpstr>
      <vt:lpstr>Arial</vt:lpstr>
      <vt:lpstr>Cambria Math</vt:lpstr>
      <vt:lpstr>Office Theme</vt:lpstr>
      <vt:lpstr>Giải thích các thuật toán áp dụng trong bài ConnectX</vt:lpstr>
      <vt:lpstr>Quy trình cải tiến</vt:lpstr>
      <vt:lpstr>PowerPoint Presentation</vt:lpstr>
      <vt:lpstr>Chi tiết hơn về 3 thuật toán đã thay đổi cuộc chơi</vt:lpstr>
      <vt:lpstr>Thuật Toán Hashing Zobrist</vt:lpstr>
      <vt:lpstr>II, Điều thuật toán cải thiện</vt:lpstr>
      <vt:lpstr>III, Ý tưởng thuật toán </vt:lpstr>
      <vt:lpstr>IV, Cách hoạt động </vt:lpstr>
      <vt:lpstr>PowerPoint Presentation</vt:lpstr>
      <vt:lpstr>PowerPoint Presentation</vt:lpstr>
      <vt:lpstr>Vấn đề bây giờ: Làm sao để sinh ra OpeningBook mà tốn ít thời gian nhất có thể</vt:lpstr>
      <vt:lpstr>Cách làm tốt</vt:lpstr>
      <vt:lpstr>Một ví dụ cho cơ chế prune</vt:lpstr>
      <vt:lpstr>Điều thuật toán cải thiện</vt:lpstr>
      <vt:lpstr>Nguyên lý cốt lõi của thuật toán Minimax</vt:lpstr>
      <vt:lpstr>Các thành phần của cây Minimax trong ConnectX</vt:lpstr>
      <vt:lpstr>Cơ chế lan truyền</vt:lpstr>
      <vt:lpstr>PowerPoint Presentation</vt:lpstr>
      <vt:lpstr>Áp dụng alpha-beta pruning để tăng hiệu năng (1)</vt:lpstr>
      <vt:lpstr>Áp dụng alpha-beta pruning để tăng hiệu năng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Hiệu quả thực tế trong bài toán ConnectX</vt:lpstr>
      <vt:lpstr>Thuật toán Minimax tối ưu hóa với Bitboard.</vt:lpstr>
      <vt:lpstr>Sức mạnh Bitboard trong Minimax</vt:lpstr>
      <vt:lpstr>Tối ưu hóa Alpha-Beta và Lưu trữ kết quả.</vt:lpstr>
      <vt:lpstr>Iterative Deepening (1)</vt:lpstr>
      <vt:lpstr>Iterative Deepening (2)</vt:lpstr>
      <vt:lpstr>Iterative Deepening (3)</vt:lpstr>
      <vt:lpstr>Iterative Deepening kết hợp với TT</vt:lpstr>
      <vt:lpstr>Triết lý của PVS - Sự tự tin vào Move Ordering</vt:lpstr>
      <vt:lpstr>Null-Window Search</vt:lpstr>
      <vt:lpstr>Quy trình 3 bước tại mỗi Node</vt:lpstr>
      <vt:lpstr>Kỹ thuật Move Ordering</vt:lpstr>
      <vt:lpstr>Tầm quan trọng của _ordered_moves</vt:lpstr>
      <vt:lpstr>PVS kết hợp Iterative Deepening</vt:lpstr>
      <vt:lpstr>PVS kết hợp Iterative Deepening (2)</vt:lpstr>
      <vt:lpstr>Thank for listening :&gt;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Bình</dc:creator>
  <cp:lastModifiedBy>Nguyễn Bình</cp:lastModifiedBy>
  <cp:revision>10</cp:revision>
  <dcterms:created xsi:type="dcterms:W3CDTF">2026-05-12T17:29:16Z</dcterms:created>
  <dcterms:modified xsi:type="dcterms:W3CDTF">2026-05-15T14:40:16Z</dcterms:modified>
</cp:coreProperties>
</file>