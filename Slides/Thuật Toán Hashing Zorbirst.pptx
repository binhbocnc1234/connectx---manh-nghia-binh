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8" r:id="rId3"/>
    <p:sldId id="257"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65" d="100"/>
          <a:sy n="65" d="100"/>
        </p:scale>
        <p:origin x="816" y="6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3A1C593-65D0-4073-BCC9-577B9352EA97}" type="datetimeFigureOut">
              <a:rPr lang="en-US" smtClean="0"/>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A1C593-65D0-4073-BCC9-577B9352EA97}" type="datetimeFigureOut">
              <a:rPr lang="en-US" smtClean="0"/>
              <a:t>5/10/2026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3A1C593-65D0-4073-BCC9-577B9352EA97}" type="datetimeFigureOut">
              <a:rPr lang="en-US" smtClean="0"/>
              <a:t>5/10/2026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A1C593-65D0-4073-BCC9-577B9352EA97}" type="datetimeFigureOut">
              <a:rPr lang="en-US" smtClean="0"/>
              <a:t>5/10/2026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5/10/2026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5/10/2026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5/10/2026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t>5/10/2026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209009"/>
            <a:ext cx="9144000" cy="2093912"/>
          </a:xfrm>
        </p:spPr>
        <p:txBody>
          <a:bodyPr>
            <a:normAutofit/>
          </a:bodyPr>
          <a:lstStyle/>
          <a:p>
            <a:r>
              <a:rPr lang="en-US" altLang="en-GB" sz="3600"/>
              <a:t>Thuật Toán Hashing Zobrist</a:t>
            </a:r>
          </a:p>
        </p:txBody>
      </p:sp>
      <p:sp>
        <p:nvSpPr>
          <p:cNvPr id="5" name="Subtitle 4"/>
          <p:cNvSpPr>
            <a:spLocks noGrp="1"/>
          </p:cNvSpPr>
          <p:nvPr>
            <p:ph type="subTitle" idx="1"/>
          </p:nvPr>
        </p:nvSpPr>
        <p:spPr>
          <a:xfrm>
            <a:off x="763290" y="1307721"/>
            <a:ext cx="10988675" cy="4242557"/>
          </a:xfrm>
        </p:spPr>
        <p:txBody>
          <a:bodyPr>
            <a:normAutofit fontScale="25000" lnSpcReduction="20000"/>
          </a:bodyPr>
          <a:lstStyle/>
          <a:p>
            <a:pPr algn="l">
              <a:lnSpc>
                <a:spcPct val="100000"/>
              </a:lnSpc>
            </a:pPr>
            <a:r>
              <a:rPr lang="en-US" altLang="en-GB" sz="14400" b="1"/>
              <a:t>I, Sự ra đời</a:t>
            </a:r>
            <a:endParaRPr lang="en-US" altLang="en-GB" sz="14400"/>
          </a:p>
          <a:p>
            <a:pPr algn="l">
              <a:lnSpc>
                <a:spcPct val="140000"/>
              </a:lnSpc>
            </a:pPr>
            <a:r>
              <a:rPr lang="en-US" altLang="en-GB" sz="10400"/>
              <a:t>Trong quá trình search, một trạng thái(state) có nhiều con đường có thể đạt được state đó. Vậy thì tại sao chúng ta không nghĩ cách nào đó để lưu chúng lại? </a:t>
            </a:r>
          </a:p>
          <a:p>
            <a:pPr algn="l">
              <a:lnSpc>
                <a:spcPct val="140000"/>
              </a:lnSpc>
            </a:pPr>
            <a:endParaRPr lang="en-US" altLang="en-GB" sz="10400"/>
          </a:p>
          <a:p>
            <a:pPr algn="l">
              <a:lnSpc>
                <a:spcPct val="140000"/>
              </a:lnSpc>
            </a:pPr>
            <a:r>
              <a:rPr lang="en-US" altLang="en-GB" sz="10400"/>
              <a:t>Zobrist Hashing ra đời: Khi AI tính xong điểm số của 1 thế cờ, nó sẽ băm thế cờ đó và lưu vào bảng. Lần sau gặp thế cờ đó thì thay vì chày cối tìm tiếp, AI chỉ việc đọc kết quả và dùng ngay lập tức</a:t>
            </a:r>
          </a:p>
          <a:p>
            <a:pPr algn="l">
              <a:lnSpc>
                <a:spcPct val="120000"/>
              </a:lnSpc>
              <a:spcBef>
                <a:spcPts val="1000"/>
              </a:spcBef>
              <a:spcAft>
                <a:spcPct val="0"/>
              </a:spcAft>
            </a:pPr>
            <a:endParaRPr lang="en-US" altLang="en-GB"/>
          </a:p>
          <a:p>
            <a:endParaRPr lang="en-US" altLang="en-GB"/>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4080" y="0"/>
            <a:ext cx="10515600" cy="1325563"/>
          </a:xfrm>
        </p:spPr>
        <p:txBody>
          <a:bodyPr/>
          <a:lstStyle/>
          <a:p>
            <a:r>
              <a:rPr lang="en-US" altLang="en-GB" sz="3800" b="1"/>
              <a:t>II, Điều thuật toán cải thiện</a:t>
            </a:r>
          </a:p>
        </p:txBody>
      </p:sp>
      <p:sp>
        <p:nvSpPr>
          <p:cNvPr id="3" name="Content Placeholder 2"/>
          <p:cNvSpPr>
            <a:spLocks noGrp="1"/>
          </p:cNvSpPr>
          <p:nvPr>
            <p:ph idx="1"/>
          </p:nvPr>
        </p:nvSpPr>
        <p:spPr>
          <a:xfrm>
            <a:off x="838200" y="1058545"/>
            <a:ext cx="10515600" cy="5357003"/>
          </a:xfrm>
        </p:spPr>
        <p:txBody>
          <a:bodyPr>
            <a:normAutofit fontScale="95000"/>
          </a:bodyPr>
          <a:lstStyle/>
          <a:p>
            <a:pPr marL="0" indent="0">
              <a:lnSpc>
                <a:spcPct val="100000"/>
              </a:lnSpc>
              <a:buNone/>
            </a:pPr>
            <a:r>
              <a:rPr lang="en-US" altLang="en-GB" sz="3000"/>
              <a:t>1, Giảm tải và tối ưu bộ nhớ</a:t>
            </a:r>
          </a:p>
          <a:p>
            <a:pPr marL="0" indent="0">
              <a:lnSpc>
                <a:spcPct val="100000"/>
              </a:lnSpc>
              <a:buNone/>
            </a:pPr>
            <a:r>
              <a:rPr lang="en-US" altLang="en-GB" sz="3000"/>
              <a:t> - Loại bỏ việc lưu và tính toán lặp lại các thế cờ trùng nhau </a:t>
            </a:r>
          </a:p>
          <a:p>
            <a:pPr marL="0" indent="0">
              <a:lnSpc>
                <a:spcPct val="100000"/>
              </a:lnSpc>
              <a:buNone/>
            </a:pPr>
            <a:r>
              <a:rPr lang="en-US" altLang="en-GB" sz="3000"/>
              <a:t>2, Giảm số lượng node cần duyệt </a:t>
            </a:r>
          </a:p>
          <a:p>
            <a:pPr marL="0" indent="0">
              <a:lnSpc>
                <a:spcPct val="100000"/>
              </a:lnSpc>
              <a:buNone/>
            </a:pPr>
            <a:r>
              <a:rPr lang="en-US" altLang="en-GB" sz="3000"/>
              <a:t>- các trạng thái trùng lặp không bị tính lại  -&gt; giảm đáng kể số node trong cây minimax</a:t>
            </a:r>
          </a:p>
          <a:p>
            <a:pPr marL="0" indent="0">
              <a:lnSpc>
                <a:spcPct val="100000"/>
              </a:lnSpc>
              <a:buNone/>
            </a:pPr>
            <a:r>
              <a:rPr lang="en-US" altLang="en-GB" sz="3000">
                <a:sym typeface="+mn-ea"/>
              </a:rPr>
              <a:t>3, Tối ưu hóa hiệu quả của PVS và Alpha-Beta</a:t>
            </a:r>
            <a:endParaRPr lang="en-US" altLang="en-GB" sz="3000"/>
          </a:p>
          <a:p>
            <a:pPr marL="0" indent="0">
              <a:lnSpc>
                <a:spcPct val="100000"/>
              </a:lnSpc>
              <a:buNone/>
            </a:pPr>
            <a:r>
              <a:rPr lang="en-US" altLang="en-GB" sz="3000">
                <a:sym typeface="+mn-ea"/>
              </a:rPr>
              <a:t>- Thuật toán ưu tiên duyệt nước đi mạnh trước </a:t>
            </a:r>
            <a:endParaRPr lang="en-US" altLang="en-GB" sz="3000"/>
          </a:p>
          <a:p>
            <a:pPr marL="0" indent="0">
              <a:lnSpc>
                <a:spcPct val="100000"/>
              </a:lnSpc>
              <a:buNone/>
            </a:pPr>
            <a:r>
              <a:rPr lang="en-US" altLang="en-GB" sz="3000">
                <a:sym typeface="+mn-ea"/>
              </a:rPr>
              <a:t>- Beta cutoff xảy ra sớm hơn</a:t>
            </a:r>
            <a:endParaRPr lang="en-US" altLang="en-GB" sz="3000"/>
          </a:p>
          <a:p>
            <a:pPr marL="0" indent="0">
              <a:lnSpc>
                <a:spcPct val="100000"/>
              </a:lnSpc>
              <a:buNone/>
            </a:pPr>
            <a:r>
              <a:rPr lang="en-US" altLang="en-GB" sz="3000">
                <a:sym typeface="+mn-ea"/>
              </a:rPr>
              <a:t>- Tăng quá trình cắt tỉa </a:t>
            </a:r>
            <a:endParaRPr lang="en-US" altLang="en-GB" sz="3000"/>
          </a:p>
          <a:p>
            <a:pPr marL="0" indent="0">
              <a:buNone/>
            </a:pPr>
            <a:endParaRPr lang="en-US" altLang="en-GB"/>
          </a:p>
          <a:p>
            <a:pPr marL="0" indent="0">
              <a:buNone/>
            </a:pPr>
            <a:endParaRPr lang="en-US" altLang="en-GB"/>
          </a:p>
          <a:p>
            <a:pPr marL="0" indent="0">
              <a:buNone/>
            </a:pPr>
            <a:endParaRPr lang="en-US" altLang="en-GB"/>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altLang="en-GB" sz="3800" b="1"/>
              <a:t>III, Ý tưởng thuật toán </a:t>
            </a:r>
          </a:p>
        </p:txBody>
      </p:sp>
      <p:sp>
        <p:nvSpPr>
          <p:cNvPr id="3" name="Content Placeholder 2"/>
          <p:cNvSpPr>
            <a:spLocks noGrp="1"/>
          </p:cNvSpPr>
          <p:nvPr>
            <p:ph idx="1"/>
          </p:nvPr>
        </p:nvSpPr>
        <p:spPr>
          <a:xfrm>
            <a:off x="903605" y="1038860"/>
            <a:ext cx="10515600" cy="4351338"/>
          </a:xfrm>
        </p:spPr>
        <p:txBody>
          <a:bodyPr/>
          <a:lstStyle/>
          <a:p>
            <a:pPr marL="0" indent="0">
              <a:buNone/>
            </a:pPr>
            <a:r>
              <a:rPr lang="en-US" altLang="en-GB"/>
              <a:t>ý tưởng chính </a:t>
            </a:r>
          </a:p>
          <a:p>
            <a:pPr marL="0" indent="0">
              <a:buNone/>
            </a:pPr>
            <a:r>
              <a:rPr lang="en-US" altLang="en-GB"/>
              <a:t> mỗi ô trên bàn cờ được gán :  một số random cho quân mình,</a:t>
            </a:r>
          </a:p>
          <a:p>
            <a:pPr marL="0" indent="0">
              <a:buNone/>
            </a:pPr>
            <a:r>
              <a:rPr lang="en-US" altLang="en-GB"/>
              <a:t>                                                       một số random cho quân đối thủ</a:t>
            </a:r>
          </a:p>
          <a:p>
            <a:pPr marL="0" indent="0">
              <a:buNone/>
            </a:pPr>
            <a:r>
              <a:rPr lang="en-US" altLang="en-GB"/>
              <a:t>Hash của bàn cờ : tạo bằng phép XOR :</a:t>
            </a:r>
          </a:p>
          <a:p>
            <a:pPr marL="0" indent="0">
              <a:buNone/>
            </a:pPr>
            <a:r>
              <a:rPr lang="en-US" altLang="en-GB"/>
              <a:t>   Hash = R1​</a:t>
            </a:r>
            <a:r>
              <a:rPr lang="en-US" altLang="en-GB" sz="4400"/>
              <a:t>⊕</a:t>
            </a:r>
            <a:r>
              <a:rPr lang="en-US" altLang="en-GB"/>
              <a:t>R2​</a:t>
            </a:r>
            <a:r>
              <a:rPr lang="en-US" altLang="en-GB" sz="4400"/>
              <a:t>⊕</a:t>
            </a:r>
            <a:r>
              <a:rPr lang="en-US" altLang="en-GB"/>
              <a:t>R3​</a:t>
            </a:r>
            <a:r>
              <a:rPr lang="en-US" altLang="en-GB" sz="4400"/>
              <a:t>⊕...⊕</a:t>
            </a:r>
            <a:r>
              <a:rPr lang="en-US" altLang="en-GB"/>
              <a:t>Rn​</a:t>
            </a:r>
          </a:p>
          <a:p>
            <a:pPr marL="0" indent="0">
              <a:buNone/>
            </a:pPr>
            <a:r>
              <a:rPr lang="en-US" altLang="en-GB"/>
              <a:t>trong đó : Ri là giá trị random tương ứng với từng quân cờ đang tồn tại</a:t>
            </a:r>
          </a:p>
          <a:p>
            <a:pPr marL="0" indent="0">
              <a:buNone/>
            </a:pPr>
            <a:endParaRPr lang="en-US" altLang="en-GB"/>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GB" sz="3800" b="1"/>
              <a:t>IV, Cách hoạt động </a:t>
            </a:r>
          </a:p>
        </p:txBody>
      </p:sp>
      <p:sp>
        <p:nvSpPr>
          <p:cNvPr id="3" name="Content Placeholder 2"/>
          <p:cNvSpPr>
            <a:spLocks noGrp="1"/>
          </p:cNvSpPr>
          <p:nvPr>
            <p:ph idx="1"/>
          </p:nvPr>
        </p:nvSpPr>
        <p:spPr>
          <a:xfrm>
            <a:off x="838200" y="1273175"/>
            <a:ext cx="10515600" cy="5325110"/>
          </a:xfrm>
        </p:spPr>
        <p:txBody>
          <a:bodyPr>
            <a:normAutofit fontScale="90000"/>
          </a:bodyPr>
          <a:lstStyle/>
          <a:p>
            <a:pPr marL="0" indent="0">
              <a:lnSpc>
                <a:spcPct val="100000"/>
              </a:lnSpc>
              <a:buNone/>
            </a:pPr>
            <a:r>
              <a:rPr lang="en-US" altLang="en-GB"/>
              <a:t>1,Tạo bảng Zobrist : </a:t>
            </a:r>
          </a:p>
          <a:p>
            <a:pPr marL="0" indent="0">
              <a:lnSpc>
                <a:spcPct val="100000"/>
              </a:lnSpc>
              <a:buNone/>
            </a:pPr>
            <a:r>
              <a:rPr lang="en-US" altLang="en-GB"/>
              <a:t>  +, sinh ra các số random 64-bit cho từng vị trí trên bàn cờ bao gồm </a:t>
            </a:r>
          </a:p>
          <a:p>
            <a:pPr marL="0" indent="0">
              <a:lnSpc>
                <a:spcPct val="100000"/>
              </a:lnSpc>
              <a:buNone/>
            </a:pPr>
            <a:r>
              <a:rPr lang="en-US" altLang="en-GB"/>
              <a:t>    _Z_ME và _Z_OPP</a:t>
            </a:r>
          </a:p>
          <a:p>
            <a:pPr marL="0" indent="0">
              <a:lnSpc>
                <a:spcPct val="100000"/>
              </a:lnSpc>
              <a:buNone/>
            </a:pPr>
            <a:r>
              <a:rPr lang="en-US" altLang="en-GB"/>
              <a:t>2, Tính hash trạng thái bàn cờ </a:t>
            </a:r>
          </a:p>
          <a:p>
            <a:pPr marL="0" indent="0">
              <a:lnSpc>
                <a:spcPct val="100000"/>
              </a:lnSpc>
              <a:buNone/>
            </a:pPr>
            <a:r>
              <a:rPr lang="en-US" altLang="en-GB"/>
              <a:t> -Duyệt toàn bộ quân cờ trên board</a:t>
            </a:r>
          </a:p>
          <a:p>
            <a:pPr marL="0" indent="0">
              <a:lnSpc>
                <a:spcPct val="100000"/>
              </a:lnSpc>
              <a:buNone/>
            </a:pPr>
            <a:r>
              <a:rPr lang="en-US" altLang="en-GB"/>
              <a:t> -XOR tất cả giá trị random tương ứng.</a:t>
            </a:r>
          </a:p>
          <a:p>
            <a:pPr marL="0" indent="0">
              <a:lnSpc>
                <a:spcPct val="100000"/>
              </a:lnSpc>
              <a:buNone/>
            </a:pPr>
            <a:r>
              <a:rPr lang="en-US" altLang="en-GB"/>
              <a:t> -Tạo ra 1 hash duy nhất cho trạng thái hiện tại</a:t>
            </a:r>
          </a:p>
          <a:p>
            <a:pPr marL="0" indent="0">
              <a:lnSpc>
                <a:spcPct val="100000"/>
              </a:lnSpc>
              <a:buNone/>
            </a:pPr>
            <a:r>
              <a:rPr lang="en-US" altLang="en-GB">
                <a:sym typeface="+mn-ea"/>
              </a:rPr>
              <a:t>3, Kiểm tra Transposition Table(độ sậu )</a:t>
            </a:r>
            <a:endParaRPr lang="en-US" altLang="en-GB"/>
          </a:p>
          <a:p>
            <a:pPr marL="0" indent="0">
              <a:lnSpc>
                <a:spcPct val="100000"/>
              </a:lnSpc>
              <a:buNone/>
            </a:pPr>
            <a:r>
              <a:rPr lang="en-US" altLang="en-GB">
                <a:sym typeface="+mn-ea"/>
              </a:rPr>
              <a:t>   -kiếm tra trạng thái đã được tính trước đó chưa ?</a:t>
            </a:r>
            <a:endParaRPr lang="en-US" altLang="en-GB"/>
          </a:p>
          <a:p>
            <a:pPr marL="0" indent="0">
              <a:lnSpc>
                <a:spcPct val="100000"/>
              </a:lnSpc>
              <a:buNone/>
            </a:pPr>
            <a:r>
              <a:rPr lang="en-US" altLang="en-GB">
                <a:sym typeface="+mn-ea"/>
              </a:rPr>
              <a:t>  - Nếu đã tồn tại : dùng lại kết quả cũ , không search lại</a:t>
            </a:r>
            <a:endParaRPr lang="en-US" altLang="en-GB"/>
          </a:p>
          <a:p>
            <a:pPr marL="0" indent="0">
              <a:buNone/>
            </a:pPr>
            <a:endParaRPr lang="en-US" altLang="en-GB"/>
          </a:p>
          <a:p>
            <a:pPr marL="0" indent="0">
              <a:buNone/>
            </a:pPr>
            <a:endParaRPr lang="en-US" altLang="en-GB"/>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altLang="en-GB"/>
              <a:t>4, Thực hiện PVS Search</a:t>
            </a:r>
          </a:p>
          <a:p>
            <a:pPr marL="0" indent="0">
              <a:buNone/>
            </a:pPr>
            <a:r>
              <a:rPr lang="en-US" altLang="en-GB"/>
              <a:t> Nếu trạng thái đó không có trong TT : AI tiếp tục search bằng các thuật toán tìm kiếm </a:t>
            </a:r>
          </a:p>
          <a:p>
            <a:pPr marL="0" indent="0">
              <a:buNone/>
            </a:pPr>
            <a:r>
              <a:rPr lang="en-US" altLang="en-GB"/>
              <a:t>5, Lưu kết quả vào TT</a:t>
            </a:r>
          </a:p>
          <a:p>
            <a:pPr marL="0" indent="0">
              <a:buNone/>
            </a:pPr>
            <a:r>
              <a:rPr lang="en-US" altLang="en-GB"/>
              <a:t>Ai sẽ lưu vào TT bao gồm là (hash trạng thái, độ số tìm kiếm , điểm minimax, loại bound, nước đi tốt nhất )</a:t>
            </a:r>
          </a:p>
          <a:p>
            <a:pPr marL="0" indent="0">
              <a:buNone/>
            </a:pPr>
            <a:endParaRPr lang="en-US" altLang="en-GB"/>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tLang="en-GB"/>
          </a:p>
        </p:txBody>
      </p:sp>
      <p:sp>
        <p:nvSpPr>
          <p:cNvPr id="3" name="Content Placeholder 2"/>
          <p:cNvSpPr>
            <a:spLocks noGrp="1"/>
          </p:cNvSpPr>
          <p:nvPr>
            <p:ph idx="1"/>
          </p:nvPr>
        </p:nvSpPr>
        <p:spPr/>
        <p:txBody>
          <a:bodyPr/>
          <a:lstStyle/>
          <a:p>
            <a:endParaRPr lang="en-GB" alt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TotalTime>
  <Words>445</Words>
  <Application>Microsoft Office PowerPoint</Application>
  <PresentationFormat>Widescreen</PresentationFormat>
  <Paragraphs>37</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Thuật Toán Hashing Zobrist</vt:lpstr>
      <vt:lpstr>II, Điều thuật toán cải thiện</vt:lpstr>
      <vt:lpstr>III, Ý tưởng thuật toán </vt:lpstr>
      <vt:lpstr>IV, Cách hoạt động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ASUS</dc:creator>
  <cp:lastModifiedBy>Nguyễn Bình</cp:lastModifiedBy>
  <cp:revision>7</cp:revision>
  <dcterms:created xsi:type="dcterms:W3CDTF">2025-07-23T00:59:00Z</dcterms:created>
  <dcterms:modified xsi:type="dcterms:W3CDTF">2026-05-10T14:09:49Z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05E862C4F96B4361BFDE82625F277118_11</vt:lpwstr>
  </property>
  <property fmtid="{D5CDD505-2E9C-101B-9397-08002B2CF9AE}" pid="3" name="KSOProductBuildVer">
    <vt:lpwstr>2057-12.2.0.23202</vt:lpwstr>
  </property>
</Properties>
</file>