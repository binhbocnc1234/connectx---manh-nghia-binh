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9" r:id="rId6"/>
    <p:sldId id="260" r:id="rId7"/>
    <p:sldId id="261" r:id="rId8"/>
    <p:sldId id="270" r:id="rId9"/>
    <p:sldId id="271" r:id="rId10"/>
    <p:sldId id="272" r:id="rId11"/>
    <p:sldId id="273" r:id="rId12"/>
    <p:sldId id="279" r:id="rId13"/>
    <p:sldId id="274" r:id="rId14"/>
    <p:sldId id="275" r:id="rId15"/>
    <p:sldId id="276" r:id="rId16"/>
    <p:sldId id="277" r:id="rId17"/>
    <p:sldId id="278" r:id="rId18"/>
    <p:sldId id="262" r:id="rId19"/>
    <p:sldId id="266" r:id="rId20"/>
    <p:sldId id="283" r:id="rId21"/>
    <p:sldId id="284" r:id="rId22"/>
    <p:sldId id="267" r:id="rId23"/>
    <p:sldId id="268" r:id="rId24"/>
    <p:sldId id="285" r:id="rId25"/>
    <p:sldId id="286" r:id="rId26"/>
    <p:sldId id="287" r:id="rId27"/>
    <p:sldId id="288" r:id="rId28"/>
    <p:sldId id="289" r:id="rId29"/>
    <p:sldId id="290" r:id="rId30"/>
    <p:sldId id="291" r:id="rId31"/>
    <p:sldId id="281" r:id="rId32"/>
    <p:sldId id="292" r:id="rId33"/>
    <p:sldId id="293" r:id="rId34"/>
    <p:sldId id="294" r:id="rId35"/>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C6261-2DED-BA63-A3F0-9BAB32BA0D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6CC28F0F-6725-4373-B713-557DDAB8C6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E73E0F4D-87F1-C995-787F-FAA78A5CFCB5}"/>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F9013D5F-2179-4002-EDA3-6BD38213C81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ECEB06D-5EF3-220F-093E-F114EEACAD3D}"/>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893979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77F03-8E06-19D5-7D76-2EDC6DEF377B}"/>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0636124C-D4DD-55FB-31F6-E6C25FAF8D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3D79445B-45A7-93FE-4CA9-C9B68FBEB1F4}"/>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5BE19A16-9C4E-443D-D21C-86756066DD1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44DB58D-B0C9-373B-80CE-88C08911CB6D}"/>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682251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72E20-4382-AE5D-0453-0FA42AFEBF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0352D497-BBE9-7AB0-94D0-C6551F4233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2E4731-F860-5989-D7E3-34B75653E446}"/>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6BBD9DE4-A428-ED96-F68B-DF03C3448DC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0DFEB04-41E6-5F8C-6106-9028CB3FC468}"/>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032385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C5C81-6F76-6388-6778-F1637DC0AC0F}"/>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103AB0D5-D649-FCBB-0A25-9FB3A856E4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8F0A0B14-AD81-AE59-6D4B-F174E5A53F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3B3F806F-84F8-0B6A-1743-5E25F4DF58E9}"/>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6" name="Footer Placeholder 5">
            <a:extLst>
              <a:ext uri="{FF2B5EF4-FFF2-40B4-BE49-F238E27FC236}">
                <a16:creationId xmlns:a16="http://schemas.microsoft.com/office/drawing/2014/main" id="{CB8CB2DF-519C-98E8-B2A2-2569E35AD2DF}"/>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A44F3CF9-A6EB-7349-59B0-C70CB247328E}"/>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673330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34C43-BEDF-0E36-4998-EE11BB9C107E}"/>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38FE2605-AFF0-DA75-6374-42A773BCD7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CE229B-980E-0CD5-5429-499B3DB776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ADF5F58E-6101-C3C4-2C2B-4AC0A29389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C137C8-9B01-24C9-990D-CBA0AF3642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F124E51D-998F-3B6F-21D7-250DDB0F5617}"/>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8" name="Footer Placeholder 7">
            <a:extLst>
              <a:ext uri="{FF2B5EF4-FFF2-40B4-BE49-F238E27FC236}">
                <a16:creationId xmlns:a16="http://schemas.microsoft.com/office/drawing/2014/main" id="{335607E2-5B09-5F48-07D9-1CC8877696BA}"/>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786DB13F-DD9F-E82F-FDB4-B5EFC769669C}"/>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2948764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4265B-4045-F868-7433-755985E42DFC}"/>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CD4EA677-4473-E807-39BE-FF0AE8E10CBE}"/>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4" name="Footer Placeholder 3">
            <a:extLst>
              <a:ext uri="{FF2B5EF4-FFF2-40B4-BE49-F238E27FC236}">
                <a16:creationId xmlns:a16="http://schemas.microsoft.com/office/drawing/2014/main" id="{876050D0-EFE3-72F0-617D-6ACF052F1930}"/>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539B6C2F-AF22-A1C0-BD04-A0CDAA88EE44}"/>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1943954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0CCE58-B5FC-DEEB-6D6B-50CF427F1BDA}"/>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3" name="Footer Placeholder 2">
            <a:extLst>
              <a:ext uri="{FF2B5EF4-FFF2-40B4-BE49-F238E27FC236}">
                <a16:creationId xmlns:a16="http://schemas.microsoft.com/office/drawing/2014/main" id="{EB8B166A-85CB-6BB1-D44B-04F96E168580}"/>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F3F75686-8336-87FF-8A01-73CD133809AC}"/>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58834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0472A-244D-A373-A26B-00397887F9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3E1A895D-C432-A601-976F-4D47A0F70F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F6040A5F-4A4B-32BB-9FB2-6CF716393C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A3D190-FF0F-7FC5-E5FB-9C4D0AEB8717}"/>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6" name="Footer Placeholder 5">
            <a:extLst>
              <a:ext uri="{FF2B5EF4-FFF2-40B4-BE49-F238E27FC236}">
                <a16:creationId xmlns:a16="http://schemas.microsoft.com/office/drawing/2014/main" id="{B08BA906-D3BC-10E7-AA01-EE6A34D0891B}"/>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DE6BBE74-29D5-4776-CC70-BD171E152736}"/>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375186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533C-8DDF-9D6C-00B6-F854F9AAC0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5BC239D3-100B-7362-87CF-9697A23233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55919182-BB05-1A5E-1940-2085B129B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807F2D-8EFF-D377-CC60-DD0EB343F12B}"/>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6" name="Footer Placeholder 5">
            <a:extLst>
              <a:ext uri="{FF2B5EF4-FFF2-40B4-BE49-F238E27FC236}">
                <a16:creationId xmlns:a16="http://schemas.microsoft.com/office/drawing/2014/main" id="{DB62B6DB-6582-C3C0-B4F5-4818B43FAB58}"/>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754EB551-D341-253A-4D81-0CA2690D9290}"/>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524497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3DB7-1321-230A-626B-D28B9F47E4C1}"/>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20DA9A7F-4F87-1B44-9D1B-D69B47C2A2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D6A1D85-D6F6-61F7-344D-9EF06796B319}"/>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8A076056-6538-C57E-98FA-99C9DC9C7BA7}"/>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AF36433-97E2-E32A-B675-35CE7BDD40C8}"/>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1162906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CD5DD4-7918-9B88-378C-CE99CA493A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7591D4D7-2DBC-2B15-30B7-C3FBDDBAC1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7BB00952-89B0-F196-E7A0-617EF831EFF9}"/>
              </a:ext>
            </a:extLst>
          </p:cNvPr>
          <p:cNvSpPr>
            <a:spLocks noGrp="1"/>
          </p:cNvSpPr>
          <p:nvPr>
            <p:ph type="dt" sz="half" idx="10"/>
          </p:nvPr>
        </p:nvSpPr>
        <p:spPr/>
        <p:txBody>
          <a:body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77AAE485-EECA-9408-5112-D4C24F269E1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6589FAE-5D65-BB47-B065-83C7B73390AF}"/>
              </a:ext>
            </a:extLst>
          </p:cNvPr>
          <p:cNvSpPr>
            <a:spLocks noGrp="1"/>
          </p:cNvSpPr>
          <p:nvPr>
            <p:ph type="sldNum" sz="quarter" idx="12"/>
          </p:nvPr>
        </p:nvSpPr>
        <p:spPr/>
        <p:txBody>
          <a:bodyPr/>
          <a:lstStyle/>
          <a:p>
            <a:fld id="{52B8D877-85C5-47B7-9338-F528F43A2A21}" type="slidenum">
              <a:rPr lang="vi-VN" smtClean="0"/>
              <a:t>‹#›</a:t>
            </a:fld>
            <a:endParaRPr lang="vi-VN"/>
          </a:p>
        </p:txBody>
      </p:sp>
    </p:spTree>
    <p:extLst>
      <p:ext uri="{BB962C8B-B14F-4D97-AF65-F5344CB8AC3E}">
        <p14:creationId xmlns:p14="http://schemas.microsoft.com/office/powerpoint/2010/main" val="3984923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253BF7-4390-BC08-96DB-46C6561E4C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A162F073-1246-7FE4-F8FD-9B3C961007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BB4AC00-1610-5BD2-1BB9-FC3629EE84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8F2DA3-9678-42BF-8243-E3E9B1E6EC95}" type="datetimeFigureOut">
              <a:rPr lang="vi-VN" smtClean="0"/>
              <a:t>10/05/2026</a:t>
            </a:fld>
            <a:endParaRPr lang="vi-VN"/>
          </a:p>
        </p:txBody>
      </p:sp>
      <p:sp>
        <p:nvSpPr>
          <p:cNvPr id="5" name="Footer Placeholder 4">
            <a:extLst>
              <a:ext uri="{FF2B5EF4-FFF2-40B4-BE49-F238E27FC236}">
                <a16:creationId xmlns:a16="http://schemas.microsoft.com/office/drawing/2014/main" id="{DAAAA286-D7C3-993F-D6CB-6616C86970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F0358071-3895-4529-E576-16320BF42D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B8D877-85C5-47B7-9338-F528F43A2A21}" type="slidenum">
              <a:rPr lang="vi-VN" smtClean="0"/>
              <a:t>‹#›</a:t>
            </a:fld>
            <a:endParaRPr lang="vi-VN"/>
          </a:p>
        </p:txBody>
      </p:sp>
    </p:spTree>
    <p:extLst>
      <p:ext uri="{BB962C8B-B14F-4D97-AF65-F5344CB8AC3E}">
        <p14:creationId xmlns:p14="http://schemas.microsoft.com/office/powerpoint/2010/main" val="716727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2216B-92C7-5331-E736-D3D4D2293744}"/>
              </a:ext>
            </a:extLst>
          </p:cNvPr>
          <p:cNvSpPr>
            <a:spLocks noGrp="1"/>
          </p:cNvSpPr>
          <p:nvPr>
            <p:ph type="ctrTitle"/>
          </p:nvPr>
        </p:nvSpPr>
        <p:spPr/>
        <p:txBody>
          <a:bodyPr>
            <a:normAutofit/>
          </a:bodyPr>
          <a:lstStyle/>
          <a:p>
            <a:r>
              <a:rPr lang="en-US" sz="5000" dirty="0" err="1"/>
              <a:t>Thuật</a:t>
            </a:r>
            <a:r>
              <a:rPr lang="en-US" sz="5000" dirty="0"/>
              <a:t> </a:t>
            </a:r>
            <a:r>
              <a:rPr lang="en-US" sz="5000" dirty="0" err="1"/>
              <a:t>toán</a:t>
            </a:r>
            <a:r>
              <a:rPr lang="en-US" sz="5000" dirty="0"/>
              <a:t> Minimax &amp; alpha-beta pruning </a:t>
            </a:r>
            <a:r>
              <a:rPr lang="en-US" sz="5000" dirty="0" err="1"/>
              <a:t>trong</a:t>
            </a:r>
            <a:r>
              <a:rPr lang="en-US" sz="5000" dirty="0"/>
              <a:t> game </a:t>
            </a:r>
            <a:r>
              <a:rPr lang="en-US" sz="5000" dirty="0" err="1"/>
              <a:t>ConnectX</a:t>
            </a:r>
            <a:endParaRPr lang="vi-VN" sz="5000" dirty="0"/>
          </a:p>
        </p:txBody>
      </p:sp>
      <p:sp>
        <p:nvSpPr>
          <p:cNvPr id="3" name="Subtitle 2">
            <a:extLst>
              <a:ext uri="{FF2B5EF4-FFF2-40B4-BE49-F238E27FC236}">
                <a16:creationId xmlns:a16="http://schemas.microsoft.com/office/drawing/2014/main" id="{52512207-4C84-CCCF-94BF-E8D84904BA36}"/>
              </a:ext>
            </a:extLst>
          </p:cNvPr>
          <p:cNvSpPr>
            <a:spLocks noGrp="1"/>
          </p:cNvSpPr>
          <p:nvPr>
            <p:ph type="subTitle" idx="1"/>
          </p:nvPr>
        </p:nvSpPr>
        <p:spPr/>
        <p:txBody>
          <a:bodyPr/>
          <a:lstStyle/>
          <a:p>
            <a:r>
              <a:rPr lang="vi-VN" dirty="0">
                <a:latin typeface="Aptos" panose="020B0004020202020204" pitchFamily="34" charset="0"/>
              </a:rPr>
              <a:t>Chiến lược tối ưu hóa trong lý thuyết trò chơi và trí tuệ nhân tạo</a:t>
            </a:r>
            <a:endParaRPr lang="en-US" dirty="0">
              <a:latin typeface="Aptos" panose="020B0004020202020204" pitchFamily="34" charset="0"/>
            </a:endParaRPr>
          </a:p>
        </p:txBody>
      </p:sp>
    </p:spTree>
    <p:extLst>
      <p:ext uri="{BB962C8B-B14F-4D97-AF65-F5344CB8AC3E}">
        <p14:creationId xmlns:p14="http://schemas.microsoft.com/office/powerpoint/2010/main" val="157577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F7E0C-1648-2274-706B-48834350AF7F}"/>
              </a:ext>
            </a:extLst>
          </p:cNvPr>
          <p:cNvSpPr>
            <a:spLocks noGrp="1"/>
          </p:cNvSpPr>
          <p:nvPr>
            <p:ph type="title"/>
          </p:nvPr>
        </p:nvSpPr>
        <p:spPr/>
        <p:txBody>
          <a:bodyPr>
            <a:normAutofit/>
          </a:bodyPr>
          <a:lstStyle/>
          <a:p>
            <a:r>
              <a:rPr lang="en-US" sz="3600" dirty="0"/>
              <a:t>Nguyên </a:t>
            </a:r>
            <a:r>
              <a:rPr lang="en-US" sz="3600" dirty="0" err="1"/>
              <a:t>lý</a:t>
            </a:r>
            <a:r>
              <a:rPr lang="en-US" sz="3600" dirty="0"/>
              <a:t> </a:t>
            </a:r>
            <a:r>
              <a:rPr lang="en-US" sz="3600" dirty="0" err="1"/>
              <a:t>cốt</a:t>
            </a:r>
            <a:r>
              <a:rPr lang="en-US" sz="3600" dirty="0"/>
              <a:t> </a:t>
            </a:r>
            <a:r>
              <a:rPr lang="en-US" sz="3600" dirty="0" err="1"/>
              <a:t>lõi</a:t>
            </a:r>
            <a:r>
              <a:rPr lang="en-US" sz="3600" dirty="0"/>
              <a:t> </a:t>
            </a:r>
            <a:r>
              <a:rPr lang="en-US" sz="3600" dirty="0" err="1"/>
              <a:t>của</a:t>
            </a:r>
            <a:r>
              <a:rPr lang="en-US" sz="3600" dirty="0"/>
              <a:t> </a:t>
            </a:r>
            <a:r>
              <a:rPr lang="en-US" sz="3600" dirty="0" err="1"/>
              <a:t>thuật</a:t>
            </a:r>
            <a:r>
              <a:rPr lang="en-US" sz="3600" dirty="0"/>
              <a:t> </a:t>
            </a:r>
            <a:r>
              <a:rPr lang="en-US" sz="3600" dirty="0" err="1"/>
              <a:t>toán</a:t>
            </a:r>
            <a:r>
              <a:rPr lang="en-US" sz="3600" dirty="0"/>
              <a:t> Minimax</a:t>
            </a:r>
            <a:endParaRPr lang="vi-VN" sz="3600" dirty="0"/>
          </a:p>
        </p:txBody>
      </p:sp>
      <p:sp>
        <p:nvSpPr>
          <p:cNvPr id="3" name="Content Placeholder 2">
            <a:extLst>
              <a:ext uri="{FF2B5EF4-FFF2-40B4-BE49-F238E27FC236}">
                <a16:creationId xmlns:a16="http://schemas.microsoft.com/office/drawing/2014/main" id="{6129AAE3-027A-976C-CE1F-558A69211CE2}"/>
              </a:ext>
            </a:extLst>
          </p:cNvPr>
          <p:cNvSpPr>
            <a:spLocks noGrp="1"/>
          </p:cNvSpPr>
          <p:nvPr>
            <p:ph idx="1"/>
          </p:nvPr>
        </p:nvSpPr>
        <p:spPr>
          <a:xfrm>
            <a:off x="838200" y="1936157"/>
            <a:ext cx="10837985" cy="4351338"/>
          </a:xfrm>
        </p:spPr>
        <p:txBody>
          <a:bodyPr>
            <a:normAutofit fontScale="92500"/>
          </a:bodyPr>
          <a:lstStyle/>
          <a:p>
            <a:pPr marL="0" indent="0">
              <a:buNone/>
            </a:pPr>
            <a:r>
              <a:rPr lang="vi-VN" b="1" dirty="0">
                <a:latin typeface="Aptos" panose="020B0004020202020204" pitchFamily="34" charset="0"/>
              </a:rPr>
              <a:t>Mô hình hóa trò chơi:</a:t>
            </a:r>
            <a:r>
              <a:rPr lang="vi-VN" dirty="0">
                <a:latin typeface="Aptos" panose="020B0004020202020204" pitchFamily="34" charset="0"/>
              </a:rPr>
              <a:t> Biểu diễn các nước đi dưới dạng một </a:t>
            </a:r>
            <a:r>
              <a:rPr lang="vi-VN" b="1" dirty="0">
                <a:latin typeface="Aptos" panose="020B0004020202020204" pitchFamily="34" charset="0"/>
              </a:rPr>
              <a:t>Cây quyết định (</a:t>
            </a:r>
            <a:r>
              <a:rPr lang="vi-VN" b="1" dirty="0" err="1">
                <a:latin typeface="Aptos" panose="020B0004020202020204" pitchFamily="34" charset="0"/>
              </a:rPr>
              <a:t>Decision</a:t>
            </a:r>
            <a:r>
              <a:rPr lang="vi-VN" b="1" dirty="0">
                <a:latin typeface="Aptos" panose="020B0004020202020204" pitchFamily="34" charset="0"/>
              </a:rPr>
              <a:t> </a:t>
            </a:r>
            <a:r>
              <a:rPr lang="vi-VN" b="1" dirty="0" err="1">
                <a:latin typeface="Aptos" panose="020B0004020202020204" pitchFamily="34" charset="0"/>
              </a:rPr>
              <a:t>Tree</a:t>
            </a:r>
            <a:r>
              <a:rPr lang="vi-VN" b="1" dirty="0">
                <a:latin typeface="Aptos" panose="020B0004020202020204" pitchFamily="34" charset="0"/>
              </a:rPr>
              <a:t>)</a:t>
            </a:r>
            <a:r>
              <a:rPr lang="vi-VN" dirty="0">
                <a:latin typeface="Aptos" panose="020B0004020202020204" pitchFamily="34" charset="0"/>
              </a:rPr>
              <a:t>.</a:t>
            </a:r>
          </a:p>
          <a:p>
            <a:pPr marL="0" indent="0">
              <a:buNone/>
            </a:pPr>
            <a:r>
              <a:rPr lang="vi-VN" b="1" dirty="0">
                <a:latin typeface="Aptos" panose="020B0004020202020204" pitchFamily="34" charset="0"/>
              </a:rPr>
              <a:t>Giả định hoàn hảo: </a:t>
            </a:r>
            <a:r>
              <a:rPr lang="vi-VN" dirty="0">
                <a:latin typeface="Aptos" panose="020B0004020202020204" pitchFamily="34" charset="0"/>
              </a:rPr>
              <a:t>AI giả định rằng cả mình và đối thủ đều đưa ra những quyết định tối ưu nhất tại mỗi bước.</a:t>
            </a:r>
          </a:p>
          <a:p>
            <a:pPr marL="0" indent="0">
              <a:buNone/>
            </a:pPr>
            <a:r>
              <a:rPr lang="vi-VN" b="1" dirty="0">
                <a:latin typeface="Aptos" panose="020B0004020202020204" pitchFamily="34" charset="0"/>
              </a:rPr>
              <a:t>Hai mục tiêu đối lập:</a:t>
            </a:r>
            <a:endParaRPr lang="vi-VN" dirty="0">
              <a:latin typeface="Aptos" panose="020B0004020202020204" pitchFamily="34" charset="0"/>
            </a:endParaRPr>
          </a:p>
          <a:p>
            <a:pPr marL="0" indent="0">
              <a:buNone/>
            </a:pPr>
            <a:r>
              <a:rPr lang="vi-VN" b="1" dirty="0">
                <a:latin typeface="Aptos" panose="020B0004020202020204" pitchFamily="34" charset="0"/>
              </a:rPr>
              <a:t>MAX (AI):</a:t>
            </a:r>
            <a:r>
              <a:rPr lang="vi-VN" dirty="0">
                <a:latin typeface="Aptos" panose="020B0004020202020204" pitchFamily="34" charset="0"/>
              </a:rPr>
              <a:t> Cố gắng chọn nước đi để có kết quả cuối cùng </a:t>
            </a:r>
            <a:r>
              <a:rPr lang="vi-VN" b="1" dirty="0">
                <a:latin typeface="Aptos" panose="020B0004020202020204" pitchFamily="34" charset="0"/>
              </a:rPr>
              <a:t>lớn nhất</a:t>
            </a:r>
            <a:r>
              <a:rPr lang="vi-VN" dirty="0">
                <a:latin typeface="Aptos" panose="020B0004020202020204" pitchFamily="34" charset="0"/>
              </a:rPr>
              <a:t>.</a:t>
            </a:r>
          </a:p>
          <a:p>
            <a:pPr marL="0" indent="0">
              <a:buNone/>
            </a:pPr>
            <a:r>
              <a:rPr lang="vi-VN" b="1" dirty="0">
                <a:latin typeface="Aptos" panose="020B0004020202020204" pitchFamily="34" charset="0"/>
              </a:rPr>
              <a:t>MIN (Đối thủ):</a:t>
            </a:r>
            <a:r>
              <a:rPr lang="vi-VN" dirty="0">
                <a:latin typeface="Aptos" panose="020B0004020202020204" pitchFamily="34" charset="0"/>
              </a:rPr>
              <a:t> Cố gắng chọn nước đi để ép AI phải nhận kết quả </a:t>
            </a:r>
            <a:r>
              <a:rPr lang="vi-VN" b="1" dirty="0">
                <a:latin typeface="Aptos" panose="020B0004020202020204" pitchFamily="34" charset="0"/>
              </a:rPr>
              <a:t>nhỏ nhất</a:t>
            </a:r>
            <a:r>
              <a:rPr lang="vi-VN" dirty="0">
                <a:latin typeface="Aptos" panose="020B0004020202020204" pitchFamily="34" charset="0"/>
              </a:rPr>
              <a:t>.</a:t>
            </a:r>
          </a:p>
          <a:p>
            <a:pPr marL="0" indent="0">
              <a:buNone/>
            </a:pPr>
            <a:r>
              <a:rPr lang="vi-VN" b="1" dirty="0">
                <a:latin typeface="Aptos" panose="020B0004020202020204" pitchFamily="34" charset="0"/>
              </a:rPr>
              <a:t>Cơ chế đệ quy:</a:t>
            </a:r>
            <a:r>
              <a:rPr lang="vi-VN" dirty="0">
                <a:latin typeface="Aptos" panose="020B0004020202020204" pitchFamily="34" charset="0"/>
              </a:rPr>
              <a:t> Thuật toán duyệt sâu xuống các nước đi tương lai, sau đó truyền ngược giá trị từ dưới lên trên để đưa ra quyết định tại thời điểm hiện tại.</a:t>
            </a:r>
          </a:p>
          <a:p>
            <a:pPr marL="0" indent="0">
              <a:buNone/>
            </a:pPr>
            <a:endParaRPr lang="vi-VN" dirty="0">
              <a:latin typeface="Aptos" panose="020B0004020202020204" pitchFamily="34" charset="0"/>
            </a:endParaRPr>
          </a:p>
          <a:p>
            <a:pPr marL="0" indent="0">
              <a:buNone/>
            </a:pPr>
            <a:endParaRPr lang="vi-VN" dirty="0">
              <a:latin typeface="Aptos" panose="020B0004020202020204" pitchFamily="34" charset="0"/>
            </a:endParaRPr>
          </a:p>
        </p:txBody>
      </p:sp>
    </p:spTree>
    <p:extLst>
      <p:ext uri="{BB962C8B-B14F-4D97-AF65-F5344CB8AC3E}">
        <p14:creationId xmlns:p14="http://schemas.microsoft.com/office/powerpoint/2010/main" val="3803018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6F363-CE6F-52FA-596B-D1A90C167EE4}"/>
              </a:ext>
            </a:extLst>
          </p:cNvPr>
          <p:cNvSpPr>
            <a:spLocks noGrp="1"/>
          </p:cNvSpPr>
          <p:nvPr>
            <p:ph type="title"/>
          </p:nvPr>
        </p:nvSpPr>
        <p:spPr/>
        <p:txBody>
          <a:bodyPr>
            <a:normAutofit/>
          </a:bodyPr>
          <a:lstStyle/>
          <a:p>
            <a:r>
              <a:rPr lang="vi-VN" sz="3600" dirty="0">
                <a:latin typeface="Aptos" panose="020B0004020202020204" pitchFamily="34" charset="0"/>
              </a:rPr>
              <a:t>Các thành phần của cây </a:t>
            </a:r>
            <a:r>
              <a:rPr lang="vi-VN" sz="3600" dirty="0" err="1">
                <a:latin typeface="Aptos" panose="020B0004020202020204" pitchFamily="34" charset="0"/>
              </a:rPr>
              <a:t>Minimax</a:t>
            </a:r>
            <a:r>
              <a:rPr lang="vi-VN" sz="3600" dirty="0">
                <a:latin typeface="Aptos" panose="020B0004020202020204" pitchFamily="34" charset="0"/>
              </a:rPr>
              <a:t> trong </a:t>
            </a:r>
            <a:r>
              <a:rPr lang="vi-VN" sz="3600" dirty="0" err="1">
                <a:latin typeface="Aptos" panose="020B0004020202020204" pitchFamily="34" charset="0"/>
              </a:rPr>
              <a:t>ConnectX</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1A409360-49FF-4AF0-0056-B31F02F4A5DB}"/>
              </a:ext>
            </a:extLst>
          </p:cNvPr>
          <p:cNvSpPr>
            <a:spLocks noGrp="1"/>
          </p:cNvSpPr>
          <p:nvPr>
            <p:ph idx="1"/>
          </p:nvPr>
        </p:nvSpPr>
        <p:spPr>
          <a:xfrm>
            <a:off x="838200" y="1825625"/>
            <a:ext cx="10707356" cy="4351338"/>
          </a:xfrm>
        </p:spPr>
        <p:txBody>
          <a:bodyPr/>
          <a:lstStyle/>
          <a:p>
            <a:pPr marL="0" indent="0">
              <a:buNone/>
            </a:pPr>
            <a:r>
              <a:rPr lang="vi-VN" b="1" dirty="0">
                <a:latin typeface="Aptos" panose="020B0004020202020204" pitchFamily="34" charset="0"/>
              </a:rPr>
              <a:t>Nút gốc (</a:t>
            </a:r>
            <a:r>
              <a:rPr lang="vi-VN" b="1" dirty="0" err="1">
                <a:latin typeface="Aptos" panose="020B0004020202020204" pitchFamily="34" charset="0"/>
              </a:rPr>
              <a:t>Root</a:t>
            </a:r>
            <a:r>
              <a:rPr lang="vi-VN" b="1" dirty="0">
                <a:latin typeface="Aptos" panose="020B0004020202020204" pitchFamily="34" charset="0"/>
              </a:rPr>
              <a:t> </a:t>
            </a:r>
            <a:r>
              <a:rPr lang="vi-VN" b="1" dirty="0" err="1">
                <a:latin typeface="Aptos" panose="020B0004020202020204" pitchFamily="34" charset="0"/>
              </a:rPr>
              <a:t>node</a:t>
            </a:r>
            <a:r>
              <a:rPr lang="vi-VN" b="1" dirty="0">
                <a:latin typeface="Aptos" panose="020B0004020202020204" pitchFamily="34" charset="0"/>
              </a:rPr>
              <a:t>):</a:t>
            </a:r>
            <a:r>
              <a:rPr lang="vi-VN" dirty="0">
                <a:latin typeface="Aptos" panose="020B0004020202020204" pitchFamily="34" charset="0"/>
              </a:rPr>
              <a:t> Trạng thái bàn cờ hiện tại.</a:t>
            </a:r>
          </a:p>
          <a:p>
            <a:pPr marL="0" indent="0">
              <a:buNone/>
            </a:pPr>
            <a:r>
              <a:rPr lang="vi-VN" b="1" dirty="0">
                <a:latin typeface="Aptos" panose="020B0004020202020204" pitchFamily="34" charset="0"/>
              </a:rPr>
              <a:t>Các nút nhánh (</a:t>
            </a:r>
            <a:r>
              <a:rPr lang="vi-VN" b="1" dirty="0" err="1">
                <a:latin typeface="Aptos" panose="020B0004020202020204" pitchFamily="34" charset="0"/>
              </a:rPr>
              <a:t>Internal</a:t>
            </a:r>
            <a:r>
              <a:rPr lang="vi-VN" b="1" dirty="0">
                <a:latin typeface="Aptos" panose="020B0004020202020204" pitchFamily="34" charset="0"/>
              </a:rPr>
              <a:t> </a:t>
            </a:r>
            <a:r>
              <a:rPr lang="vi-VN" b="1" dirty="0" err="1">
                <a:latin typeface="Aptos" panose="020B0004020202020204" pitchFamily="34" charset="0"/>
              </a:rPr>
              <a:t>nodes</a:t>
            </a:r>
            <a:r>
              <a:rPr lang="vi-VN" b="1" dirty="0">
                <a:latin typeface="Aptos" panose="020B0004020202020204" pitchFamily="34" charset="0"/>
              </a:rPr>
              <a:t>):</a:t>
            </a:r>
            <a:r>
              <a:rPr lang="vi-VN" dirty="0">
                <a:latin typeface="Aptos" panose="020B0004020202020204" pitchFamily="34" charset="0"/>
              </a:rPr>
              <a:t> Các trạng thái giả định sau khi người chơi hoặc đối thủ đặt quân.</a:t>
            </a:r>
          </a:p>
          <a:p>
            <a:pPr marL="0" indent="0">
              <a:buNone/>
            </a:pPr>
            <a:r>
              <a:rPr lang="vi-VN" b="1" dirty="0">
                <a:latin typeface="Aptos" panose="020B0004020202020204" pitchFamily="34" charset="0"/>
              </a:rPr>
              <a:t>Nút lá (Terminal </a:t>
            </a:r>
            <a:r>
              <a:rPr lang="vi-VN" b="1" dirty="0" err="1">
                <a:latin typeface="Aptos" panose="020B0004020202020204" pitchFamily="34" charset="0"/>
              </a:rPr>
              <a:t>nodes</a:t>
            </a:r>
            <a:r>
              <a:rPr lang="vi-VN" b="1" dirty="0">
                <a:latin typeface="Aptos" panose="020B0004020202020204" pitchFamily="34" charset="0"/>
              </a:rPr>
              <a:t>):</a:t>
            </a:r>
            <a:r>
              <a:rPr lang="vi-VN" dirty="0">
                <a:latin typeface="Aptos" panose="020B0004020202020204" pitchFamily="34" charset="0"/>
              </a:rPr>
              <a:t> Trạng thái kết thúc </a:t>
            </a:r>
            <a:r>
              <a:rPr lang="vi-VN" dirty="0" err="1">
                <a:latin typeface="Aptos" panose="020B0004020202020204" pitchFamily="34" charset="0"/>
              </a:rPr>
              <a:t>game</a:t>
            </a:r>
            <a:r>
              <a:rPr lang="vi-VN" dirty="0">
                <a:latin typeface="Aptos" panose="020B0004020202020204" pitchFamily="34" charset="0"/>
              </a:rPr>
              <a:t> (Thắng/Thua/Hòa) hoặc giới hạn độ sâu cho phép.</a:t>
            </a:r>
          </a:p>
          <a:p>
            <a:pPr marL="0" indent="0">
              <a:buNone/>
            </a:pPr>
            <a:r>
              <a:rPr lang="vi-VN" b="1" dirty="0">
                <a:latin typeface="Aptos" panose="020B0004020202020204" pitchFamily="34" charset="0"/>
              </a:rPr>
              <a:t>Giá trị </a:t>
            </a:r>
            <a:r>
              <a:rPr lang="vi-VN" b="1" dirty="0" err="1">
                <a:latin typeface="Aptos" panose="020B0004020202020204" pitchFamily="34" charset="0"/>
              </a:rPr>
              <a:t>Minimax</a:t>
            </a:r>
            <a:r>
              <a:rPr lang="vi-VN" b="1" dirty="0">
                <a:latin typeface="Aptos" panose="020B0004020202020204" pitchFamily="34" charset="0"/>
              </a:rPr>
              <a:t>:</a:t>
            </a:r>
            <a:r>
              <a:rPr lang="vi-VN" dirty="0">
                <a:latin typeface="Aptos" panose="020B0004020202020204" pitchFamily="34" charset="0"/>
              </a:rPr>
              <a:t> Mỗi nút sẽ được gán một con số đại diện cho "độ tốt" của trạng thái đó. Giá trị này được quyết định bởi các nút con phía dưới nó.</a:t>
            </a:r>
          </a:p>
        </p:txBody>
      </p:sp>
    </p:spTree>
    <p:extLst>
      <p:ext uri="{BB962C8B-B14F-4D97-AF65-F5344CB8AC3E}">
        <p14:creationId xmlns:p14="http://schemas.microsoft.com/office/powerpoint/2010/main" val="3811302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16036-A26E-E158-A751-6DD5DA12091D}"/>
              </a:ext>
            </a:extLst>
          </p:cNvPr>
          <p:cNvSpPr>
            <a:spLocks noGrp="1"/>
          </p:cNvSpPr>
          <p:nvPr>
            <p:ph type="title"/>
          </p:nvPr>
        </p:nvSpPr>
        <p:spPr/>
        <p:txBody>
          <a:bodyPr>
            <a:normAutofit/>
          </a:bodyPr>
          <a:lstStyle/>
          <a:p>
            <a:r>
              <a:rPr lang="vi-VN" sz="3600" dirty="0">
                <a:latin typeface="Aptos" panose="020B0004020202020204" pitchFamily="34" charset="0"/>
              </a:rPr>
              <a:t>Cơ chế lan truyền</a:t>
            </a:r>
          </a:p>
        </p:txBody>
      </p:sp>
      <p:sp>
        <p:nvSpPr>
          <p:cNvPr id="3" name="Content Placeholder 2">
            <a:extLst>
              <a:ext uri="{FF2B5EF4-FFF2-40B4-BE49-F238E27FC236}">
                <a16:creationId xmlns:a16="http://schemas.microsoft.com/office/drawing/2014/main" id="{89B9D573-75E0-815B-7A3D-0DF871BCA00B}"/>
              </a:ext>
            </a:extLst>
          </p:cNvPr>
          <p:cNvSpPr>
            <a:spLocks noGrp="1"/>
          </p:cNvSpPr>
          <p:nvPr>
            <p:ph idx="1"/>
          </p:nvPr>
        </p:nvSpPr>
        <p:spPr/>
        <p:txBody>
          <a:bodyPr/>
          <a:lstStyle/>
          <a:p>
            <a:pPr marL="0" indent="0">
              <a:buNone/>
            </a:pPr>
            <a:r>
              <a:rPr lang="vi-VN" b="1" dirty="0">
                <a:latin typeface="Aptos" panose="020B0004020202020204" pitchFamily="34" charset="0"/>
              </a:rPr>
              <a:t>Tại tầng MAX:</a:t>
            </a:r>
            <a:r>
              <a:rPr lang="vi-VN" dirty="0">
                <a:latin typeface="Aptos" panose="020B0004020202020204" pitchFamily="34" charset="0"/>
              </a:rPr>
              <a:t> Giá trị của nút bằng </a:t>
            </a:r>
            <a:r>
              <a:rPr lang="vi-VN" b="1" dirty="0">
                <a:latin typeface="Aptos" panose="020B0004020202020204" pitchFamily="34" charset="0"/>
              </a:rPr>
              <a:t>Giá trị lớn nhất</a:t>
            </a:r>
            <a:r>
              <a:rPr lang="vi-VN" dirty="0">
                <a:latin typeface="Aptos" panose="020B0004020202020204" pitchFamily="34" charset="0"/>
              </a:rPr>
              <a:t> trong các nút con trực tiếp.</a:t>
            </a:r>
          </a:p>
          <a:p>
            <a:pPr marL="457200" lvl="1" indent="0">
              <a:buNone/>
            </a:pPr>
            <a:r>
              <a:rPr lang="vi-VN" b="1" i="1" dirty="0" err="1">
                <a:latin typeface="Aptos" panose="020B0004020202020204" pitchFamily="34" charset="0"/>
              </a:rPr>
              <a:t>Logic</a:t>
            </a:r>
            <a:r>
              <a:rPr lang="vi-VN" i="1" dirty="0">
                <a:latin typeface="Aptos" panose="020B0004020202020204" pitchFamily="34" charset="0"/>
              </a:rPr>
              <a:t>:</a:t>
            </a:r>
            <a:r>
              <a:rPr lang="vi-VN" dirty="0">
                <a:latin typeface="Aptos" panose="020B0004020202020204" pitchFamily="34" charset="0"/>
              </a:rPr>
              <a:t> "Trong các khả năng tôi có thể đi, tôi chọn cái tốt nhất."</a:t>
            </a:r>
          </a:p>
          <a:p>
            <a:pPr marL="0" indent="0">
              <a:buNone/>
            </a:pPr>
            <a:r>
              <a:rPr lang="vi-VN" b="1" dirty="0">
                <a:latin typeface="Aptos" panose="020B0004020202020204" pitchFamily="34" charset="0"/>
              </a:rPr>
              <a:t>Tại tầng MIN:</a:t>
            </a:r>
            <a:r>
              <a:rPr lang="vi-VN" dirty="0">
                <a:latin typeface="Aptos" panose="020B0004020202020204" pitchFamily="34" charset="0"/>
              </a:rPr>
              <a:t> Giá trị của nút bằng </a:t>
            </a:r>
            <a:r>
              <a:rPr lang="vi-VN" b="1" dirty="0">
                <a:latin typeface="Aptos" panose="020B0004020202020204" pitchFamily="34" charset="0"/>
              </a:rPr>
              <a:t>Giá trị nhỏ nhất</a:t>
            </a:r>
            <a:r>
              <a:rPr lang="vi-VN" dirty="0">
                <a:latin typeface="Aptos" panose="020B0004020202020204" pitchFamily="34" charset="0"/>
              </a:rPr>
              <a:t> trong các nút con trực tiếp.</a:t>
            </a:r>
          </a:p>
          <a:p>
            <a:pPr marL="457200" lvl="1" indent="0">
              <a:buNone/>
            </a:pPr>
            <a:r>
              <a:rPr lang="vi-VN" b="1" i="1" dirty="0" err="1">
                <a:latin typeface="Aptos" panose="020B0004020202020204" pitchFamily="34" charset="0"/>
              </a:rPr>
              <a:t>Logic</a:t>
            </a:r>
            <a:r>
              <a:rPr lang="vi-VN" i="1" dirty="0">
                <a:latin typeface="Aptos" panose="020B0004020202020204" pitchFamily="34" charset="0"/>
              </a:rPr>
              <a:t>:</a:t>
            </a:r>
            <a:r>
              <a:rPr lang="vi-VN" dirty="0">
                <a:latin typeface="Aptos" panose="020B0004020202020204" pitchFamily="34" charset="0"/>
              </a:rPr>
              <a:t> "Tôi biết đối thủ sẽ chọn cái gây hại nhất cho tôi trong các nước họ có."</a:t>
            </a:r>
          </a:p>
          <a:p>
            <a:pPr marL="0" indent="0">
              <a:buNone/>
            </a:pPr>
            <a:r>
              <a:rPr lang="vi-VN" b="1" dirty="0">
                <a:latin typeface="Aptos" panose="020B0004020202020204" pitchFamily="34" charset="0"/>
              </a:rPr>
              <a:t>Kết luận:</a:t>
            </a:r>
            <a:r>
              <a:rPr lang="vi-VN" dirty="0">
                <a:latin typeface="Aptos" panose="020B0004020202020204" pitchFamily="34" charset="0"/>
              </a:rPr>
              <a:t> Nước đi cuối cùng là nhánh dẫn đến giá trị cao nhất tại nút gốc.</a:t>
            </a:r>
          </a:p>
        </p:txBody>
      </p:sp>
    </p:spTree>
    <p:extLst>
      <p:ext uri="{BB962C8B-B14F-4D97-AF65-F5344CB8AC3E}">
        <p14:creationId xmlns:p14="http://schemas.microsoft.com/office/powerpoint/2010/main" val="1859955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Connector 3">
            <a:extLst>
              <a:ext uri="{FF2B5EF4-FFF2-40B4-BE49-F238E27FC236}">
                <a16:creationId xmlns:a16="http://schemas.microsoft.com/office/drawing/2014/main" id="{C27FADE2-A8F4-8C2B-9856-E7D643D91676}"/>
              </a:ext>
            </a:extLst>
          </p:cNvPr>
          <p:cNvSpPr/>
          <p:nvPr/>
        </p:nvSpPr>
        <p:spPr>
          <a:xfrm>
            <a:off x="5815780" y="50636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effectLst>
                  <a:outerShdw blurRad="38100" dist="19050" dir="2700000" algn="tl" rotWithShape="0">
                    <a:schemeClr val="dk1">
                      <a:alpha val="40000"/>
                    </a:schemeClr>
                  </a:outerShdw>
                </a:effectLst>
              </a:rPr>
              <a:t>8</a:t>
            </a: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6B946826-B92F-F329-0B58-E2FED292AC34}"/>
              </a:ext>
            </a:extLst>
          </p:cNvPr>
          <p:cNvCxnSpPr>
            <a:cxnSpLocks/>
            <a:stCxn id="4" idx="3"/>
            <a:endCxn id="11" idx="7"/>
          </p:cNvCxnSpPr>
          <p:nvPr/>
        </p:nvCxnSpPr>
        <p:spPr>
          <a:xfrm flipH="1">
            <a:off x="2204091" y="1001510"/>
            <a:ext cx="3693763" cy="780245"/>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B0A2AB37-7198-4DC0-A9FC-121931D4F8B2}"/>
              </a:ext>
            </a:extLst>
          </p:cNvPr>
          <p:cNvCxnSpPr>
            <a:cxnSpLocks/>
            <a:endCxn id="13" idx="0"/>
          </p:cNvCxnSpPr>
          <p:nvPr/>
        </p:nvCxnSpPr>
        <p:spPr>
          <a:xfrm>
            <a:off x="6095999" y="1079132"/>
            <a:ext cx="2251" cy="604338"/>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B7797128-FD3B-B98C-F0F2-2BB4351C17F7}"/>
              </a:ext>
            </a:extLst>
          </p:cNvPr>
          <p:cNvCxnSpPr>
            <a:cxnSpLocks/>
            <a:stCxn id="4" idx="5"/>
            <a:endCxn id="15" idx="1"/>
          </p:cNvCxnSpPr>
          <p:nvPr/>
        </p:nvCxnSpPr>
        <p:spPr>
          <a:xfrm>
            <a:off x="6294145" y="1001510"/>
            <a:ext cx="3998297" cy="865199"/>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C3BDFA2D-398A-6447-A44E-81DD833D77CC}"/>
              </a:ext>
            </a:extLst>
          </p:cNvPr>
          <p:cNvSpPr/>
          <p:nvPr/>
        </p:nvSpPr>
        <p:spPr>
          <a:xfrm>
            <a:off x="1725726" y="169680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6</a:t>
            </a:r>
            <a:endParaRPr lang="vi-VN" dirty="0">
              <a:ln w="0"/>
              <a:solidFill>
                <a:schemeClr val="tx1"/>
              </a:solidFill>
              <a:effectLst>
                <a:outerShdw blurRad="38100" dist="19050" dir="2700000" algn="tl" rotWithShape="0">
                  <a:schemeClr val="dk1">
                    <a:alpha val="40000"/>
                  </a:schemeClr>
                </a:outerShdw>
              </a:effectLst>
            </a:endParaRPr>
          </a:p>
        </p:txBody>
      </p:sp>
      <p:sp>
        <p:nvSpPr>
          <p:cNvPr id="13" name="Flowchart: Connector 12">
            <a:extLst>
              <a:ext uri="{FF2B5EF4-FFF2-40B4-BE49-F238E27FC236}">
                <a16:creationId xmlns:a16="http://schemas.microsoft.com/office/drawing/2014/main" id="{92C4345A-33F9-8401-628A-09C1E06A92B9}"/>
              </a:ext>
            </a:extLst>
          </p:cNvPr>
          <p:cNvSpPr/>
          <p:nvPr/>
        </p:nvSpPr>
        <p:spPr>
          <a:xfrm>
            <a:off x="5818030" y="1683470"/>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endParaRPr lang="vi-VN" dirty="0">
              <a:ln w="0"/>
              <a:solidFill>
                <a:schemeClr val="tx1"/>
              </a:solidFill>
              <a:effectLst>
                <a:outerShdw blurRad="38100" dist="19050" dir="2700000" algn="tl" rotWithShape="0">
                  <a:schemeClr val="dk1">
                    <a:alpha val="40000"/>
                  </a:schemeClr>
                </a:outerShdw>
              </a:effectLst>
            </a:endParaRPr>
          </a:p>
        </p:txBody>
      </p:sp>
      <p:sp>
        <p:nvSpPr>
          <p:cNvPr id="15" name="Flowchart: Connector 14">
            <a:extLst>
              <a:ext uri="{FF2B5EF4-FFF2-40B4-BE49-F238E27FC236}">
                <a16:creationId xmlns:a16="http://schemas.microsoft.com/office/drawing/2014/main" id="{F2A89ABD-2CB5-BBB8-5CB9-337448BD00C7}"/>
              </a:ext>
            </a:extLst>
          </p:cNvPr>
          <p:cNvSpPr/>
          <p:nvPr/>
        </p:nvSpPr>
        <p:spPr>
          <a:xfrm>
            <a:off x="10210368" y="178175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8</a:t>
            </a: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4F5767D6-B132-CA7C-6954-32293C7BE463}"/>
              </a:ext>
            </a:extLst>
          </p:cNvPr>
          <p:cNvCxnSpPr>
            <a:cxnSpLocks/>
            <a:stCxn id="11" idx="3"/>
            <a:endCxn id="42" idx="7"/>
          </p:cNvCxnSpPr>
          <p:nvPr/>
        </p:nvCxnSpPr>
        <p:spPr>
          <a:xfrm flipH="1">
            <a:off x="992480" y="2191950"/>
            <a:ext cx="815320" cy="820275"/>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B421CB4F-860A-DE05-49DD-EB49BC5838AE}"/>
              </a:ext>
            </a:extLst>
          </p:cNvPr>
          <p:cNvCxnSpPr>
            <a:cxnSpLocks/>
            <a:stCxn id="11" idx="5"/>
            <a:endCxn id="41" idx="1"/>
          </p:cNvCxnSpPr>
          <p:nvPr/>
        </p:nvCxnSpPr>
        <p:spPr>
          <a:xfrm>
            <a:off x="2204091" y="2191950"/>
            <a:ext cx="711395" cy="797869"/>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3C17FE84-8DB8-BDEF-E3EB-307AD7F5B6BF}"/>
              </a:ext>
            </a:extLst>
          </p:cNvPr>
          <p:cNvCxnSpPr>
            <a:cxnSpLocks/>
            <a:stCxn id="13" idx="3"/>
            <a:endCxn id="46" idx="0"/>
          </p:cNvCxnSpPr>
          <p:nvPr/>
        </p:nvCxnSpPr>
        <p:spPr>
          <a:xfrm flipH="1">
            <a:off x="5139075" y="2178619"/>
            <a:ext cx="761029" cy="809006"/>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1D8867C2-B471-AB20-D449-34A06707FB6C}"/>
              </a:ext>
            </a:extLst>
          </p:cNvPr>
          <p:cNvCxnSpPr>
            <a:cxnSpLocks/>
            <a:endCxn id="47" idx="1"/>
          </p:cNvCxnSpPr>
          <p:nvPr/>
        </p:nvCxnSpPr>
        <p:spPr>
          <a:xfrm>
            <a:off x="6209230" y="2217907"/>
            <a:ext cx="801928" cy="848394"/>
          </a:xfrm>
          <a:prstGeom prst="line">
            <a:avLst/>
          </a:prstGeom>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D5FD6683-7F01-E130-FDAC-667654ADD86A}"/>
              </a:ext>
            </a:extLst>
          </p:cNvPr>
          <p:cNvCxnSpPr>
            <a:cxnSpLocks/>
            <a:stCxn id="15" idx="5"/>
            <a:endCxn id="44" idx="1"/>
          </p:cNvCxnSpPr>
          <p:nvPr/>
        </p:nvCxnSpPr>
        <p:spPr>
          <a:xfrm>
            <a:off x="10688733" y="2276904"/>
            <a:ext cx="482378" cy="857793"/>
          </a:xfrm>
          <a:prstGeom prst="line">
            <a:avLst/>
          </a:prstGeom>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53911DBB-F920-3E8B-B614-7F8FCA3A484C}"/>
              </a:ext>
            </a:extLst>
          </p:cNvPr>
          <p:cNvCxnSpPr>
            <a:cxnSpLocks/>
            <a:stCxn id="15" idx="3"/>
            <a:endCxn id="45" idx="7"/>
          </p:cNvCxnSpPr>
          <p:nvPr/>
        </p:nvCxnSpPr>
        <p:spPr>
          <a:xfrm flipH="1">
            <a:off x="9733751" y="2276904"/>
            <a:ext cx="558691" cy="857793"/>
          </a:xfrm>
          <a:prstGeom prst="line">
            <a:avLst/>
          </a:prstGeom>
        </p:spPr>
        <p:style>
          <a:lnRef idx="2">
            <a:schemeClr val="dk1"/>
          </a:lnRef>
          <a:fillRef idx="0">
            <a:schemeClr val="dk1"/>
          </a:fillRef>
          <a:effectRef idx="1">
            <a:schemeClr val="dk1"/>
          </a:effectRef>
          <a:fontRef idx="minor">
            <a:schemeClr val="tx1"/>
          </a:fontRef>
        </p:style>
      </p:cxnSp>
      <p:sp>
        <p:nvSpPr>
          <p:cNvPr id="41" name="Flowchart: Connector 40">
            <a:extLst>
              <a:ext uri="{FF2B5EF4-FFF2-40B4-BE49-F238E27FC236}">
                <a16:creationId xmlns:a16="http://schemas.microsoft.com/office/drawing/2014/main" id="{4C342175-105E-895B-878C-3E533D9B55DC}"/>
              </a:ext>
            </a:extLst>
          </p:cNvPr>
          <p:cNvSpPr/>
          <p:nvPr/>
        </p:nvSpPr>
        <p:spPr>
          <a:xfrm>
            <a:off x="2833412" y="2904865"/>
            <a:ext cx="560439" cy="580104"/>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9</a:t>
            </a:r>
            <a:endParaRPr lang="vi-VN" dirty="0">
              <a:ln w="0"/>
              <a:solidFill>
                <a:schemeClr val="tx1"/>
              </a:solidFill>
              <a:effectLst>
                <a:outerShdw blurRad="38100" dist="19050" dir="2700000" algn="tl" rotWithShape="0">
                  <a:schemeClr val="dk1">
                    <a:alpha val="40000"/>
                  </a:schemeClr>
                </a:outerShdw>
              </a:effectLst>
            </a:endParaRPr>
          </a:p>
        </p:txBody>
      </p:sp>
      <p:sp>
        <p:nvSpPr>
          <p:cNvPr id="42" name="Flowchart: Connector 41">
            <a:extLst>
              <a:ext uri="{FF2B5EF4-FFF2-40B4-BE49-F238E27FC236}">
                <a16:creationId xmlns:a16="http://schemas.microsoft.com/office/drawing/2014/main" id="{9A03331D-3086-1041-C001-BED937FA5270}"/>
              </a:ext>
            </a:extLst>
          </p:cNvPr>
          <p:cNvSpPr/>
          <p:nvPr/>
        </p:nvSpPr>
        <p:spPr>
          <a:xfrm>
            <a:off x="514115" y="292727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6</a:t>
            </a:r>
            <a:endParaRPr lang="vi-VN" dirty="0">
              <a:ln w="0"/>
              <a:solidFill>
                <a:schemeClr val="tx1"/>
              </a:solidFill>
              <a:effectLst>
                <a:outerShdw blurRad="38100" dist="19050" dir="2700000" algn="tl" rotWithShape="0">
                  <a:schemeClr val="dk1">
                    <a:alpha val="40000"/>
                  </a:schemeClr>
                </a:outerShdw>
              </a:effectLst>
            </a:endParaRPr>
          </a:p>
        </p:txBody>
      </p:sp>
      <p:sp>
        <p:nvSpPr>
          <p:cNvPr id="44" name="Flowchart: Connector 43">
            <a:extLst>
              <a:ext uri="{FF2B5EF4-FFF2-40B4-BE49-F238E27FC236}">
                <a16:creationId xmlns:a16="http://schemas.microsoft.com/office/drawing/2014/main" id="{B41FEAB0-F0C4-7B98-BAFE-C51BE51458EE}"/>
              </a:ext>
            </a:extLst>
          </p:cNvPr>
          <p:cNvSpPr/>
          <p:nvPr/>
        </p:nvSpPr>
        <p:spPr>
          <a:xfrm>
            <a:off x="11089036" y="3049743"/>
            <a:ext cx="560440"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9</a:t>
            </a:r>
            <a:endParaRPr lang="vi-VN" dirty="0">
              <a:ln w="0"/>
              <a:solidFill>
                <a:schemeClr val="tx1"/>
              </a:solidFill>
              <a:effectLst>
                <a:outerShdw blurRad="38100" dist="19050" dir="2700000" algn="tl" rotWithShape="0">
                  <a:schemeClr val="dk1">
                    <a:alpha val="40000"/>
                  </a:schemeClr>
                </a:outerShdw>
              </a:effectLst>
            </a:endParaRPr>
          </a:p>
        </p:txBody>
      </p:sp>
      <p:sp>
        <p:nvSpPr>
          <p:cNvPr id="45" name="Flowchart: Connector 44">
            <a:extLst>
              <a:ext uri="{FF2B5EF4-FFF2-40B4-BE49-F238E27FC236}">
                <a16:creationId xmlns:a16="http://schemas.microsoft.com/office/drawing/2014/main" id="{06C0028F-E415-56CF-FC1F-06F16AA18042}"/>
              </a:ext>
            </a:extLst>
          </p:cNvPr>
          <p:cNvSpPr/>
          <p:nvPr/>
        </p:nvSpPr>
        <p:spPr>
          <a:xfrm>
            <a:off x="9255386" y="3049743"/>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8</a:t>
            </a:r>
            <a:endParaRPr lang="vi-VN" dirty="0">
              <a:ln w="0"/>
              <a:solidFill>
                <a:schemeClr val="tx1"/>
              </a:solidFill>
              <a:effectLst>
                <a:outerShdw blurRad="38100" dist="19050" dir="2700000" algn="tl" rotWithShape="0">
                  <a:schemeClr val="dk1">
                    <a:alpha val="40000"/>
                  </a:schemeClr>
                </a:outerShdw>
              </a:effectLst>
            </a:endParaRPr>
          </a:p>
        </p:txBody>
      </p:sp>
      <p:sp>
        <p:nvSpPr>
          <p:cNvPr id="46" name="Flowchart: Connector 45">
            <a:extLst>
              <a:ext uri="{FF2B5EF4-FFF2-40B4-BE49-F238E27FC236}">
                <a16:creationId xmlns:a16="http://schemas.microsoft.com/office/drawing/2014/main" id="{A8A4B519-3B68-4323-B613-B899158E4A6A}"/>
              </a:ext>
            </a:extLst>
          </p:cNvPr>
          <p:cNvSpPr/>
          <p:nvPr/>
        </p:nvSpPr>
        <p:spPr>
          <a:xfrm>
            <a:off x="4858855" y="298762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endParaRPr lang="vi-VN" dirty="0">
              <a:ln w="0"/>
              <a:solidFill>
                <a:schemeClr val="tx1"/>
              </a:solidFill>
              <a:effectLst>
                <a:outerShdw blurRad="38100" dist="19050" dir="2700000" algn="tl" rotWithShape="0">
                  <a:schemeClr val="dk1">
                    <a:alpha val="40000"/>
                  </a:schemeClr>
                </a:outerShdw>
              </a:effectLst>
            </a:endParaRPr>
          </a:p>
        </p:txBody>
      </p:sp>
      <p:sp>
        <p:nvSpPr>
          <p:cNvPr id="47" name="Flowchart: Connector 46">
            <a:extLst>
              <a:ext uri="{FF2B5EF4-FFF2-40B4-BE49-F238E27FC236}">
                <a16:creationId xmlns:a16="http://schemas.microsoft.com/office/drawing/2014/main" id="{2F77F2DA-ECB9-959D-0405-F858F72F3479}"/>
              </a:ext>
            </a:extLst>
          </p:cNvPr>
          <p:cNvSpPr/>
          <p:nvPr/>
        </p:nvSpPr>
        <p:spPr>
          <a:xfrm>
            <a:off x="6929084" y="298134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0426BA8A-9FE6-497F-9342-BDC1A7DFF6B9}"/>
              </a:ext>
            </a:extLst>
          </p:cNvPr>
          <p:cNvCxnSpPr>
            <a:cxnSpLocks/>
            <a:stCxn id="42" idx="5"/>
            <a:endCxn id="59" idx="0"/>
          </p:cNvCxnSpPr>
          <p:nvPr/>
        </p:nvCxnSpPr>
        <p:spPr>
          <a:xfrm>
            <a:off x="992480" y="3422420"/>
            <a:ext cx="280220" cy="820275"/>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3DB117E2-D337-D4D8-8CE4-8C3F5BCEE57E}"/>
              </a:ext>
            </a:extLst>
          </p:cNvPr>
          <p:cNvCxnSpPr>
            <a:cxnSpLocks/>
            <a:stCxn id="42" idx="3"/>
            <a:endCxn id="60" idx="0"/>
          </p:cNvCxnSpPr>
          <p:nvPr/>
        </p:nvCxnSpPr>
        <p:spPr>
          <a:xfrm flipH="1">
            <a:off x="324630" y="3422420"/>
            <a:ext cx="271559" cy="79426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A3B93221-8D86-FB1D-B517-5D9BFB5631B3}"/>
              </a:ext>
            </a:extLst>
          </p:cNvPr>
          <p:cNvSpPr/>
          <p:nvPr/>
        </p:nvSpPr>
        <p:spPr>
          <a:xfrm>
            <a:off x="992480" y="424269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6</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B6EB3768-DA6D-F44D-0A1E-F419D07E803D}"/>
              </a:ext>
            </a:extLst>
          </p:cNvPr>
          <p:cNvSpPr/>
          <p:nvPr/>
        </p:nvSpPr>
        <p:spPr>
          <a:xfrm>
            <a:off x="44410" y="4216680"/>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4</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77" name="Straight Connector 76">
            <a:extLst>
              <a:ext uri="{FF2B5EF4-FFF2-40B4-BE49-F238E27FC236}">
                <a16:creationId xmlns:a16="http://schemas.microsoft.com/office/drawing/2014/main" id="{FC5E47DE-61AE-11B0-88A6-BB4C67903789}"/>
              </a:ext>
            </a:extLst>
          </p:cNvPr>
          <p:cNvCxnSpPr>
            <a:cxnSpLocks/>
            <a:endCxn id="79" idx="0"/>
          </p:cNvCxnSpPr>
          <p:nvPr/>
        </p:nvCxnSpPr>
        <p:spPr>
          <a:xfrm>
            <a:off x="3314036" y="3400014"/>
            <a:ext cx="369072" cy="769718"/>
          </a:xfrm>
          <a:prstGeom prst="line">
            <a:avLst/>
          </a:prstGeom>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0E74C6F4-551D-0542-C83A-113BEDCCD8F4}"/>
              </a:ext>
            </a:extLst>
          </p:cNvPr>
          <p:cNvCxnSpPr>
            <a:cxnSpLocks/>
            <a:endCxn id="80" idx="0"/>
          </p:cNvCxnSpPr>
          <p:nvPr/>
        </p:nvCxnSpPr>
        <p:spPr>
          <a:xfrm flipH="1">
            <a:off x="2566385" y="3400014"/>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79" name="Flowchart: Connector 78">
            <a:extLst>
              <a:ext uri="{FF2B5EF4-FFF2-40B4-BE49-F238E27FC236}">
                <a16:creationId xmlns:a16="http://schemas.microsoft.com/office/drawing/2014/main" id="{2D5AB263-A288-D2FA-DFC8-810DD71F7AE4}"/>
              </a:ext>
            </a:extLst>
          </p:cNvPr>
          <p:cNvSpPr/>
          <p:nvPr/>
        </p:nvSpPr>
        <p:spPr>
          <a:xfrm>
            <a:off x="3402888" y="4169732"/>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80" name="Flowchart: Connector 79">
            <a:extLst>
              <a:ext uri="{FF2B5EF4-FFF2-40B4-BE49-F238E27FC236}">
                <a16:creationId xmlns:a16="http://schemas.microsoft.com/office/drawing/2014/main" id="{6AADEFB9-2761-E1B5-5A9C-E213E7F11FE9}"/>
              </a:ext>
            </a:extLst>
          </p:cNvPr>
          <p:cNvSpPr/>
          <p:nvPr/>
        </p:nvSpPr>
        <p:spPr>
          <a:xfrm>
            <a:off x="2286165" y="416973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98" name="Straight Connector 97">
            <a:extLst>
              <a:ext uri="{FF2B5EF4-FFF2-40B4-BE49-F238E27FC236}">
                <a16:creationId xmlns:a16="http://schemas.microsoft.com/office/drawing/2014/main" id="{775FD7AD-6C4C-67B0-F72A-E08CA1B2F7CB}"/>
              </a:ext>
            </a:extLst>
          </p:cNvPr>
          <p:cNvCxnSpPr>
            <a:cxnSpLocks/>
            <a:stCxn id="46" idx="5"/>
            <a:endCxn id="100" idx="0"/>
          </p:cNvCxnSpPr>
          <p:nvPr/>
        </p:nvCxnSpPr>
        <p:spPr>
          <a:xfrm>
            <a:off x="5337220" y="3482774"/>
            <a:ext cx="280415" cy="710720"/>
          </a:xfrm>
          <a:prstGeom prst="line">
            <a:avLst/>
          </a:prstGeom>
        </p:spPr>
        <p:style>
          <a:lnRef idx="2">
            <a:schemeClr val="dk1"/>
          </a:lnRef>
          <a:fillRef idx="0">
            <a:schemeClr val="dk1"/>
          </a:fillRef>
          <a:effectRef idx="1">
            <a:schemeClr val="dk1"/>
          </a:effectRef>
          <a:fontRef idx="minor">
            <a:schemeClr val="tx1"/>
          </a:fontRef>
        </p:style>
      </p:cxnSp>
      <p:cxnSp>
        <p:nvCxnSpPr>
          <p:cNvPr id="99" name="Straight Connector 98">
            <a:extLst>
              <a:ext uri="{FF2B5EF4-FFF2-40B4-BE49-F238E27FC236}">
                <a16:creationId xmlns:a16="http://schemas.microsoft.com/office/drawing/2014/main" id="{67ED108D-7CF5-A0E0-BCCA-8ABD95A604C5}"/>
              </a:ext>
            </a:extLst>
          </p:cNvPr>
          <p:cNvCxnSpPr>
            <a:cxnSpLocks/>
            <a:stCxn id="46" idx="3"/>
            <a:endCxn id="101" idx="0"/>
          </p:cNvCxnSpPr>
          <p:nvPr/>
        </p:nvCxnSpPr>
        <p:spPr>
          <a:xfrm flipH="1">
            <a:off x="4669553" y="3482774"/>
            <a:ext cx="271376" cy="710721"/>
          </a:xfrm>
          <a:prstGeom prst="line">
            <a:avLst/>
          </a:prstGeom>
        </p:spPr>
        <p:style>
          <a:lnRef idx="2">
            <a:schemeClr val="dk1"/>
          </a:lnRef>
          <a:fillRef idx="0">
            <a:schemeClr val="dk1"/>
          </a:fillRef>
          <a:effectRef idx="1">
            <a:schemeClr val="dk1"/>
          </a:effectRef>
          <a:fontRef idx="minor">
            <a:schemeClr val="tx1"/>
          </a:fontRef>
        </p:style>
      </p:cxnSp>
      <p:sp>
        <p:nvSpPr>
          <p:cNvPr id="100" name="Flowchart: Connector 99">
            <a:extLst>
              <a:ext uri="{FF2B5EF4-FFF2-40B4-BE49-F238E27FC236}">
                <a16:creationId xmlns:a16="http://schemas.microsoft.com/office/drawing/2014/main" id="{BA602E5B-8F2C-A4CE-405A-E19930B176C5}"/>
              </a:ext>
            </a:extLst>
          </p:cNvPr>
          <p:cNvSpPr/>
          <p:nvPr/>
        </p:nvSpPr>
        <p:spPr>
          <a:xfrm>
            <a:off x="5337415" y="4193494"/>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2</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01" name="Flowchart: Connector 100">
            <a:extLst>
              <a:ext uri="{FF2B5EF4-FFF2-40B4-BE49-F238E27FC236}">
                <a16:creationId xmlns:a16="http://schemas.microsoft.com/office/drawing/2014/main" id="{6BDBF38E-CB02-71C7-38F8-4E358B1D9025}"/>
              </a:ext>
            </a:extLst>
          </p:cNvPr>
          <p:cNvSpPr/>
          <p:nvPr/>
        </p:nvSpPr>
        <p:spPr>
          <a:xfrm>
            <a:off x="4389333" y="419349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11" name="Straight Connector 110">
            <a:extLst>
              <a:ext uri="{FF2B5EF4-FFF2-40B4-BE49-F238E27FC236}">
                <a16:creationId xmlns:a16="http://schemas.microsoft.com/office/drawing/2014/main" id="{E7E93C8F-3F22-A190-69A1-753C08A7EE82}"/>
              </a:ext>
            </a:extLst>
          </p:cNvPr>
          <p:cNvCxnSpPr>
            <a:cxnSpLocks/>
            <a:endCxn id="113" idx="0"/>
          </p:cNvCxnSpPr>
          <p:nvPr/>
        </p:nvCxnSpPr>
        <p:spPr>
          <a:xfrm>
            <a:off x="7412750" y="3482774"/>
            <a:ext cx="369072" cy="769718"/>
          </a:xfrm>
          <a:prstGeom prst="line">
            <a:avLst/>
          </a:prstGeom>
        </p:spPr>
        <p:style>
          <a:lnRef idx="2">
            <a:schemeClr val="dk1"/>
          </a:lnRef>
          <a:fillRef idx="0">
            <a:schemeClr val="dk1"/>
          </a:fillRef>
          <a:effectRef idx="1">
            <a:schemeClr val="dk1"/>
          </a:effectRef>
          <a:fontRef idx="minor">
            <a:schemeClr val="tx1"/>
          </a:fontRef>
        </p:style>
      </p:cxnSp>
      <p:cxnSp>
        <p:nvCxnSpPr>
          <p:cNvPr id="112" name="Straight Connector 111">
            <a:extLst>
              <a:ext uri="{FF2B5EF4-FFF2-40B4-BE49-F238E27FC236}">
                <a16:creationId xmlns:a16="http://schemas.microsoft.com/office/drawing/2014/main" id="{C8153E63-473B-EB70-6898-7C5E1F7892A0}"/>
              </a:ext>
            </a:extLst>
          </p:cNvPr>
          <p:cNvCxnSpPr>
            <a:cxnSpLocks/>
            <a:endCxn id="114" idx="0"/>
          </p:cNvCxnSpPr>
          <p:nvPr/>
        </p:nvCxnSpPr>
        <p:spPr>
          <a:xfrm flipH="1">
            <a:off x="6665099" y="3482774"/>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113" name="Flowchart: Connector 112">
            <a:extLst>
              <a:ext uri="{FF2B5EF4-FFF2-40B4-BE49-F238E27FC236}">
                <a16:creationId xmlns:a16="http://schemas.microsoft.com/office/drawing/2014/main" id="{21396DE6-1334-F9CB-3AAD-B9890093EFD6}"/>
              </a:ext>
            </a:extLst>
          </p:cNvPr>
          <p:cNvSpPr/>
          <p:nvPr/>
        </p:nvSpPr>
        <p:spPr>
          <a:xfrm>
            <a:off x="7501602" y="4252492"/>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14" name="Flowchart: Connector 113">
            <a:extLst>
              <a:ext uri="{FF2B5EF4-FFF2-40B4-BE49-F238E27FC236}">
                <a16:creationId xmlns:a16="http://schemas.microsoft.com/office/drawing/2014/main" id="{9B56EA3E-EA61-809A-F516-785BECAD215A}"/>
              </a:ext>
            </a:extLst>
          </p:cNvPr>
          <p:cNvSpPr/>
          <p:nvPr/>
        </p:nvSpPr>
        <p:spPr>
          <a:xfrm>
            <a:off x="6384879" y="425249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15" name="Straight Connector 114">
            <a:extLst>
              <a:ext uri="{FF2B5EF4-FFF2-40B4-BE49-F238E27FC236}">
                <a16:creationId xmlns:a16="http://schemas.microsoft.com/office/drawing/2014/main" id="{68F2FEF0-6F13-570B-EC89-DB7ABD30128D}"/>
              </a:ext>
            </a:extLst>
          </p:cNvPr>
          <p:cNvCxnSpPr>
            <a:cxnSpLocks/>
          </p:cNvCxnSpPr>
          <p:nvPr/>
        </p:nvCxnSpPr>
        <p:spPr>
          <a:xfrm>
            <a:off x="9721299" y="3561450"/>
            <a:ext cx="369072" cy="769718"/>
          </a:xfrm>
          <a:prstGeom prst="line">
            <a:avLst/>
          </a:prstGeom>
        </p:spPr>
        <p:style>
          <a:lnRef idx="2">
            <a:schemeClr val="dk1"/>
          </a:lnRef>
          <a:fillRef idx="0">
            <a:schemeClr val="dk1"/>
          </a:fillRef>
          <a:effectRef idx="1">
            <a:schemeClr val="dk1"/>
          </a:effectRef>
          <a:fontRef idx="minor">
            <a:schemeClr val="tx1"/>
          </a:fontRef>
        </p:style>
      </p:cxnSp>
      <p:cxnSp>
        <p:nvCxnSpPr>
          <p:cNvPr id="116" name="Straight Connector 115">
            <a:extLst>
              <a:ext uri="{FF2B5EF4-FFF2-40B4-BE49-F238E27FC236}">
                <a16:creationId xmlns:a16="http://schemas.microsoft.com/office/drawing/2014/main" id="{00D65E59-550A-2A60-7DE0-D760E73C8FF3}"/>
              </a:ext>
            </a:extLst>
          </p:cNvPr>
          <p:cNvCxnSpPr>
            <a:cxnSpLocks/>
            <a:endCxn id="118" idx="0"/>
          </p:cNvCxnSpPr>
          <p:nvPr/>
        </p:nvCxnSpPr>
        <p:spPr>
          <a:xfrm flipH="1">
            <a:off x="8973648" y="3535590"/>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117" name="Flowchart: Connector 116">
            <a:extLst>
              <a:ext uri="{FF2B5EF4-FFF2-40B4-BE49-F238E27FC236}">
                <a16:creationId xmlns:a16="http://schemas.microsoft.com/office/drawing/2014/main" id="{C81D4BFA-771C-4824-C032-2E47EF320B1A}"/>
              </a:ext>
            </a:extLst>
          </p:cNvPr>
          <p:cNvSpPr/>
          <p:nvPr/>
        </p:nvSpPr>
        <p:spPr>
          <a:xfrm>
            <a:off x="9810151" y="432488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18" name="Flowchart: Connector 117">
            <a:extLst>
              <a:ext uri="{FF2B5EF4-FFF2-40B4-BE49-F238E27FC236}">
                <a16:creationId xmlns:a16="http://schemas.microsoft.com/office/drawing/2014/main" id="{1FDF69B7-0AC1-DDC5-CF56-3DE425E03A09}"/>
              </a:ext>
            </a:extLst>
          </p:cNvPr>
          <p:cNvSpPr/>
          <p:nvPr/>
        </p:nvSpPr>
        <p:spPr>
          <a:xfrm>
            <a:off x="8693428" y="430530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23" name="Straight Connector 122">
            <a:extLst>
              <a:ext uri="{FF2B5EF4-FFF2-40B4-BE49-F238E27FC236}">
                <a16:creationId xmlns:a16="http://schemas.microsoft.com/office/drawing/2014/main" id="{79A6C5A7-9A7B-07DB-2144-9C353A6E14C3}"/>
              </a:ext>
            </a:extLst>
          </p:cNvPr>
          <p:cNvCxnSpPr>
            <a:cxnSpLocks/>
            <a:stCxn id="44" idx="5"/>
            <a:endCxn id="125" idx="0"/>
          </p:cNvCxnSpPr>
          <p:nvPr/>
        </p:nvCxnSpPr>
        <p:spPr>
          <a:xfrm>
            <a:off x="11567401" y="3544892"/>
            <a:ext cx="299970" cy="760415"/>
          </a:xfrm>
          <a:prstGeom prst="line">
            <a:avLst/>
          </a:prstGeom>
        </p:spPr>
        <p:style>
          <a:lnRef idx="2">
            <a:schemeClr val="dk1"/>
          </a:lnRef>
          <a:fillRef idx="0">
            <a:schemeClr val="dk1"/>
          </a:fillRef>
          <a:effectRef idx="1">
            <a:schemeClr val="dk1"/>
          </a:effectRef>
          <a:fontRef idx="minor">
            <a:schemeClr val="tx1"/>
          </a:fontRef>
        </p:style>
      </p:cxnSp>
      <p:cxnSp>
        <p:nvCxnSpPr>
          <p:cNvPr id="124" name="Straight Connector 123">
            <a:extLst>
              <a:ext uri="{FF2B5EF4-FFF2-40B4-BE49-F238E27FC236}">
                <a16:creationId xmlns:a16="http://schemas.microsoft.com/office/drawing/2014/main" id="{0F767978-FC8E-2539-D591-37D0A502049D}"/>
              </a:ext>
            </a:extLst>
          </p:cNvPr>
          <p:cNvCxnSpPr>
            <a:cxnSpLocks/>
            <a:endCxn id="126" idx="0"/>
          </p:cNvCxnSpPr>
          <p:nvPr/>
        </p:nvCxnSpPr>
        <p:spPr>
          <a:xfrm flipH="1">
            <a:off x="10812973" y="3523034"/>
            <a:ext cx="351360" cy="769717"/>
          </a:xfrm>
          <a:prstGeom prst="line">
            <a:avLst/>
          </a:prstGeom>
        </p:spPr>
        <p:style>
          <a:lnRef idx="2">
            <a:schemeClr val="dk1"/>
          </a:lnRef>
          <a:fillRef idx="0">
            <a:schemeClr val="dk1"/>
          </a:fillRef>
          <a:effectRef idx="1">
            <a:schemeClr val="dk1"/>
          </a:effectRef>
          <a:fontRef idx="minor">
            <a:schemeClr val="tx1"/>
          </a:fontRef>
        </p:style>
      </p:cxnSp>
      <p:sp>
        <p:nvSpPr>
          <p:cNvPr id="125" name="Flowchart: Connector 124">
            <a:extLst>
              <a:ext uri="{FF2B5EF4-FFF2-40B4-BE49-F238E27FC236}">
                <a16:creationId xmlns:a16="http://schemas.microsoft.com/office/drawing/2014/main" id="{12108F36-E469-CF6D-9F11-D6E30560FBEF}"/>
              </a:ext>
            </a:extLst>
          </p:cNvPr>
          <p:cNvSpPr/>
          <p:nvPr/>
        </p:nvSpPr>
        <p:spPr>
          <a:xfrm>
            <a:off x="11587151" y="430530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2</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26" name="Flowchart: Connector 125">
            <a:extLst>
              <a:ext uri="{FF2B5EF4-FFF2-40B4-BE49-F238E27FC236}">
                <a16:creationId xmlns:a16="http://schemas.microsoft.com/office/drawing/2014/main" id="{686D15A6-1E0C-A889-B31F-076CA62A43B4}"/>
              </a:ext>
            </a:extLst>
          </p:cNvPr>
          <p:cNvSpPr/>
          <p:nvPr/>
        </p:nvSpPr>
        <p:spPr>
          <a:xfrm>
            <a:off x="10532753" y="4292751"/>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0A0C8AAD-0558-6FCA-A9F1-F0DE37CA3C74}"/>
              </a:ext>
            </a:extLst>
          </p:cNvPr>
          <p:cNvSpPr txBox="1"/>
          <p:nvPr/>
        </p:nvSpPr>
        <p:spPr>
          <a:xfrm>
            <a:off x="4805241" y="534802"/>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425FE26B-7814-8862-4639-A1EBB0955A2B}"/>
              </a:ext>
            </a:extLst>
          </p:cNvPr>
          <p:cNvSpPr txBox="1"/>
          <p:nvPr/>
        </p:nvSpPr>
        <p:spPr>
          <a:xfrm>
            <a:off x="4839428" y="1710213"/>
            <a:ext cx="1138667" cy="523220"/>
          </a:xfrm>
          <a:prstGeom prst="rect">
            <a:avLst/>
          </a:prstGeom>
          <a:noFill/>
        </p:spPr>
        <p:txBody>
          <a:bodyPr wrap="square" rtlCol="0">
            <a:spAutoFit/>
          </a:bodyPr>
          <a:lstStyle/>
          <a:p>
            <a:r>
              <a:rPr lang="en-US" sz="2800" dirty="0"/>
              <a:t>MIN</a:t>
            </a:r>
            <a:endParaRPr lang="vi-VN" sz="2800" dirty="0"/>
          </a:p>
        </p:txBody>
      </p:sp>
      <p:sp>
        <p:nvSpPr>
          <p:cNvPr id="146" name="TextBox 145">
            <a:extLst>
              <a:ext uri="{FF2B5EF4-FFF2-40B4-BE49-F238E27FC236}">
                <a16:creationId xmlns:a16="http://schemas.microsoft.com/office/drawing/2014/main" id="{AD321A5B-4C56-C6CE-27E4-B5027AC7370A}"/>
              </a:ext>
            </a:extLst>
          </p:cNvPr>
          <p:cNvSpPr txBox="1"/>
          <p:nvPr/>
        </p:nvSpPr>
        <p:spPr>
          <a:xfrm>
            <a:off x="5715846" y="3009788"/>
            <a:ext cx="916871" cy="523220"/>
          </a:xfrm>
          <a:prstGeom prst="rect">
            <a:avLst/>
          </a:prstGeom>
          <a:noFill/>
        </p:spPr>
        <p:txBody>
          <a:bodyPr wrap="square" rtlCol="0">
            <a:spAutoFit/>
          </a:bodyPr>
          <a:lstStyle/>
          <a:p>
            <a:r>
              <a:rPr lang="en-US" sz="2800" dirty="0"/>
              <a:t>MAX</a:t>
            </a:r>
            <a:endParaRPr lang="vi-VN" sz="2800" dirty="0"/>
          </a:p>
        </p:txBody>
      </p:sp>
      <p:sp>
        <p:nvSpPr>
          <p:cNvPr id="147" name="TextBox 146">
            <a:extLst>
              <a:ext uri="{FF2B5EF4-FFF2-40B4-BE49-F238E27FC236}">
                <a16:creationId xmlns:a16="http://schemas.microsoft.com/office/drawing/2014/main" id="{203EEBE6-4DAD-0AA0-C4FB-9010414300CE}"/>
              </a:ext>
            </a:extLst>
          </p:cNvPr>
          <p:cNvSpPr txBox="1"/>
          <p:nvPr/>
        </p:nvSpPr>
        <p:spPr>
          <a:xfrm>
            <a:off x="5775290" y="3801669"/>
            <a:ext cx="867880" cy="523220"/>
          </a:xfrm>
          <a:prstGeom prst="rect">
            <a:avLst/>
          </a:prstGeom>
          <a:noFill/>
        </p:spPr>
        <p:txBody>
          <a:bodyPr wrap="square" rtlCol="0">
            <a:spAutoFit/>
          </a:bodyPr>
          <a:lstStyle/>
          <a:p>
            <a:r>
              <a:rPr lang="en-US" sz="2800" dirty="0"/>
              <a:t>MIN</a:t>
            </a:r>
          </a:p>
        </p:txBody>
      </p:sp>
    </p:spTree>
    <p:extLst>
      <p:ext uri="{BB962C8B-B14F-4D97-AF65-F5344CB8AC3E}">
        <p14:creationId xmlns:p14="http://schemas.microsoft.com/office/powerpoint/2010/main" val="439207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xEl>
                                              <p:pRg st="0" end="0"/>
                                            </p:txEl>
                                          </p:spTgt>
                                        </p:tgtEl>
                                        <p:attrNameLst>
                                          <p:attrName>style.visibility</p:attrName>
                                        </p:attrNameLst>
                                      </p:cBhvr>
                                      <p:to>
                                        <p:strVal val="visible"/>
                                      </p:to>
                                    </p:set>
                                    <p:animEffect transition="in" filter="fade">
                                      <p:cBhvr>
                                        <p:cTn id="7" dur="500"/>
                                        <p:tgtEl>
                                          <p:spTgt spid="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xEl>
                                              <p:pRg st="0" end="0"/>
                                            </p:txEl>
                                          </p:spTgt>
                                        </p:tgtEl>
                                        <p:attrNameLst>
                                          <p:attrName>style.visibility</p:attrName>
                                        </p:attrNameLst>
                                      </p:cBhvr>
                                      <p:to>
                                        <p:strVal val="visible"/>
                                      </p:to>
                                    </p:set>
                                    <p:animEffect transition="in" filter="fade">
                                      <p:cBhvr>
                                        <p:cTn id="12" dur="500"/>
                                        <p:tgtEl>
                                          <p:spTgt spid="4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
                                            <p:txEl>
                                              <p:pRg st="0" end="0"/>
                                            </p:txEl>
                                          </p:spTgt>
                                        </p:tgtEl>
                                        <p:attrNameLst>
                                          <p:attrName>style.visibility</p:attrName>
                                        </p:attrNameLst>
                                      </p:cBhvr>
                                      <p:to>
                                        <p:strVal val="visible"/>
                                      </p:to>
                                    </p:set>
                                    <p:animEffect transition="in" filter="fade">
                                      <p:cBhvr>
                                        <p:cTn id="17" dur="500"/>
                                        <p:tgtEl>
                                          <p:spTgt spid="4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xEl>
                                              <p:pRg st="0" end="0"/>
                                            </p:txEl>
                                          </p:spTgt>
                                        </p:tgtEl>
                                        <p:attrNameLst>
                                          <p:attrName>style.visibility</p:attrName>
                                        </p:attrNameLst>
                                      </p:cBhvr>
                                      <p:to>
                                        <p:strVal val="visible"/>
                                      </p:to>
                                    </p:set>
                                    <p:animEffect transition="in" filter="fade">
                                      <p:cBhvr>
                                        <p:cTn id="22" dur="500"/>
                                        <p:tgtEl>
                                          <p:spTgt spid="4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
                                            <p:txEl>
                                              <p:pRg st="0" end="0"/>
                                            </p:txEl>
                                          </p:spTgt>
                                        </p:tgtEl>
                                        <p:attrNameLst>
                                          <p:attrName>style.visibility</p:attrName>
                                        </p:attrNameLst>
                                      </p:cBhvr>
                                      <p:to>
                                        <p:strVal val="visible"/>
                                      </p:to>
                                    </p:set>
                                    <p:animEffect transition="in" filter="fade">
                                      <p:cBhvr>
                                        <p:cTn id="27" dur="500"/>
                                        <p:tgtEl>
                                          <p:spTgt spid="4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4">
                                            <p:txEl>
                                              <p:pRg st="0" end="0"/>
                                            </p:txEl>
                                          </p:spTgt>
                                        </p:tgtEl>
                                        <p:attrNameLst>
                                          <p:attrName>style.visibility</p:attrName>
                                        </p:attrNameLst>
                                      </p:cBhvr>
                                      <p:to>
                                        <p:strVal val="visible"/>
                                      </p:to>
                                    </p:set>
                                    <p:animEffect transition="in" filter="fade">
                                      <p:cBhvr>
                                        <p:cTn id="32" dur="500"/>
                                        <p:tgtEl>
                                          <p:spTgt spid="4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fade">
                                      <p:cBhvr>
                                        <p:cTn id="37" dur="500"/>
                                        <p:tgtEl>
                                          <p:spTgt spid="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animEffect transition="in" filter="fade">
                                      <p:cBhvr>
                                        <p:cTn id="42" dur="500"/>
                                        <p:tgtEl>
                                          <p:spTgt spid="13">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xEl>
                                              <p:pRg st="0" end="0"/>
                                            </p:txEl>
                                          </p:spTgt>
                                        </p:tgtEl>
                                        <p:attrNameLst>
                                          <p:attrName>style.visibility</p:attrName>
                                        </p:attrNameLst>
                                      </p:cBhvr>
                                      <p:to>
                                        <p:strVal val="visible"/>
                                      </p:to>
                                    </p:set>
                                    <p:animEffect transition="in" filter="fade">
                                      <p:cBhvr>
                                        <p:cTn id="47" dur="500"/>
                                        <p:tgtEl>
                                          <p:spTgt spid="1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0" end="0"/>
                                            </p:txEl>
                                          </p:spTgt>
                                        </p:tgtEl>
                                        <p:attrNameLst>
                                          <p:attrName>style.visibility</p:attrName>
                                        </p:attrNameLst>
                                      </p:cBhvr>
                                      <p:to>
                                        <p:strVal val="visible"/>
                                      </p:to>
                                    </p:set>
                                    <p:animEffect transition="in" filter="fade">
                                      <p:cBhvr>
                                        <p:cTn id="5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33DEA-93E3-E7B0-4F0A-0907D6D16D57}"/>
              </a:ext>
            </a:extLst>
          </p:cNvPr>
          <p:cNvSpPr>
            <a:spLocks noGrp="1"/>
          </p:cNvSpPr>
          <p:nvPr>
            <p:ph type="title"/>
          </p:nvPr>
        </p:nvSpPr>
        <p:spPr/>
        <p:txBody>
          <a:bodyPr>
            <a:normAutofit/>
          </a:bodyPr>
          <a:lstStyle/>
          <a:p>
            <a:r>
              <a:rPr lang="vi-VN" sz="3600" dirty="0">
                <a:latin typeface="Aptos" panose="020B0004020202020204" pitchFamily="34" charset="0"/>
              </a:rPr>
              <a:t>Áp dụng </a:t>
            </a:r>
            <a:r>
              <a:rPr lang="vi-VN" sz="3600" dirty="0" err="1">
                <a:latin typeface="Aptos" panose="020B0004020202020204" pitchFamily="34" charset="0"/>
              </a:rPr>
              <a:t>alpha-beta</a:t>
            </a:r>
            <a:r>
              <a:rPr lang="vi-VN" sz="3600" dirty="0">
                <a:latin typeface="Aptos" panose="020B0004020202020204" pitchFamily="34" charset="0"/>
              </a:rPr>
              <a:t> </a:t>
            </a:r>
            <a:r>
              <a:rPr lang="vi-VN" sz="3600" dirty="0" err="1">
                <a:latin typeface="Aptos" panose="020B0004020202020204" pitchFamily="34" charset="0"/>
              </a:rPr>
              <a:t>pruning</a:t>
            </a:r>
            <a:r>
              <a:rPr lang="vi-VN" sz="3600" dirty="0">
                <a:latin typeface="Aptos" panose="020B0004020202020204" pitchFamily="34" charset="0"/>
              </a:rPr>
              <a:t> để tăng hiệu năng (1)</a:t>
            </a:r>
          </a:p>
        </p:txBody>
      </p:sp>
      <p:sp>
        <p:nvSpPr>
          <p:cNvPr id="3" name="Content Placeholder 2">
            <a:extLst>
              <a:ext uri="{FF2B5EF4-FFF2-40B4-BE49-F238E27FC236}">
                <a16:creationId xmlns:a16="http://schemas.microsoft.com/office/drawing/2014/main" id="{72B343E8-5274-062F-9136-33C94D4A176B}"/>
              </a:ext>
            </a:extLst>
          </p:cNvPr>
          <p:cNvSpPr>
            <a:spLocks noGrp="1"/>
          </p:cNvSpPr>
          <p:nvPr>
            <p:ph idx="1"/>
          </p:nvPr>
        </p:nvSpPr>
        <p:spPr/>
        <p:txBody>
          <a:bodyPr/>
          <a:lstStyle/>
          <a:p>
            <a:pPr marL="0" indent="0">
              <a:buNone/>
            </a:pPr>
            <a:r>
              <a:rPr lang="vi-VN" b="1" dirty="0">
                <a:latin typeface="Aptos" panose="020B0004020202020204" pitchFamily="34" charset="0"/>
              </a:rPr>
              <a:t>Vấn đề:</a:t>
            </a:r>
            <a:r>
              <a:rPr lang="vi-VN" dirty="0">
                <a:latin typeface="Aptos" panose="020B0004020202020204" pitchFamily="34" charset="0"/>
              </a:rPr>
              <a:t> Số lượng nút tăng theo hàm mũ (với </a:t>
            </a:r>
            <a:r>
              <a:rPr lang="vi-VN" dirty="0" err="1">
                <a:latin typeface="Aptos" panose="020B0004020202020204" pitchFamily="34" charset="0"/>
              </a:rPr>
              <a:t>ConnectX</a:t>
            </a:r>
            <a:r>
              <a:rPr lang="vi-VN" dirty="0">
                <a:latin typeface="Aptos" panose="020B0004020202020204" pitchFamily="34" charset="0"/>
              </a:rPr>
              <a:t>, hệ số nhánh là 7).</a:t>
            </a:r>
          </a:p>
          <a:p>
            <a:pPr marL="0" indent="0">
              <a:buNone/>
            </a:pPr>
            <a:r>
              <a:rPr lang="vi-VN" b="1" dirty="0">
                <a:latin typeface="Aptos" panose="020B0004020202020204" pitchFamily="34" charset="0"/>
              </a:rPr>
              <a:t>Hệ quả:</a:t>
            </a:r>
            <a:r>
              <a:rPr lang="vi-VN" dirty="0">
                <a:latin typeface="Aptos" panose="020B0004020202020204" pitchFamily="34" charset="0"/>
              </a:rPr>
              <a:t> Duyệt toàn bộ cây tốn quá nhiều thời gian và bộ nhớ, khiến AI không kịp phản hồi.</a:t>
            </a:r>
          </a:p>
          <a:p>
            <a:pPr marL="0" indent="0">
              <a:buNone/>
            </a:pPr>
            <a:r>
              <a:rPr lang="vi-VN" b="1" dirty="0">
                <a:latin typeface="Aptos" panose="020B0004020202020204" pitchFamily="34" charset="0"/>
              </a:rPr>
              <a:t>Giải pháp:</a:t>
            </a:r>
            <a:r>
              <a:rPr lang="vi-VN" dirty="0">
                <a:latin typeface="Aptos" panose="020B0004020202020204" pitchFamily="34" charset="0"/>
              </a:rPr>
              <a:t> Cắt bỏ các nhánh chắc chắn không ảnh hưởng đến kết quả cuối cùng mà không làm giảm độ chính xác của thuật toán.</a:t>
            </a:r>
          </a:p>
        </p:txBody>
      </p:sp>
    </p:spTree>
    <p:extLst>
      <p:ext uri="{BB962C8B-B14F-4D97-AF65-F5344CB8AC3E}">
        <p14:creationId xmlns:p14="http://schemas.microsoft.com/office/powerpoint/2010/main" val="2073989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857FB-6EA1-F6F6-7C61-E85B4208E63C}"/>
              </a:ext>
            </a:extLst>
          </p:cNvPr>
          <p:cNvSpPr>
            <a:spLocks noGrp="1"/>
          </p:cNvSpPr>
          <p:nvPr>
            <p:ph type="title"/>
          </p:nvPr>
        </p:nvSpPr>
        <p:spPr/>
        <p:txBody>
          <a:bodyPr>
            <a:normAutofit/>
          </a:bodyPr>
          <a:lstStyle/>
          <a:p>
            <a:r>
              <a:rPr lang="vi-VN" sz="3600" dirty="0">
                <a:latin typeface="Aptos" panose="020B0004020202020204" pitchFamily="34" charset="0"/>
              </a:rPr>
              <a:t>Áp dụng </a:t>
            </a:r>
            <a:r>
              <a:rPr lang="vi-VN" sz="3600" dirty="0" err="1">
                <a:latin typeface="Aptos" panose="020B0004020202020204" pitchFamily="34" charset="0"/>
              </a:rPr>
              <a:t>alpha-beta</a:t>
            </a:r>
            <a:r>
              <a:rPr lang="vi-VN" sz="3600" dirty="0">
                <a:latin typeface="Aptos" panose="020B0004020202020204" pitchFamily="34" charset="0"/>
              </a:rPr>
              <a:t> </a:t>
            </a:r>
            <a:r>
              <a:rPr lang="vi-VN" sz="3600" dirty="0" err="1">
                <a:latin typeface="Aptos" panose="020B0004020202020204" pitchFamily="34" charset="0"/>
              </a:rPr>
              <a:t>pruning</a:t>
            </a:r>
            <a:r>
              <a:rPr lang="vi-VN" sz="3600" dirty="0">
                <a:latin typeface="Aptos" panose="020B0004020202020204" pitchFamily="34" charset="0"/>
              </a:rPr>
              <a:t> để tăng hiệu năng (2)</a:t>
            </a:r>
            <a:endParaRPr lang="vi-VN"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B512BB-3F70-41B5-0E6E-BFFFDC306A04}"/>
                  </a:ext>
                </a:extLst>
              </p:cNvPr>
              <p:cNvSpPr>
                <a:spLocks noGrp="1"/>
              </p:cNvSpPr>
              <p:nvPr>
                <p:ph idx="1"/>
              </p:nvPr>
            </p:nvSpPr>
            <p:spPr/>
            <p:txBody>
              <a:bodyPr>
                <a:noAutofit/>
              </a:bodyPr>
              <a:lstStyle/>
              <a:p>
                <a:pPr marL="0" indent="0">
                  <a:buNone/>
                </a:pPr>
                <a:r>
                  <a:rPr lang="vi-VN" b="1" dirty="0">
                    <a:latin typeface="Aptos" panose="020B0004020202020204" pitchFamily="34" charset="0"/>
                  </a:rPr>
                  <a:t>Tham số </a:t>
                </a:r>
                <a14:m>
                  <m:oMath xmlns:m="http://schemas.openxmlformats.org/officeDocument/2006/math">
                    <m:r>
                      <a:rPr lang="vi-VN" b="1" i="0" smtClean="0">
                        <a:latin typeface="Cambria Math" panose="02040503050406030204" pitchFamily="18" charset="0"/>
                      </a:rPr>
                      <m:t>𝛂</m:t>
                    </m:r>
                  </m:oMath>
                </a14:m>
                <a:r>
                  <a:rPr lang="vi-VN" b="1" dirty="0">
                    <a:latin typeface="Aptos" panose="020B0004020202020204" pitchFamily="34" charset="0"/>
                  </a:rPr>
                  <a:t>: </a:t>
                </a:r>
                <a:r>
                  <a:rPr lang="vi-VN" dirty="0">
                    <a:latin typeface="Aptos" panose="020B0004020202020204" pitchFamily="34" charset="0"/>
                  </a:rPr>
                  <a:t>giá trị tối thiểu mà người chơi MAX chắc chắn đạt được (giá trị khởi tạo: </a:t>
                </a:r>
                <a14:m>
                  <m:oMath xmlns:m="http://schemas.openxmlformats.org/officeDocument/2006/math">
                    <m:r>
                      <a:rPr lang="vi-VN" b="0" i="1" smtClean="0">
                        <a:latin typeface="Cambria Math" panose="02040503050406030204" pitchFamily="18" charset="0"/>
                      </a:rPr>
                      <m:t>−∞</m:t>
                    </m:r>
                  </m:oMath>
                </a14:m>
                <a:r>
                  <a:rPr lang="vi-VN" dirty="0">
                    <a:latin typeface="Aptos" panose="020B0004020202020204" pitchFamily="34" charset="0"/>
                  </a:rPr>
                  <a:t>)</a:t>
                </a:r>
              </a:p>
              <a:p>
                <a:pPr marL="0" indent="0">
                  <a:buNone/>
                </a:pPr>
                <a:r>
                  <a:rPr lang="vi-VN" b="1" dirty="0">
                    <a:latin typeface="Aptos" panose="020B0004020202020204" pitchFamily="34" charset="0"/>
                  </a:rPr>
                  <a:t>Tham số </a:t>
                </a:r>
                <a14:m>
                  <m:oMath xmlns:m="http://schemas.openxmlformats.org/officeDocument/2006/math">
                    <m:r>
                      <a:rPr lang="vi-VN" b="1" i="0" smtClean="0">
                        <a:latin typeface="Cambria Math" panose="02040503050406030204" pitchFamily="18" charset="0"/>
                      </a:rPr>
                      <m:t>𝛃</m:t>
                    </m:r>
                  </m:oMath>
                </a14:m>
                <a:r>
                  <a:rPr lang="vi-VN" b="1" dirty="0">
                    <a:latin typeface="Aptos" panose="020B0004020202020204" pitchFamily="34" charset="0"/>
                  </a:rPr>
                  <a:t>: </a:t>
                </a:r>
                <a:r>
                  <a:rPr lang="vi-VN" dirty="0">
                    <a:latin typeface="Aptos" panose="020B0004020202020204" pitchFamily="34" charset="0"/>
                  </a:rPr>
                  <a:t>giá trị tối đa mà người chơi MIN có thể ép MAX nhận (giá trị khởi tạo: </a:t>
                </a:r>
                <a14:m>
                  <m:oMath xmlns:m="http://schemas.openxmlformats.org/officeDocument/2006/math">
                    <m:r>
                      <a:rPr lang="vi-VN" b="0" i="1" smtClean="0">
                        <a:latin typeface="Cambria Math" panose="02040503050406030204" pitchFamily="18" charset="0"/>
                      </a:rPr>
                      <m:t>∞</m:t>
                    </m:r>
                  </m:oMath>
                </a14:m>
                <a:r>
                  <a:rPr lang="vi-VN" dirty="0">
                    <a:latin typeface="Aptos" panose="020B0004020202020204" pitchFamily="34" charset="0"/>
                  </a:rPr>
                  <a:t>) </a:t>
                </a:r>
              </a:p>
              <a:p>
                <a:pPr marL="0" indent="0">
                  <a:buNone/>
                </a:pPr>
                <a:r>
                  <a:rPr lang="vi-VN" b="1" dirty="0">
                    <a:latin typeface="Aptos" panose="020B0004020202020204" pitchFamily="34" charset="0"/>
                  </a:rPr>
                  <a:t>Điều kiện cắt tỉa: </a:t>
                </a:r>
                <a:r>
                  <a:rPr lang="vi-VN" dirty="0">
                    <a:latin typeface="Aptos" panose="020B0004020202020204" pitchFamily="34" charset="0"/>
                  </a:rPr>
                  <a:t>Trong quá trình duyệt, nếu tại 1 nút bất kỳ xảy ra điều kiện </a:t>
                </a:r>
                <a14:m>
                  <m:oMath xmlns:m="http://schemas.openxmlformats.org/officeDocument/2006/math">
                    <m:r>
                      <m:rPr>
                        <m:sty m:val="p"/>
                      </m:rPr>
                      <a:rPr lang="en-US" i="1">
                        <a:latin typeface="Cambria Math" panose="02040503050406030204" pitchFamily="18" charset="0"/>
                      </a:rPr>
                      <m:t>α</m:t>
                    </m:r>
                  </m:oMath>
                </a14:m>
                <a:r>
                  <a:rPr lang="vi-VN" dirty="0">
                    <a:latin typeface="Aptos" panose="020B0004020202020204" pitchFamily="34" charset="0"/>
                  </a:rPr>
                  <a:t> </a:t>
                </a:r>
                <a14:m>
                  <m:oMath xmlns:m="http://schemas.openxmlformats.org/officeDocument/2006/math">
                    <m:r>
                      <a:rPr lang="vi-VN" i="1" smtClean="0">
                        <a:latin typeface="Cambria Math" panose="02040503050406030204" pitchFamily="18" charset="0"/>
                      </a:rPr>
                      <m:t>≥</m:t>
                    </m:r>
                  </m:oMath>
                </a14:m>
                <a:r>
                  <a:rPr lang="vi-VN" dirty="0">
                    <a:latin typeface="Aptos" panose="020B0004020202020204" pitchFamily="34" charset="0"/>
                  </a:rPr>
                  <a:t> </a:t>
                </a:r>
                <a14:m>
                  <m:oMath xmlns:m="http://schemas.openxmlformats.org/officeDocument/2006/math">
                    <m:r>
                      <m:rPr>
                        <m:sty m:val="p"/>
                      </m:rPr>
                      <a:rPr lang="en-US" i="1">
                        <a:latin typeface="Cambria Math" panose="02040503050406030204" pitchFamily="18" charset="0"/>
                      </a:rPr>
                      <m:t>β</m:t>
                    </m:r>
                  </m:oMath>
                </a14:m>
                <a:r>
                  <a:rPr lang="vi-VN" dirty="0">
                    <a:latin typeface="Aptos" panose="020B0004020202020204" pitchFamily="34" charset="0"/>
                  </a:rPr>
                  <a:t> </a:t>
                </a:r>
              </a:p>
              <a:p>
                <a:pPr marL="0" indent="0">
                  <a:buNone/>
                </a:pPr>
                <a:r>
                  <a:rPr lang="vi-VN" b="1" dirty="0">
                    <a:latin typeface="Aptos" panose="020B0004020202020204" pitchFamily="34" charset="0"/>
                  </a:rPr>
                  <a:t>Hành động: </a:t>
                </a:r>
                <a:r>
                  <a:rPr lang="vi-VN" dirty="0">
                    <a:latin typeface="Aptos" panose="020B0004020202020204" pitchFamily="34" charset="0"/>
                  </a:rPr>
                  <a:t>Thuật toán ngừng duyệt tất cả các nhánh còn lại của nút đó</a:t>
                </a:r>
              </a:p>
              <a:p>
                <a:pPr marL="0" indent="0">
                  <a:buNone/>
                </a:pPr>
                <a:r>
                  <a:rPr lang="vi-VN" b="1" dirty="0">
                    <a:latin typeface="Aptos" panose="020B0004020202020204" pitchFamily="34" charset="0"/>
                  </a:rPr>
                  <a:t>Ý nghĩa: </a:t>
                </a:r>
                <a:r>
                  <a:rPr lang="vi-VN" dirty="0">
                    <a:latin typeface="Aptos" panose="020B0004020202020204" pitchFamily="34" charset="0"/>
                  </a:rPr>
                  <a:t>Nhánh bị cắt là nhánh mà đối thủ chắc chắn sẽ không cho phép ta chọn, hoặc ta đã tìm thấy một lựa chọn khác tốt hơn trước đó.</a:t>
                </a:r>
              </a:p>
            </p:txBody>
          </p:sp>
        </mc:Choice>
        <mc:Fallback xmlns="">
          <p:sp>
            <p:nvSpPr>
              <p:cNvPr id="3" name="Content Placeholder 2">
                <a:extLst>
                  <a:ext uri="{FF2B5EF4-FFF2-40B4-BE49-F238E27FC236}">
                    <a16:creationId xmlns:a16="http://schemas.microsoft.com/office/drawing/2014/main" id="{4FB512BB-3F70-41B5-0E6E-BFFFDC306A04}"/>
                  </a:ext>
                </a:extLst>
              </p:cNvPr>
              <p:cNvSpPr>
                <a:spLocks noGrp="1" noRot="1" noChangeAspect="1" noMove="1" noResize="1" noEditPoints="1" noAdjustHandles="1" noChangeArrowheads="1" noChangeShapeType="1" noTextEdit="1"/>
              </p:cNvSpPr>
              <p:nvPr>
                <p:ph idx="1"/>
              </p:nvPr>
            </p:nvSpPr>
            <p:spPr>
              <a:blipFill>
                <a:blip r:embed="rId2"/>
                <a:stretch>
                  <a:fillRect l="-1217" t="-2381" r="-1159" b="-14846"/>
                </a:stretch>
              </a:blipFill>
            </p:spPr>
            <p:txBody>
              <a:bodyPr/>
              <a:lstStyle/>
              <a:p>
                <a:r>
                  <a:rPr lang="vi-VN">
                    <a:noFill/>
                  </a:rPr>
                  <a:t> </a:t>
                </a:r>
              </a:p>
            </p:txBody>
          </p:sp>
        </mc:Fallback>
      </mc:AlternateContent>
    </p:spTree>
    <p:extLst>
      <p:ext uri="{BB962C8B-B14F-4D97-AF65-F5344CB8AC3E}">
        <p14:creationId xmlns:p14="http://schemas.microsoft.com/office/powerpoint/2010/main" val="244128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4DCBE-F547-107A-CEC9-74030DAEAC0F}"/>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64C030A8-49E5-AEE9-5136-CC7FE731B51A}"/>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2FCFABAC-7F5A-B62B-8BDF-01BC0634B020}"/>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7591DCF3-1408-9F84-E17A-A5FCF800850A}"/>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999D0803-BAD9-07AE-283A-76A1F5FAB264}"/>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7DBCF63D-0B89-1B59-83F8-E77B71C1C648}"/>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7C55C8E3-8B48-0E94-927A-5530506399D4}"/>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0D53A8AB-25D6-DEF4-B5CC-C10F4E3EBB3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2F8D84A-12C4-14B8-8878-3530D255AD3D}"/>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1D6D4DCE-892C-E005-055D-F42313452C1C}"/>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63735537-A0CF-37BB-40E2-D15F1FBF756E}"/>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8D845667-C28D-67C9-CF2B-F38FE2F2BE7B}"/>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94CF9DA8-C91F-D956-3A77-576ACF26EE34}"/>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AC9F8A99-239E-E167-2581-CFB6EA7E513B}"/>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B3C0B5B-2BF7-313E-EF93-90FAD3EBFC4C}"/>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EB3C0B5B-2BF7-313E-EF93-90FAD3EBFC4C}"/>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9E9F1A5-2F94-EAF2-7F77-CBD93D276C9C}"/>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49E9F1A5-2F94-EAF2-7F77-CBD93D276C9C}"/>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C1D10E5-454F-2D1D-207E-6C6743FF907B}"/>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3C1D10E5-454F-2D1D-207E-6C6743FF907B}"/>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4591F95E-2EF6-2881-ECA3-5C30817B3534}"/>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80C8734A-B46F-23DA-528E-E55FF899EF20}"/>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EDD094FD-927D-CEBC-987B-A0B7AA72571C}"/>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75FF8ED5-311E-EDD5-2353-8B521F638BE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8DACC989-947C-3869-1593-DB1C9CB7B2DE}"/>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6438B4A0-B9E8-DC23-83A4-3AA604A3B789}"/>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80DC59AF-C7BA-0CB6-0422-1BDCCBF2406C}"/>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5BAF1E7B-A8D9-4985-DBE8-B5820308AD74}"/>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5DED28D9-65BF-09C9-D8E3-B5F81C463089}"/>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742ABB18-9DA7-9EBA-CF1F-543A0C36F791}"/>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4644390A-2A0A-2950-E75D-4A8F806E0C17}"/>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218B1862-8DA3-52F2-3B04-0E31429FA6D0}"/>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0FB043BC-C67A-FE44-826C-D367150988A4}"/>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CC6CBC45-474F-DF8B-A03A-27A7EE2EEDD5}"/>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5946CF1E-2385-E035-A79A-8136F2DDB5E0}"/>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C61BA342-E865-C862-2570-B65613441413}"/>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0E0ABC64-36CB-FB49-0225-F74ECEE85BF5}"/>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89E713A4-9193-349D-7840-5889B17654B5}"/>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E1896D60-71B9-C6E8-421B-04595A4BAECB}"/>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9149A7EA-CBDB-184F-D525-9E23167535AC}"/>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D048B669-D8E8-1DDA-9402-1E77B884D4FA}"/>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7EAC703A-D2D7-EA46-BF74-4EEFB4D84810}"/>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FCD1A9F1-007D-D9E7-C835-D148CD0674A2}"/>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FCD1A9F1-007D-D9E7-C835-D148CD0674A2}"/>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1701279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2">
                                            <p:txEl>
                                              <p:pRg st="0" end="0"/>
                                            </p:txEl>
                                          </p:spTgt>
                                        </p:tgtEl>
                                        <p:attrNameLst>
                                          <p:attrName>style.visibility</p:attrName>
                                        </p:attrNameLst>
                                      </p:cBhvr>
                                      <p:to>
                                        <p:strVal val="visible"/>
                                      </p:to>
                                    </p:set>
                                    <p:animEffect transition="in" filter="fade">
                                      <p:cBhvr>
                                        <p:cTn id="7" dur="500"/>
                                        <p:tgtEl>
                                          <p:spTgt spid="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nodePh="1">
                                  <p:stCondLst>
                                    <p:cond delay="0"/>
                                  </p:stCondLst>
                                  <p:endCondLst>
                                    <p:cond evt="begin" delay="0">
                                      <p:tn val="10"/>
                                    </p:cond>
                                  </p:end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nodePh="1">
                                  <p:stCondLst>
                                    <p:cond delay="0"/>
                                  </p:stCondLst>
                                  <p:endCondLst>
                                    <p:cond evt="begin" delay="0">
                                      <p:tn val="15"/>
                                    </p:cond>
                                  </p:end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xEl>
                                              <p:pRg st="0" end="0"/>
                                            </p:txEl>
                                          </p:spTgt>
                                        </p:tgtEl>
                                        <p:attrNameLst>
                                          <p:attrName>style.visibility</p:attrName>
                                        </p:attrNameLst>
                                      </p:cBhvr>
                                      <p:to>
                                        <p:strVal val="visible"/>
                                      </p:to>
                                    </p:set>
                                    <p:animEffect transition="in" filter="fade">
                                      <p:cBhvr>
                                        <p:cTn id="22" dur="500"/>
                                        <p:tgtEl>
                                          <p:spTgt spid="36">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6">
                                            <p:txEl>
                                              <p:pRg st="2" end="2"/>
                                            </p:txEl>
                                          </p:spTgt>
                                        </p:tgtEl>
                                        <p:attrNameLst>
                                          <p:attrName>style.visibility</p:attrName>
                                        </p:attrNameLst>
                                      </p:cBhvr>
                                      <p:to>
                                        <p:strVal val="visible"/>
                                      </p:to>
                                    </p:set>
                                    <p:animEffect transition="in" filter="fade">
                                      <p:cBhvr>
                                        <p:cTn id="25" dur="500"/>
                                        <p:tgtEl>
                                          <p:spTgt spid="36">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7">
                                            <p:txEl>
                                              <p:pRg st="0" end="0"/>
                                            </p:txEl>
                                          </p:spTgt>
                                        </p:tgtEl>
                                        <p:attrNameLst>
                                          <p:attrName>style.visibility</p:attrName>
                                        </p:attrNameLst>
                                      </p:cBhvr>
                                      <p:to>
                                        <p:strVal val="visible"/>
                                      </p:to>
                                    </p:set>
                                    <p:animEffect transition="in" filter="fade">
                                      <p:cBhvr>
                                        <p:cTn id="30" dur="500"/>
                                        <p:tgtEl>
                                          <p:spTgt spid="37">
                                            <p:txEl>
                                              <p:pRg st="0" end="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7">
                                            <p:txEl>
                                              <p:pRg st="2" end="2"/>
                                            </p:txEl>
                                          </p:spTgt>
                                        </p:tgtEl>
                                        <p:attrNameLst>
                                          <p:attrName>style.visibility</p:attrName>
                                        </p:attrNameLst>
                                      </p:cBhvr>
                                      <p:to>
                                        <p:strVal val="visible"/>
                                      </p:to>
                                    </p:set>
                                    <p:animEffect transition="in" filter="fade">
                                      <p:cBhvr>
                                        <p:cTn id="33" dur="500"/>
                                        <p:tgtEl>
                                          <p:spTgt spid="37">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nodePh="1">
                                  <p:stCondLst>
                                    <p:cond delay="0"/>
                                  </p:stCondLst>
                                  <p:endCondLst>
                                    <p:cond evt="begin" delay="0">
                                      <p:tn val="36"/>
                                    </p:cond>
                                  </p:endCondLst>
                                  <p:childTnLst>
                                    <p:set>
                                      <p:cBhvr>
                                        <p:cTn id="37" dur="1" fill="hold">
                                          <p:stCondLst>
                                            <p:cond delay="0"/>
                                          </p:stCondLst>
                                        </p:cTn>
                                        <p:tgtEl>
                                          <p:spTgt spid="127">
                                            <p:txEl>
                                              <p:pRg st="0" end="0"/>
                                            </p:txEl>
                                          </p:spTgt>
                                        </p:tgtEl>
                                        <p:attrNameLst>
                                          <p:attrName>style.visibility</p:attrName>
                                        </p:attrNameLst>
                                      </p:cBhvr>
                                      <p:to>
                                        <p:strVal val="visible"/>
                                      </p:to>
                                    </p:set>
                                    <p:animEffect transition="in" filter="fade">
                                      <p:cBhvr>
                                        <p:cTn id="38" dur="500"/>
                                        <p:tgtEl>
                                          <p:spTgt spid="127">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1">
                                            <p:txEl>
                                              <p:pRg st="0" end="0"/>
                                            </p:txEl>
                                          </p:spTgt>
                                        </p:tgtEl>
                                        <p:attrNameLst>
                                          <p:attrName>style.visibility</p:attrName>
                                        </p:attrNameLst>
                                      </p:cBhvr>
                                      <p:to>
                                        <p:strVal val="visible"/>
                                      </p:to>
                                    </p:set>
                                    <p:animEffect transition="in" filter="fade">
                                      <p:cBhvr>
                                        <p:cTn id="43" dur="500"/>
                                        <p:tgtEl>
                                          <p:spTgt spid="141">
                                            <p:txEl>
                                              <p:pRg st="0" end="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141">
                                            <p:txEl>
                                              <p:pRg st="2" end="2"/>
                                            </p:txEl>
                                          </p:spTgt>
                                        </p:tgtEl>
                                        <p:attrNameLst>
                                          <p:attrName>style.visibility</p:attrName>
                                        </p:attrNameLst>
                                      </p:cBhvr>
                                      <p:to>
                                        <p:strVal val="visible"/>
                                      </p:to>
                                    </p:set>
                                    <p:animEffect transition="in" filter="fade">
                                      <p:cBhvr>
                                        <p:cTn id="46" dur="500"/>
                                        <p:tgtEl>
                                          <p:spTgt spid="1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7872E-DB87-6AE6-A23C-A47BD7384A7D}"/>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D3789321-FAB9-EE12-0E73-85FA5B64B4BD}"/>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B83B9AB7-8710-A68C-E259-F2AD05B9927D}"/>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17194BD7-1216-A62E-47E3-C16D529E40AA}"/>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44A031FB-5F48-81BF-8BC0-DF556A1D9AB2}"/>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79786E53-D631-4C0D-568E-7FC5682812DB}"/>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3C9327D2-B864-CB96-D8FD-C05BB3D18DF4}"/>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D295412E-A06B-269F-E9D8-6D5A1C90FF2B}"/>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54F35EB-04A3-7692-3E2C-3ED6497FBAF5}"/>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17D8252D-DF82-7478-BAF8-0FA665468CE4}"/>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7C0DB316-FC86-5703-4000-A7997C349F58}"/>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34A9C1EE-3D33-11FD-6E59-908596C60CB5}"/>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CC3C7BFB-F382-3799-7EC0-65B92179D498}"/>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40BDDAEE-82A7-F36A-BD36-8FCBEC4FBB5E}"/>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5F9E2FD-077A-DC6E-2F0B-CBDED716246A}"/>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45F9E2FD-077A-DC6E-2F0B-CBDED716246A}"/>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007BA6-E305-D609-D281-F12D9C03AB8C}"/>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89007BA6-E305-D609-D281-F12D9C03AB8C}"/>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E06C2C0-898C-9518-A9BD-C35C30ADB75A}"/>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0E06C2C0-898C-9518-A9BD-C35C30ADB75A}"/>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765690E3-41C6-274E-A931-6718EAD9FF24}"/>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7C1D7C55-DF77-AF39-2DCF-8EB63C5BCEB1}"/>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D5288F37-4F50-4611-C61D-89698A0B6A2A}"/>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232E9276-FB69-033B-8E7D-0E25D051EF4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B4BAFF33-7115-AF59-708F-6813C203A1AA}"/>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5F78A283-4A56-6745-9C85-19E189E86DBB}"/>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1E85ACA5-745F-3416-EC37-852A9D2E68B4}"/>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CFF56497-D7C2-8E5F-811D-29B9D2DF1465}"/>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C9618FC4-2AB0-68B9-0515-E8E79A0B6C21}"/>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14F581E5-E17B-56A0-0354-153476E16186}"/>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43E16256-3FED-0614-6056-7629F5172C4E}"/>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35D99ADA-48E6-5E57-711B-6FBCDC5D0C9D}"/>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55A3DEC8-732D-D4C8-CB84-7E95FDE4ADDB}"/>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870BA0EC-7E38-B064-325B-BF9E454D0EFC}"/>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7365F89-72DF-31E4-34E9-5E5338B89FC3}"/>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40696264-3749-F5A1-09AD-51E83EEBAB7E}"/>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5703D900-60F3-FB27-909E-913DD5F6ECF9}"/>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217095B3-CBBC-91DB-5602-5F6A167AE378}"/>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8897AC1A-E2FA-3072-8B84-B3A7D96FD277}"/>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5C0AE4AA-2143-5F18-0594-C2088AEF12F2}"/>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C4DBBD33-472A-D8AC-DBCD-50CC04790E50}"/>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ED276CD4-334A-9CDE-1E01-C4AC8AAF81F6}"/>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9FF92BFD-5797-FAB5-D989-94C082C526A4}"/>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=10</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9FF92BFD-5797-FAB5-D989-94C082C526A4}"/>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46228291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CD547-3CD2-D3CA-FB6E-04089569633B}"/>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84A17F60-A566-A4BD-9C0A-A9E8F145967B}"/>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8DF93DF8-9735-F490-752E-08429681D669}"/>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CE99EC61-EA17-C6F2-C6DD-D2CB9B6474F7}"/>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240B4FC1-0F27-A9E2-3E36-7B4C50B44BBC}"/>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7731A7F6-2CF9-AA1A-9963-75D75A8B8E55}"/>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2BD98E02-782A-3999-3166-B788353A9569}"/>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FEB564D3-A6AB-5964-CECF-D6F189144E7B}"/>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2EC1508-D8D8-3F91-EE5F-66FC12825528}"/>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25E37401-073E-22FA-5F3D-845EEFF459DC}"/>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82899869-99D4-C50D-84AC-0D983DB735CC}"/>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F94D9258-802A-445F-3D66-6EB636571A1C}"/>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FF76584B-7252-C688-1C56-759017F27318}"/>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D734615E-58D2-517E-B696-7DAA6012342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8192256-ACFB-7DB9-486A-19DB70A0F281}"/>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D8192256-ACFB-7DB9-486A-19DB70A0F281}"/>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A34C4DB-CADE-FBE2-851A-0D495D1CB55A}"/>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8A34C4DB-CADE-FBE2-851A-0D495D1CB55A}"/>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679CA48-850F-55F4-E62D-D49A2D1314A5}"/>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C679CA48-850F-55F4-E62D-D49A2D1314A5}"/>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00449BA1-82AC-5678-6D92-45874053CB89}"/>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08DE4431-ED1C-2040-568A-255316063D09}"/>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B6655784-9ED2-59F8-0E1E-E673A344BC84}"/>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14365957-3AFE-9050-8291-CCFF4667AB64}"/>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10D2577F-3E22-3B9B-4C18-09CD27F37B1C}"/>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8024C1DC-16AA-516F-A7CE-7014A50162DB}"/>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37FC48AE-CAE3-BFBC-BF55-7878EABD369D}"/>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AEEEF507-4D95-1C14-CB54-3BDBA6C0726E}"/>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A36943F4-7BFF-C2F7-FC49-EF625540E83F}"/>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16D55FA9-8136-2C00-5FAF-38AC3797041C}"/>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9256B806-EB41-4D97-7985-88FF0274E20F}"/>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7807D242-2ADF-4DC6-FBF9-75829AAA25A6}"/>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9683BD91-DD86-05E6-5666-BA06F123D183}"/>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F020D0EA-7539-A6D0-F597-B873BB5BD7DD}"/>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036ED61F-CF41-D2A6-C7B2-37BB80921DE9}"/>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536D2AD8-32E9-A44E-15E7-FF366465CC6A}"/>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BABFA612-0B55-C8B7-B4BE-610854092CE7}"/>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6167B54C-F858-5CE7-BDB5-B8220E366306}"/>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860919F0-9875-0FD7-033A-078BE8518AF4}"/>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5ADF1E87-8972-1C45-8E9D-B46738124189}"/>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D12C6D8F-86BD-77F2-D10F-BCEEE99C5F99}"/>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A3C22EAB-1C20-D637-BB4D-6233D27CDC74}"/>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E20A9E28-1358-00A0-BDB3-9DFC60CFF520}"/>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E20A9E28-1358-00A0-BDB3-9DFC60CFF520}"/>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98299094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C9B24-5F8F-BD7A-3E5F-E83E03C31D91}"/>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1888BD3E-5292-28EC-4B16-7D056C0A69F1}"/>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34F7E1D9-1788-A582-5B07-92619686EBC3}"/>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9238D3FC-7975-A161-49C0-06AEB150E02F}"/>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2BB5C4E9-8217-0E3E-238A-5D525DB5A28F}"/>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40894421-87F3-CB2C-E28B-66A7650F8AC2}"/>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53CE3F0F-73F9-E28C-3E46-5E056FB40F80}"/>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1AFA8524-1E81-D75E-F392-BA6BDAB20971}"/>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0FD96D70-1090-EC1C-2F3B-A7FBD5823222}"/>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C4DEF2BC-589C-6243-CF1C-311AE639A066}"/>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DD9F548D-6BD0-89C7-5F2D-8F033AA16E5C}"/>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13E3240E-8273-C179-5757-AC09F5B0F24A}"/>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0BE99D59-F8DA-30D0-24E7-6F4EC65EC8CF}"/>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36930DD4-E2CB-F080-36B1-40E48B3F284D}"/>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2701350-6C39-6971-CFDE-48E3590A3F8B}"/>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E2701350-6C39-6971-CFDE-48E3590A3F8B}"/>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08AA6AE-78B2-DA47-9774-0159CE6E088E}"/>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808AA6AE-78B2-DA47-9774-0159CE6E088E}"/>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6B06B1B-0294-914E-2404-E056F1312A58}"/>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E6B06B1B-0294-914E-2404-E056F1312A58}"/>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59090BF8-A5D0-BCB3-FD62-D1CF11D2736C}"/>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EC0678B0-8BEC-3878-6B7A-52241407C5BC}"/>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A98B0EAC-1731-34FA-4761-9788DA7EFDB4}"/>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0B76A5A9-528A-B947-FB3B-B47D1EAA140A}"/>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719693CE-6D20-94CD-90FC-CD536848E4FB}"/>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0A0574F8-1C1A-5BF0-6C79-20E0FBF78DAB}"/>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4D01926B-8B8B-7CCA-4B5A-56615E9FD26F}"/>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EB2EA948-389B-D61F-B73A-8437179D9EC1}"/>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23C119AB-3B7B-0E8B-287F-82949F641D0D}"/>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46CA248F-0823-8F54-F2CA-17411F7C13C5}"/>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C41ADC75-74CA-58C6-7559-6BF48B057DF6}"/>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30CC6990-8E3B-98ED-1F79-DE7C00FB90CF}"/>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2A352EBB-5F1E-3D29-5ACC-F2E64CE328D8}"/>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840E6E4B-E421-9A6F-490F-F4795A09D7A9}"/>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4C0EF291-278C-31F1-AB50-5D5560B036E6}"/>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49669C68-18B6-D558-EC89-D03631053989}"/>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D27372FB-EB97-F3F8-2C32-B6E54EF0AB37}"/>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B8E478AF-D839-D87B-76BF-67BE03D5EBEE}"/>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0513BB64-B950-D50B-8559-C5F0A5CAA35D}"/>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843A70AD-3D11-33E4-3363-49FC8CF4F98F}"/>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51B3F290-377E-639A-0372-2BDCE53309A0}"/>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6C624430-DF8C-5FF7-DB25-DAE5CC46DB9F}"/>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9CBAA787-F383-117D-9C97-5FAB54E6109F}"/>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9CBAA787-F383-117D-9C97-5FAB54E6109F}"/>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155854950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94948-9860-E150-07EE-117014421159}"/>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8C8866E0-2CD5-55C7-6D87-5DC48653F433}"/>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084A7672-F22F-A516-9BFA-8B0DAFA89A53}"/>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A28CBD82-9FE2-A772-23DC-DB27E315C4EC}"/>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66BA4CC3-9DB3-279C-FF1F-23440DA3B007}"/>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E6DB7E74-39FB-F8EB-FF2C-8D586DCE645F}"/>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A2864CBB-D461-6A56-B0DA-1DF3B41E116B}"/>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B8DCA406-CD8F-BDE1-BA89-09B0E128347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FB528D79-618B-50DC-FACB-7EDD6819E717}"/>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35ABA90F-E801-02CB-3883-0BA7A248C8D6}"/>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8BD998E8-F186-EB8E-EED3-268D36485642}"/>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B54F225D-42B7-D2BD-9C01-EA936C7B6401}"/>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F0005533-E50F-BE77-1AB5-B010823452B4}"/>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31C16964-1031-25F8-3CB7-0C8C6002906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D74B672-F88F-C2E1-1671-062F53612E7E}"/>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BD74B672-F88F-C2E1-1671-062F53612E7E}"/>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7256009-27EC-7BA9-AF8F-B7939AFF21CC}"/>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E7256009-27EC-7BA9-AF8F-B7939AFF21CC}"/>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261372A-73C2-F99D-571D-59CF7415DFB4}"/>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4261372A-73C2-F99D-571D-59CF7415DFB4}"/>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95C666FC-3205-7224-0471-54FAED07F273}"/>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DF576B81-F85A-CEF3-C428-1499D5517FF9}"/>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1B9976C0-E46B-B350-A9D9-AC7C662059E3}"/>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B46D3B83-9E20-E678-4022-F6ACDD74DFEE}"/>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E04A1C53-DA0F-8ADD-470D-4FB1CB84A124}"/>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FC692E57-3CE1-2D58-5B79-113B6EDAEC0F}"/>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8A3900CA-0DC8-58C6-833A-9B6ED6141127}"/>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2DF9A765-E126-D784-3A89-17EBBB1ED41E}"/>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04C2E2A8-A831-93B9-95BA-4A5BE5B62638}"/>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E2D1CE48-E9D9-6676-8336-1E1B947E2A81}"/>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B170CE2C-93C3-3944-CF50-644C9AF330F2}"/>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7C73DEA1-315E-ED01-CBE3-81D09E89EFC9}"/>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D9E15071-5D0A-6847-6B55-39F1222A4734}"/>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D072F7D5-F4CD-7BE1-0854-F6FD7A805395}"/>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2AF8EB5-27B3-E952-5D53-F8F005B63AA6}"/>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6B6F458F-7C5E-67C0-5E3C-6F2001BA0AC9}"/>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99987E1A-45FE-4CED-A791-E4C8CAE8986B}"/>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2E78B616-47AE-DF54-254B-E0D0C1CE10CB}"/>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66F66CB3-37BE-64C5-A927-60F35E0069D0}"/>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C3850582-3079-02D5-A3FA-8BD42B991DF9}"/>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BA0C0A56-66A4-2426-A723-5A11D8A422A3}"/>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494B8840-9451-211B-85C8-647D02668197}"/>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E0517608-D6CC-84AB-4644-DF0C4EDA480E}"/>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E0517608-D6CC-84AB-4644-DF0C4EDA480E}"/>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4B4781A-6D2B-A974-CCFF-CA5DD1752002}"/>
                  </a:ext>
                </a:extLst>
              </p:cNvPr>
              <p:cNvSpPr txBox="1"/>
              <p:nvPr/>
            </p:nvSpPr>
            <p:spPr>
              <a:xfrm>
                <a:off x="4668431"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D4B4781A-6D2B-A974-CCFF-CA5DD1752002}"/>
                  </a:ext>
                </a:extLst>
              </p:cNvPr>
              <p:cNvSpPr txBox="1">
                <a:spLocks noRot="1" noChangeAspect="1" noMove="1" noResize="1" noEditPoints="1" noAdjustHandles="1" noChangeArrowheads="1" noChangeShapeType="1" noTextEdit="1"/>
              </p:cNvSpPr>
              <p:nvPr/>
            </p:nvSpPr>
            <p:spPr>
              <a:xfrm>
                <a:off x="4668431" y="4301230"/>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803542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5165A-FCDC-663F-92ED-07D9A915DDC9}"/>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5B4F0C25-6584-F22D-925F-D26361F65AB0}"/>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68339B43-6CC0-5C83-D056-0437B03ACE35}"/>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51D03C9D-3825-B68E-9FBB-41083BAD1EA2}"/>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316854B0-3131-A246-1DCB-11C111FCE084}"/>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FAF7A5CF-51D6-8E72-D68D-322BE5D5965A}"/>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E16DD634-E2A8-59DF-E23D-C8EC98D3CA4A}"/>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04535EE1-577B-7C81-8D2E-D50738DC1207}"/>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A4E0A98B-5994-0B88-E6E8-8C7BBB989275}"/>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15A21BBB-9528-2248-CBD2-400BDC6F533E}"/>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1BB27445-6495-77DE-1D82-FED6483692DB}"/>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38F70190-8BEF-040E-0027-331611E22DA2}"/>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B06C898C-9260-70CA-F33E-2AB4DC7299EC}"/>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FF924752-6EE8-FD9A-A774-2682A6761D5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B2421E3-3888-E19A-7D9A-24F35099BF25}"/>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5B2421E3-3888-E19A-7D9A-24F35099BF25}"/>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6A2A294-7333-A8AA-1048-FADD168B6086}"/>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F6A2A294-7333-A8AA-1048-FADD168B6086}"/>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79CB08C-73EE-5A52-FFFD-83CCB162BF99}"/>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A79CB08C-73EE-5A52-FFFD-83CCB162BF99}"/>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620855D7-F1EE-7A99-38BD-2E8BE2FFE04E}"/>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9DD0F09B-334F-C2CA-997E-9421E6AD34C4}"/>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CDC50273-F514-31D3-0527-E159978704E1}"/>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93BB4D40-685A-544E-403F-58425F93D766}"/>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6050DABB-97B0-7402-E263-6FF100A1C283}"/>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D9A10F1A-73E3-9CA0-4A97-9CB505BE2973}"/>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303B913E-0B51-52F2-EB56-CB5C0765E1FB}"/>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20403F07-062B-7911-36AF-291F48D81746}"/>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CEB921EA-2002-A945-014F-208CED235193}"/>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93D66B18-0634-CF7A-4BAA-823E3F096860}"/>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30FFBF0D-F7EE-DCE6-F01A-A942C5522999}"/>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35B7ECDD-477E-B236-F4C4-7324DBE119BC}"/>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DDD4CFC8-5333-C2A0-92AA-1194B6735106}"/>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C4C8AA1D-5C2A-5E32-8389-C5B284F0980D}"/>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260EE3B-7C5A-C072-37D0-FB3E8ED862D7}"/>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DBD1046C-E4B6-7BF1-CA05-F62A8797678F}"/>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B45A17B2-BD42-6D93-6EE1-42B3261EFAEE}"/>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95241745-2827-1633-4F1D-DA7003D333B2}"/>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4F10CB42-144E-FA08-8F5C-F0C995A3910E}"/>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BCABBDC7-FDCA-B288-F216-43A31572663D}"/>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721F02C3-0BDA-5BFD-ABDF-D50DE73AFE9D}"/>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4A7E3E38-9D02-C59E-B8BD-7F9860B3981D}"/>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658C663C-3735-E32C-A402-407093EC0B8B}"/>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658C663C-3735-E32C-A402-407093EC0B8B}"/>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17EE99B-C2A2-95F8-3158-EC324F072FD5}"/>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F17EE99B-C2A2-95F8-3158-EC324F072FD5}"/>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69647213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B5BEA-D938-4B6F-93ED-6226EECD1FA1}"/>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B00384EA-61CF-9155-2AFF-A833C7713CCB}"/>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679C564A-3496-9156-8271-19F8D79FBDCB}"/>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F661DF06-C620-834F-2853-6A69C148747A}"/>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C7B607BF-5AC9-6515-2B8A-4565354B6FE5}"/>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127A102B-2986-A4FD-3469-B09A4AF06EE3}"/>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4D2A0F89-1633-6D83-39D3-92D54A9653E8}"/>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3E8C627D-3029-FA83-3983-08967899C87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B6613E3B-B573-FC20-ED03-5C3F68733942}"/>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3A98405D-A3D6-58A6-57A2-582F4ABFE8DF}"/>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5E98CB05-7551-69F0-CF60-7F090F36A09B}"/>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5BD54EA1-9EE0-DFDE-EBB6-A0B4F138F0A5}"/>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4C0064B9-D8F3-C15B-B069-48AAA2A3EC0C}"/>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E1930346-C8CD-452B-9DED-EE00E63217D4}"/>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84C2425-0D9D-11F6-4CAE-9C407D785956}"/>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B84C2425-0D9D-11F6-4CAE-9C407D785956}"/>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E55A23F-0E1D-B66E-A84C-767FAEA6723F}"/>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5E55A23F-0E1D-B66E-A84C-767FAEA6723F}"/>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0276924-E52D-4315-5A09-EAD06BFAFC2E}"/>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E0276924-E52D-4315-5A09-EAD06BFAFC2E}"/>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F134099C-1B34-FF42-DB65-F1C0B4807AC5}"/>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DE86DC34-B697-786C-0614-363ED2B3F66F}"/>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8D151B42-9CF8-D224-A55F-3996D5FD9891}"/>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F131DF37-97C4-728F-30E6-EAC4E40ECA97}"/>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CEF3A397-2107-F99C-693E-E053BF7525C1}"/>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F5EA71FF-53F3-C02C-D35C-E8F682A8716D}"/>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0B9555CF-4A24-419C-0BE5-F6DAD219591B}"/>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BE818EAC-F9EE-2FAC-EED3-AE070BA9F3E0}"/>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9F8C6EEE-0354-B3AE-C39C-8A5F99F50D76}"/>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211E80E0-90FA-F040-DC18-66DAE44A49E5}"/>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3858B5E9-8076-3C16-5F2F-354B414BFDC7}"/>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1070F65C-4FCE-692A-325D-52D45E0F08BF}"/>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66D5F159-3545-DDC6-AD6F-AF99995D001A}"/>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C0EAB519-F2ED-DC3C-AD80-BA5CE542A7F4}"/>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E58383A0-0F76-279A-2ED9-92741C0F21A4}"/>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349980A4-35DF-2E3A-2C68-3A85D35CD741}"/>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E03EFBC0-AEBE-0016-8FAA-D8A73718D422}"/>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FDE6717B-2138-6512-4797-5E1401746921}"/>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D1866C6B-7E0A-50B1-BC74-87F751481513}"/>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3720046F-2A3A-E008-F19F-7294CEFA8D89}"/>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664B81AC-1193-D07C-F3AE-B05C8D4B1B4B}"/>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B4D2957E-4BF3-E715-1D4B-A4EFC2DD23E6}"/>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7C538DE3-2479-6F3A-9567-3391DC873033}"/>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7C538DE3-2479-6F3A-9567-3391DC873033}"/>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827CAC6-AB9E-88A9-7072-EB435811C31D}"/>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A827CAC6-AB9E-88A9-7072-EB435811C31D}"/>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169531768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CC05E-FE46-D389-D84C-6CCBA949FD8C}"/>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C2FB07CD-398B-5307-82C4-81352E26898F}"/>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5012F68E-4053-AD26-BCDE-1EBC18EA1408}"/>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22769D1D-DE14-9F6C-5598-9E4029333CB5}"/>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C1192573-409B-4EDD-3E7D-FA89E24F9AE3}"/>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1A04946D-709D-DDF9-0650-346B120C25E9}"/>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B9624FEC-59D6-138F-817F-C8B8FEABF251}"/>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3F190FB0-4F5D-8FC0-FCE5-BEB6B57D0777}"/>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39C9F2C3-E060-C9F6-9720-5B562BB5E85C}"/>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5D70E8C8-3D2D-AFDF-9F88-D2FD240CF453}"/>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750089AD-9C8C-EF8F-127A-F66099DF6866}"/>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31702AF0-7927-CA26-4869-C7CA75E69EF4}"/>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E49DEEA1-8C1A-BF55-BC21-53B76DCEFBA8}"/>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1527B483-592D-BCDA-61D4-FE1B87F6C651}"/>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2765D9-9F13-FA26-86FF-4B15BF782399}"/>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762765D9-9F13-FA26-86FF-4B15BF782399}"/>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62CBBAD-55F6-B8F0-E070-C291320A1545}"/>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662CBBAD-55F6-B8F0-E070-C291320A1545}"/>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96B1EE9-8254-6968-2E87-93D173036A8D}"/>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396B1EE9-8254-6968-2E87-93D173036A8D}"/>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BB85F0E1-AD90-503B-2E55-66487254778F}"/>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6E9429E8-7F37-4C9F-CB65-0D1672103852}"/>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68B797C0-8059-D4CE-30D3-7277D6BB3EC2}"/>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01BF7F66-D6ED-C54C-A7F9-A86D50BFFF4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90ADCB9B-229E-E91B-14A2-6F02073E59EA}"/>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DE542D76-E4E7-458D-381F-5AEF336A4D51}"/>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14FFCBEF-7FFD-7015-26D5-C11AC59382ED}"/>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86CD19F0-3DAB-7E19-EBED-FC89CD87F221}"/>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92DB0515-8699-1339-DC1C-6E1EDC58510D}"/>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0B098114-1292-F254-7FAE-9ABC08F58E70}"/>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7F919157-CEB1-2CEB-61AC-47A8286EA488}"/>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891E599B-09BC-C38B-BA96-C8151D26273D}"/>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B8F4679D-3CB8-F76F-F42F-1701A3EB786C}"/>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6CC7DAE2-4C9D-4B9A-3F6E-3018464425B0}"/>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3CB3951F-716F-C75C-7795-0431CF22D0EC}"/>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6A44C0E8-527F-3E23-0264-3483C66AF7FD}"/>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55C8044E-D0B9-4B6E-2706-9B4363FBBD03}"/>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5C6D81CA-497A-7603-E9BB-2836C4D4760E}"/>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818C76DC-2EA8-E74C-5AD2-28352EF4DDDC}"/>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50D947E4-D54E-C539-C841-8745924B6A32}"/>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A3C1805F-1A58-392C-5FD1-E02B757FEB12}"/>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4AE5BF0A-99E5-BF5B-B35E-A9B1F64F8663}"/>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6DD49955-1C7A-1B8F-38AA-93E359290747}"/>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6DD49955-1C7A-1B8F-38AA-93E359290747}"/>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98488AB-1385-A304-F218-2C38385DF62D}"/>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598488AB-1385-A304-F218-2C38385DF62D}"/>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10055063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06CBB-1C91-6860-38ED-CDB0533C6F63}"/>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E931B37D-D44E-906F-DC15-8483C168740E}"/>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849CC04B-EA16-7218-EB9A-41BCC68C40BD}"/>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877CF335-9046-D047-392F-2A0B7B9CCFFF}"/>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69FDB21C-1763-F2DE-172E-BF6C1FF500DC}"/>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FFB9D775-7EEC-7F58-3395-8A4E5B4F8FAF}"/>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2BB7AD26-FB91-70F5-FDED-FBE17AC919E0}"/>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AD29DA56-ACA6-B2B3-F958-B83862B0432F}"/>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63B3EEEB-0CD5-12F7-38E3-E561267C0F24}"/>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9E862FD4-B7C3-AF7A-FA28-CDF8E97B231D}"/>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C4CFC538-B8CE-F987-313D-CAA794F1A22E}"/>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F70D572E-0C8E-C99C-3CFC-59FCCCA8A50D}"/>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64B8BC68-688D-A84F-285D-EEEC26F18130}"/>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98572D16-EE75-3AE3-F7E3-C34E43BB9888}"/>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F95BC9C-BA80-C21A-5184-7F4D073CEF3E}"/>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0F95BC9C-BA80-C21A-5184-7F4D073CEF3E}"/>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A3297EF-0BC9-678E-4284-C21293CDEF1D}"/>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0A3297EF-0BC9-678E-4284-C21293CDEF1D}"/>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4240076-429A-4887-620E-6DB08B2DBAE3}"/>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64240076-429A-4887-620E-6DB08B2DBAE3}"/>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921E4AD9-DBBD-354E-3B96-C1BFA23FBF73}"/>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0ACFDE4C-8D59-639F-0CE2-50F1325D9968}"/>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96763D78-3F7C-3627-6377-FEAADC67F6EE}"/>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7ECF8AA4-0FA7-F016-9DD6-92520A2BF93C}"/>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9448AF0B-842F-DAC3-B207-C926E33E972E}"/>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C9142DEF-425C-BFC8-C92D-14FCD0FA2DED}"/>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2AA17B4C-6396-0E5A-B2EE-43B1BF303E12}"/>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182EE3BA-8A51-2BB5-1DB6-BAB08288D5CA}"/>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85473A01-5F01-E6C8-095E-CD92B442B7DD}"/>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AD8D91A3-FF12-754F-538A-5776FE4B6FE4}"/>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7B437B9D-0ED5-85A5-58E4-08FD14EB7D3E}"/>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8A121687-9660-D6AA-20B4-F6F8D82E6238}"/>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B2DBC26A-039E-7C2E-FE62-E23B3DBD84DE}"/>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DE1F43F0-71F6-BA37-4864-B6A1F94AC3E1}"/>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1762C8DB-81D1-E093-27AB-1DA43834AC7C}"/>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4D61B1EA-774B-D1DD-F9D4-497C82FF7062}"/>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1EC40DC1-780E-7CA5-72F2-7435F006521F}"/>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ABA4569E-2EB6-D8A0-F7DD-9F1513C9F627}"/>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4B5677EE-D43B-3F10-E4CA-73032707604B}"/>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2358053D-0B24-2539-8C35-91F179AF5C08}"/>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70C2E1B5-65E5-78E6-FF92-12516E92627C}"/>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CA00EABD-FBAE-5356-6672-D08A40D9B454}"/>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77E31F3E-6107-D303-95C5-3354E6AD363F}"/>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77E31F3E-6107-D303-95C5-3354E6AD363F}"/>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41435EC-4A0E-6A6D-2B63-7F28BE4CBC31}"/>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241435EC-4A0E-6A6D-2B63-7F28BE4CBC31}"/>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8392DD1-D14D-721E-6E59-6D824882ADA5}"/>
                  </a:ext>
                </a:extLst>
              </p:cNvPr>
              <p:cNvSpPr txBox="1"/>
              <p:nvPr/>
            </p:nvSpPr>
            <p:spPr>
              <a:xfrm>
                <a:off x="8401052" y="3072598"/>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 name="TextBox 2">
                <a:extLst>
                  <a:ext uri="{FF2B5EF4-FFF2-40B4-BE49-F238E27FC236}">
                    <a16:creationId xmlns:a16="http://schemas.microsoft.com/office/drawing/2014/main" id="{78392DD1-D14D-721E-6E59-6D824882ADA5}"/>
                  </a:ext>
                </a:extLst>
              </p:cNvPr>
              <p:cNvSpPr txBox="1">
                <a:spLocks noRot="1" noChangeAspect="1" noMove="1" noResize="1" noEditPoints="1" noAdjustHandles="1" noChangeArrowheads="1" noChangeShapeType="1" noTextEdit="1"/>
              </p:cNvSpPr>
              <p:nvPr/>
            </p:nvSpPr>
            <p:spPr>
              <a:xfrm>
                <a:off x="8401052" y="3072598"/>
                <a:ext cx="1170039" cy="1477328"/>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15F03A4-A7B8-E651-7486-7D34E9D227F0}"/>
                  </a:ext>
                </a:extLst>
              </p:cNvPr>
              <p:cNvSpPr txBox="1"/>
              <p:nvPr/>
            </p:nvSpPr>
            <p:spPr>
              <a:xfrm>
                <a:off x="7197117" y="4362778"/>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5" name="TextBox 4">
                <a:extLst>
                  <a:ext uri="{FF2B5EF4-FFF2-40B4-BE49-F238E27FC236}">
                    <a16:creationId xmlns:a16="http://schemas.microsoft.com/office/drawing/2014/main" id="{615F03A4-A7B8-E651-7486-7D34E9D227F0}"/>
                  </a:ext>
                </a:extLst>
              </p:cNvPr>
              <p:cNvSpPr txBox="1">
                <a:spLocks noRot="1" noChangeAspect="1" noMove="1" noResize="1" noEditPoints="1" noAdjustHandles="1" noChangeArrowheads="1" noChangeShapeType="1" noTextEdit="1"/>
              </p:cNvSpPr>
              <p:nvPr/>
            </p:nvSpPr>
            <p:spPr>
              <a:xfrm>
                <a:off x="7197117" y="4362778"/>
                <a:ext cx="1170039" cy="1477328"/>
              </a:xfrm>
              <a:prstGeom prst="rect">
                <a:avLst/>
              </a:prstGeom>
              <a:blipFill>
                <a:blip r:embed="rId8"/>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38980315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83A9E-4EED-D5CC-7D18-3D0C638D4686}"/>
            </a:ext>
          </a:extLst>
        </p:cNvPr>
        <p:cNvGrpSpPr/>
        <p:nvPr/>
      </p:nvGrpSpPr>
      <p:grpSpPr>
        <a:xfrm>
          <a:off x="0" y="0"/>
          <a:ext cx="0" cy="0"/>
          <a:chOff x="0" y="0"/>
          <a:chExt cx="0" cy="0"/>
        </a:xfrm>
      </p:grpSpPr>
      <p:sp>
        <p:nvSpPr>
          <p:cNvPr id="4" name="Flowchart: Connector 3">
            <a:extLst>
              <a:ext uri="{FF2B5EF4-FFF2-40B4-BE49-F238E27FC236}">
                <a16:creationId xmlns:a16="http://schemas.microsoft.com/office/drawing/2014/main" id="{6D456A09-7E71-78B1-3287-0D4D79849EC3}"/>
              </a:ext>
            </a:extLst>
          </p:cNvPr>
          <p:cNvSpPr/>
          <p:nvPr/>
        </p:nvSpPr>
        <p:spPr>
          <a:xfrm>
            <a:off x="6732531" y="25361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6" name="Straight Connector 5">
            <a:extLst>
              <a:ext uri="{FF2B5EF4-FFF2-40B4-BE49-F238E27FC236}">
                <a16:creationId xmlns:a16="http://schemas.microsoft.com/office/drawing/2014/main" id="{093BA0FD-038F-D4F6-6278-670D91BA6C2C}"/>
              </a:ext>
            </a:extLst>
          </p:cNvPr>
          <p:cNvCxnSpPr>
            <a:cxnSpLocks/>
            <a:stCxn id="4" idx="3"/>
            <a:endCxn id="11" idx="7"/>
          </p:cNvCxnSpPr>
          <p:nvPr/>
        </p:nvCxnSpPr>
        <p:spPr>
          <a:xfrm flipH="1">
            <a:off x="6075066" y="748767"/>
            <a:ext cx="739539" cy="874966"/>
          </a:xfrm>
          <a:prstGeom prst="line">
            <a:avLst/>
          </a:prstGeom>
        </p:spPr>
        <p:style>
          <a:lnRef idx="2">
            <a:schemeClr val="dk1"/>
          </a:lnRef>
          <a:fillRef idx="0">
            <a:schemeClr val="dk1"/>
          </a:fillRef>
          <a:effectRef idx="1">
            <a:schemeClr val="dk1"/>
          </a:effectRef>
          <a:fontRef idx="minor">
            <a:schemeClr val="tx1"/>
          </a:fontRef>
        </p:style>
      </p:cxnSp>
      <p:sp>
        <p:nvSpPr>
          <p:cNvPr id="11" name="Flowchart: Connector 10">
            <a:extLst>
              <a:ext uri="{FF2B5EF4-FFF2-40B4-BE49-F238E27FC236}">
                <a16:creationId xmlns:a16="http://schemas.microsoft.com/office/drawing/2014/main" id="{8C8944BF-2A69-26CA-C8EF-B0C98D2C7197}"/>
              </a:ext>
            </a:extLst>
          </p:cNvPr>
          <p:cNvSpPr/>
          <p:nvPr/>
        </p:nvSpPr>
        <p:spPr>
          <a:xfrm>
            <a:off x="5596701" y="153877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7" name="Straight Connector 16">
            <a:extLst>
              <a:ext uri="{FF2B5EF4-FFF2-40B4-BE49-F238E27FC236}">
                <a16:creationId xmlns:a16="http://schemas.microsoft.com/office/drawing/2014/main" id="{A4DDC550-8BAE-0B23-08C6-D296DC777C44}"/>
              </a:ext>
            </a:extLst>
          </p:cNvPr>
          <p:cNvCxnSpPr>
            <a:cxnSpLocks/>
            <a:stCxn id="11" idx="3"/>
            <a:endCxn id="42" idx="7"/>
          </p:cNvCxnSpPr>
          <p:nvPr/>
        </p:nvCxnSpPr>
        <p:spPr>
          <a:xfrm flipH="1">
            <a:off x="3829354" y="2033928"/>
            <a:ext cx="1849421" cy="1329774"/>
          </a:xfrm>
          <a:prstGeom prst="line">
            <a:avLst/>
          </a:prstGeom>
        </p:spPr>
        <p:style>
          <a:lnRef idx="2">
            <a:schemeClr val="dk1"/>
          </a:lnRef>
          <a:fillRef idx="0">
            <a:schemeClr val="dk1"/>
          </a:fillRef>
          <a:effectRef idx="1">
            <a:schemeClr val="dk1"/>
          </a:effectRef>
          <a:fontRef idx="minor">
            <a:schemeClr val="tx1"/>
          </a:fontRef>
        </p:style>
      </p:cxnSp>
      <p:sp>
        <p:nvSpPr>
          <p:cNvPr id="42" name="Flowchart: Connector 41">
            <a:extLst>
              <a:ext uri="{FF2B5EF4-FFF2-40B4-BE49-F238E27FC236}">
                <a16:creationId xmlns:a16="http://schemas.microsoft.com/office/drawing/2014/main" id="{4669EBE1-FD76-6675-3384-816092908069}"/>
              </a:ext>
            </a:extLst>
          </p:cNvPr>
          <p:cNvSpPr/>
          <p:nvPr/>
        </p:nvSpPr>
        <p:spPr>
          <a:xfrm>
            <a:off x="3350989" y="32787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55" name="Straight Connector 54">
            <a:extLst>
              <a:ext uri="{FF2B5EF4-FFF2-40B4-BE49-F238E27FC236}">
                <a16:creationId xmlns:a16="http://schemas.microsoft.com/office/drawing/2014/main" id="{D986FA0D-3E1A-D8DF-E8D2-7F38CB290EAF}"/>
              </a:ext>
            </a:extLst>
          </p:cNvPr>
          <p:cNvCxnSpPr>
            <a:cxnSpLocks/>
            <a:stCxn id="42" idx="5"/>
            <a:endCxn id="59" idx="0"/>
          </p:cNvCxnSpPr>
          <p:nvPr/>
        </p:nvCxnSpPr>
        <p:spPr>
          <a:xfrm>
            <a:off x="3829354" y="3773897"/>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F13EDC7C-0B37-5234-B04A-655BA33F3613}"/>
              </a:ext>
            </a:extLst>
          </p:cNvPr>
          <p:cNvCxnSpPr>
            <a:cxnSpLocks/>
            <a:stCxn id="42" idx="3"/>
            <a:endCxn id="60" idx="0"/>
          </p:cNvCxnSpPr>
          <p:nvPr/>
        </p:nvCxnSpPr>
        <p:spPr>
          <a:xfrm flipH="1">
            <a:off x="2444398" y="3773897"/>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59" name="Flowchart: Connector 58">
            <a:extLst>
              <a:ext uri="{FF2B5EF4-FFF2-40B4-BE49-F238E27FC236}">
                <a16:creationId xmlns:a16="http://schemas.microsoft.com/office/drawing/2014/main" id="{CDF598F8-E007-98A9-060A-D35260C6A7D9}"/>
              </a:ext>
            </a:extLst>
          </p:cNvPr>
          <p:cNvSpPr/>
          <p:nvPr/>
        </p:nvSpPr>
        <p:spPr>
          <a:xfrm>
            <a:off x="4286188" y="451673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60" name="Flowchart: Connector 59">
            <a:extLst>
              <a:ext uri="{FF2B5EF4-FFF2-40B4-BE49-F238E27FC236}">
                <a16:creationId xmlns:a16="http://schemas.microsoft.com/office/drawing/2014/main" id="{0D68BCC1-C99C-A329-E6FE-7FB5FAFC278D}"/>
              </a:ext>
            </a:extLst>
          </p:cNvPr>
          <p:cNvSpPr/>
          <p:nvPr/>
        </p:nvSpPr>
        <p:spPr>
          <a:xfrm>
            <a:off x="2164178" y="452911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44" name="TextBox 143">
            <a:extLst>
              <a:ext uri="{FF2B5EF4-FFF2-40B4-BE49-F238E27FC236}">
                <a16:creationId xmlns:a16="http://schemas.microsoft.com/office/drawing/2014/main" id="{12DD6A84-402B-54EC-C24B-71BDA6F8FDB3}"/>
              </a:ext>
            </a:extLst>
          </p:cNvPr>
          <p:cNvSpPr txBox="1"/>
          <p:nvPr/>
        </p:nvSpPr>
        <p:spPr>
          <a:xfrm>
            <a:off x="444157" y="3223799"/>
            <a:ext cx="1138667" cy="523220"/>
          </a:xfrm>
          <a:prstGeom prst="rect">
            <a:avLst/>
          </a:prstGeom>
          <a:noFill/>
        </p:spPr>
        <p:txBody>
          <a:bodyPr wrap="square" rtlCol="0">
            <a:spAutoFit/>
          </a:bodyPr>
          <a:lstStyle/>
          <a:p>
            <a:r>
              <a:rPr lang="en-US" sz="2800" dirty="0"/>
              <a:t>MAX</a:t>
            </a:r>
            <a:endParaRPr lang="vi-VN" sz="2800" dirty="0"/>
          </a:p>
        </p:txBody>
      </p:sp>
      <p:sp>
        <p:nvSpPr>
          <p:cNvPr id="145" name="TextBox 144">
            <a:extLst>
              <a:ext uri="{FF2B5EF4-FFF2-40B4-BE49-F238E27FC236}">
                <a16:creationId xmlns:a16="http://schemas.microsoft.com/office/drawing/2014/main" id="{B9127A43-DE15-139D-4B39-61D48E32A314}"/>
              </a:ext>
            </a:extLst>
          </p:cNvPr>
          <p:cNvSpPr txBox="1"/>
          <p:nvPr/>
        </p:nvSpPr>
        <p:spPr>
          <a:xfrm>
            <a:off x="444160" y="1655399"/>
            <a:ext cx="1138667" cy="523220"/>
          </a:xfrm>
          <a:prstGeom prst="rect">
            <a:avLst/>
          </a:prstGeom>
          <a:noFill/>
        </p:spPr>
        <p:txBody>
          <a:bodyPr wrap="square" rtlCol="0">
            <a:spAutoFit/>
          </a:bodyPr>
          <a:lstStyle/>
          <a:p>
            <a:r>
              <a:rPr lang="en-US" sz="2800" dirty="0"/>
              <a:t>MIN</a:t>
            </a:r>
            <a:endParaRPr lang="vi-VN" sz="2800" dirty="0"/>
          </a:p>
        </p:txBody>
      </p:sp>
      <p:sp>
        <p:nvSpPr>
          <p:cNvPr id="29" name="TextBox 28">
            <a:extLst>
              <a:ext uri="{FF2B5EF4-FFF2-40B4-BE49-F238E27FC236}">
                <a16:creationId xmlns:a16="http://schemas.microsoft.com/office/drawing/2014/main" id="{81DDEA33-E822-B967-2664-D9F9CD8E57F0}"/>
              </a:ext>
            </a:extLst>
          </p:cNvPr>
          <p:cNvSpPr txBox="1"/>
          <p:nvPr/>
        </p:nvSpPr>
        <p:spPr>
          <a:xfrm>
            <a:off x="444159" y="751582"/>
            <a:ext cx="1138667" cy="523220"/>
          </a:xfrm>
          <a:prstGeom prst="rect">
            <a:avLst/>
          </a:prstGeom>
          <a:noFill/>
        </p:spPr>
        <p:txBody>
          <a:bodyPr wrap="square" rtlCol="0">
            <a:spAutoFit/>
          </a:bodyPr>
          <a:lstStyle/>
          <a:p>
            <a:r>
              <a:rPr lang="en-US" sz="2800" dirty="0"/>
              <a:t>MAX</a:t>
            </a:r>
            <a:endParaRPr lang="vi-VN" sz="2800" dirty="0"/>
          </a:p>
        </p:txBody>
      </p:sp>
      <p:sp>
        <p:nvSpPr>
          <p:cNvPr id="31" name="TextBox 30">
            <a:extLst>
              <a:ext uri="{FF2B5EF4-FFF2-40B4-BE49-F238E27FC236}">
                <a16:creationId xmlns:a16="http://schemas.microsoft.com/office/drawing/2014/main" id="{23436881-D12A-EC5C-538F-CE4024920E1E}"/>
              </a:ext>
            </a:extLst>
          </p:cNvPr>
          <p:cNvSpPr txBox="1"/>
          <p:nvPr/>
        </p:nvSpPr>
        <p:spPr>
          <a:xfrm>
            <a:off x="432079" y="4516674"/>
            <a:ext cx="1138667" cy="523220"/>
          </a:xfrm>
          <a:prstGeom prst="rect">
            <a:avLst/>
          </a:prstGeom>
          <a:noFill/>
        </p:spPr>
        <p:txBody>
          <a:bodyPr wrap="square" rtlCol="0">
            <a:spAutoFit/>
          </a:bodyPr>
          <a:lstStyle/>
          <a:p>
            <a:r>
              <a:rPr lang="en-US" sz="2800" dirty="0"/>
              <a:t>MIN</a:t>
            </a:r>
            <a:endParaRPr lang="vi-VN" sz="2800"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8219225-5E09-9C7A-1EEC-80CC8C09B114}"/>
                  </a:ext>
                </a:extLst>
              </p:cNvPr>
              <p:cNvSpPr txBox="1"/>
              <p:nvPr/>
            </p:nvSpPr>
            <p:spPr>
              <a:xfrm>
                <a:off x="7384325" y="9505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5" name="TextBox 34">
                <a:extLst>
                  <a:ext uri="{FF2B5EF4-FFF2-40B4-BE49-F238E27FC236}">
                    <a16:creationId xmlns:a16="http://schemas.microsoft.com/office/drawing/2014/main" id="{28219225-5E09-9C7A-1EEC-80CC8C09B114}"/>
                  </a:ext>
                </a:extLst>
              </p:cNvPr>
              <p:cNvSpPr txBox="1">
                <a:spLocks noRot="1" noChangeAspect="1" noMove="1" noResize="1" noEditPoints="1" noAdjustHandles="1" noChangeArrowheads="1" noChangeShapeType="1" noTextEdit="1"/>
              </p:cNvSpPr>
              <p:nvPr/>
            </p:nvSpPr>
            <p:spPr>
              <a:xfrm>
                <a:off x="7384325" y="95057"/>
                <a:ext cx="1170039" cy="1477328"/>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8AFA01A-6146-088E-83DF-18FFBD21B28D}"/>
                  </a:ext>
                </a:extLst>
              </p:cNvPr>
              <p:cNvSpPr txBox="1"/>
              <p:nvPr/>
            </p:nvSpPr>
            <p:spPr>
              <a:xfrm>
                <a:off x="6355285" y="1299403"/>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6" name="TextBox 35">
                <a:extLst>
                  <a:ext uri="{FF2B5EF4-FFF2-40B4-BE49-F238E27FC236}">
                    <a16:creationId xmlns:a16="http://schemas.microsoft.com/office/drawing/2014/main" id="{78AFA01A-6146-088E-83DF-18FFBD21B28D}"/>
                  </a:ext>
                </a:extLst>
              </p:cNvPr>
              <p:cNvSpPr txBox="1">
                <a:spLocks noRot="1" noChangeAspect="1" noMove="1" noResize="1" noEditPoints="1" noAdjustHandles="1" noChangeArrowheads="1" noChangeShapeType="1" noTextEdit="1"/>
              </p:cNvSpPr>
              <p:nvPr/>
            </p:nvSpPr>
            <p:spPr>
              <a:xfrm>
                <a:off x="6355285" y="1299403"/>
                <a:ext cx="1170039" cy="1477328"/>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E058003-EB78-FB06-35CA-34D37EB39876}"/>
                  </a:ext>
                </a:extLst>
              </p:cNvPr>
              <p:cNvSpPr txBox="1"/>
              <p:nvPr/>
            </p:nvSpPr>
            <p:spPr>
              <a:xfrm>
                <a:off x="3887646" y="3120187"/>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 ∞</m:t>
                      </m:r>
                    </m:oMath>
                  </m:oMathPara>
                </a14:m>
                <a:endParaRPr lang="en-US" b="0" dirty="0"/>
              </a:p>
              <a:p>
                <a:endParaRPr lang="en-US" b="0" dirty="0"/>
              </a:p>
              <a:p>
                <a:endParaRPr lang="en-US" dirty="0"/>
              </a:p>
            </p:txBody>
          </p:sp>
        </mc:Choice>
        <mc:Fallback xmlns="">
          <p:sp>
            <p:nvSpPr>
              <p:cNvPr id="37" name="TextBox 36">
                <a:extLst>
                  <a:ext uri="{FF2B5EF4-FFF2-40B4-BE49-F238E27FC236}">
                    <a16:creationId xmlns:a16="http://schemas.microsoft.com/office/drawing/2014/main" id="{7E058003-EB78-FB06-35CA-34D37EB39876}"/>
                  </a:ext>
                </a:extLst>
              </p:cNvPr>
              <p:cNvSpPr txBox="1">
                <a:spLocks noRot="1" noChangeAspect="1" noMove="1" noResize="1" noEditPoints="1" noAdjustHandles="1" noChangeArrowheads="1" noChangeShapeType="1" noTextEdit="1"/>
              </p:cNvSpPr>
              <p:nvPr/>
            </p:nvSpPr>
            <p:spPr>
              <a:xfrm>
                <a:off x="3887646" y="3120187"/>
                <a:ext cx="1170039" cy="1477328"/>
              </a:xfrm>
              <a:prstGeom prst="rect">
                <a:avLst/>
              </a:prstGeom>
              <a:blipFill>
                <a:blip r:embed="rId4"/>
                <a:stretch>
                  <a:fillRect/>
                </a:stretch>
              </a:blipFill>
            </p:spPr>
            <p:txBody>
              <a:bodyPr/>
              <a:lstStyle/>
              <a:p>
                <a:r>
                  <a:rPr lang="vi-VN">
                    <a:noFill/>
                  </a:rPr>
                  <a:t> </a:t>
                </a:r>
              </a:p>
            </p:txBody>
          </p:sp>
        </mc:Fallback>
      </mc:AlternateContent>
      <p:cxnSp>
        <p:nvCxnSpPr>
          <p:cNvPr id="40" name="Straight Connector 39">
            <a:extLst>
              <a:ext uri="{FF2B5EF4-FFF2-40B4-BE49-F238E27FC236}">
                <a16:creationId xmlns:a16="http://schemas.microsoft.com/office/drawing/2014/main" id="{10F12BA9-1182-B78A-5746-4087B2E38090}"/>
              </a:ext>
            </a:extLst>
          </p:cNvPr>
          <p:cNvCxnSpPr>
            <a:cxnSpLocks/>
            <a:stCxn id="60" idx="5"/>
            <a:endCxn id="48" idx="0"/>
          </p:cNvCxnSpPr>
          <p:nvPr/>
        </p:nvCxnSpPr>
        <p:spPr>
          <a:xfrm>
            <a:off x="2642543" y="5024266"/>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B01C2185-8506-04CF-FC0C-1389AB801A87}"/>
              </a:ext>
            </a:extLst>
          </p:cNvPr>
          <p:cNvCxnSpPr>
            <a:cxnSpLocks/>
            <a:stCxn id="60" idx="3"/>
            <a:endCxn id="49" idx="0"/>
          </p:cNvCxnSpPr>
          <p:nvPr/>
        </p:nvCxnSpPr>
        <p:spPr>
          <a:xfrm flipH="1">
            <a:off x="1786933" y="5024266"/>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48" name="Flowchart: Connector 47">
            <a:extLst>
              <a:ext uri="{FF2B5EF4-FFF2-40B4-BE49-F238E27FC236}">
                <a16:creationId xmlns:a16="http://schemas.microsoft.com/office/drawing/2014/main" id="{DCCCA50C-6A0F-3622-BE5A-F282BA7E7888}"/>
              </a:ext>
            </a:extLst>
          </p:cNvPr>
          <p:cNvSpPr/>
          <p:nvPr/>
        </p:nvSpPr>
        <p:spPr>
          <a:xfrm>
            <a:off x="2751149" y="5864439"/>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5</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49" name="Flowchart: Connector 48">
            <a:extLst>
              <a:ext uri="{FF2B5EF4-FFF2-40B4-BE49-F238E27FC236}">
                <a16:creationId xmlns:a16="http://schemas.microsoft.com/office/drawing/2014/main" id="{FC5123EC-088E-8F71-41A9-ED5E6DB2F11A}"/>
              </a:ext>
            </a:extLst>
          </p:cNvPr>
          <p:cNvSpPr/>
          <p:nvPr/>
        </p:nvSpPr>
        <p:spPr>
          <a:xfrm>
            <a:off x="1506713" y="584010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10</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69" name="Straight Connector 68">
            <a:extLst>
              <a:ext uri="{FF2B5EF4-FFF2-40B4-BE49-F238E27FC236}">
                <a16:creationId xmlns:a16="http://schemas.microsoft.com/office/drawing/2014/main" id="{FEA7AEC6-0356-DAA3-C113-A34B15CA0F44}"/>
              </a:ext>
            </a:extLst>
          </p:cNvPr>
          <p:cNvCxnSpPr>
            <a:cxnSpLocks/>
            <a:stCxn id="59" idx="5"/>
            <a:endCxn id="71" idx="0"/>
          </p:cNvCxnSpPr>
          <p:nvPr/>
        </p:nvCxnSpPr>
        <p:spPr>
          <a:xfrm>
            <a:off x="4764553" y="5011886"/>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686A5AD9-B5A9-8F01-B6E5-E5ED202A2B62}"/>
              </a:ext>
            </a:extLst>
          </p:cNvPr>
          <p:cNvCxnSpPr>
            <a:cxnSpLocks/>
            <a:stCxn id="59" idx="3"/>
            <a:endCxn id="72" idx="0"/>
          </p:cNvCxnSpPr>
          <p:nvPr/>
        </p:nvCxnSpPr>
        <p:spPr>
          <a:xfrm flipH="1">
            <a:off x="3955451" y="5011886"/>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71" name="Flowchart: Connector 70">
            <a:extLst>
              <a:ext uri="{FF2B5EF4-FFF2-40B4-BE49-F238E27FC236}">
                <a16:creationId xmlns:a16="http://schemas.microsoft.com/office/drawing/2014/main" id="{612C734E-25C3-EDCE-1E9E-A9C87E493AF8}"/>
              </a:ext>
            </a:extLst>
          </p:cNvPr>
          <p:cNvSpPr/>
          <p:nvPr/>
        </p:nvSpPr>
        <p:spPr>
          <a:xfrm>
            <a:off x="4903389" y="59020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11</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72" name="Flowchart: Connector 71">
            <a:extLst>
              <a:ext uri="{FF2B5EF4-FFF2-40B4-BE49-F238E27FC236}">
                <a16:creationId xmlns:a16="http://schemas.microsoft.com/office/drawing/2014/main" id="{BB5C10ED-95E2-265A-D42D-CBF2A70914DD}"/>
              </a:ext>
            </a:extLst>
          </p:cNvPr>
          <p:cNvSpPr/>
          <p:nvPr/>
        </p:nvSpPr>
        <p:spPr>
          <a:xfrm>
            <a:off x="3675231" y="588388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7</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86" name="Straight Connector 85">
            <a:extLst>
              <a:ext uri="{FF2B5EF4-FFF2-40B4-BE49-F238E27FC236}">
                <a16:creationId xmlns:a16="http://schemas.microsoft.com/office/drawing/2014/main" id="{D14D101E-00C7-742D-F165-369B94371CDE}"/>
              </a:ext>
            </a:extLst>
          </p:cNvPr>
          <p:cNvCxnSpPr>
            <a:cxnSpLocks/>
          </p:cNvCxnSpPr>
          <p:nvPr/>
        </p:nvCxnSpPr>
        <p:spPr>
          <a:xfrm>
            <a:off x="6096000" y="2033928"/>
            <a:ext cx="2015613" cy="1277310"/>
          </a:xfrm>
          <a:prstGeom prst="line">
            <a:avLst/>
          </a:prstGeom>
        </p:spPr>
        <p:style>
          <a:lnRef idx="2">
            <a:schemeClr val="dk1"/>
          </a:lnRef>
          <a:fillRef idx="0">
            <a:schemeClr val="dk1"/>
          </a:fillRef>
          <a:effectRef idx="1">
            <a:schemeClr val="dk1"/>
          </a:effectRef>
          <a:fontRef idx="minor">
            <a:schemeClr val="tx1"/>
          </a:fontRef>
        </p:style>
      </p:cxnSp>
      <p:sp>
        <p:nvSpPr>
          <p:cNvPr id="127" name="Flowchart: Connector 126">
            <a:extLst>
              <a:ext uri="{FF2B5EF4-FFF2-40B4-BE49-F238E27FC236}">
                <a16:creationId xmlns:a16="http://schemas.microsoft.com/office/drawing/2014/main" id="{818F44FF-EA6D-BA76-59BB-06121D4BECA9}"/>
              </a:ext>
            </a:extLst>
          </p:cNvPr>
          <p:cNvSpPr/>
          <p:nvPr/>
        </p:nvSpPr>
        <p:spPr>
          <a:xfrm>
            <a:off x="7919342" y="3299557"/>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dirty="0">
              <a:ln w="0"/>
              <a:solidFill>
                <a:schemeClr val="tx1"/>
              </a:solidFill>
              <a:effectLst>
                <a:outerShdw blurRad="38100" dist="19050" dir="2700000" algn="tl" rotWithShape="0">
                  <a:schemeClr val="dk1">
                    <a:alpha val="40000"/>
                  </a:schemeClr>
                </a:outerShdw>
              </a:effectLst>
            </a:endParaRPr>
          </a:p>
        </p:txBody>
      </p:sp>
      <p:cxnSp>
        <p:nvCxnSpPr>
          <p:cNvPr id="128" name="Straight Connector 127">
            <a:extLst>
              <a:ext uri="{FF2B5EF4-FFF2-40B4-BE49-F238E27FC236}">
                <a16:creationId xmlns:a16="http://schemas.microsoft.com/office/drawing/2014/main" id="{EC3EE184-462F-41FD-AB5E-868F55B57E42}"/>
              </a:ext>
            </a:extLst>
          </p:cNvPr>
          <p:cNvCxnSpPr>
            <a:cxnSpLocks/>
            <a:stCxn id="127" idx="5"/>
            <a:endCxn id="130" idx="0"/>
          </p:cNvCxnSpPr>
          <p:nvPr/>
        </p:nvCxnSpPr>
        <p:spPr>
          <a:xfrm>
            <a:off x="8397707" y="3794706"/>
            <a:ext cx="737054" cy="742840"/>
          </a:xfrm>
          <a:prstGeom prst="line">
            <a:avLst/>
          </a:prstGeom>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9D22B0CF-C348-B743-736B-8320DA705F65}"/>
              </a:ext>
            </a:extLst>
          </p:cNvPr>
          <p:cNvCxnSpPr>
            <a:cxnSpLocks/>
            <a:stCxn id="127" idx="3"/>
            <a:endCxn id="131" idx="0"/>
          </p:cNvCxnSpPr>
          <p:nvPr/>
        </p:nvCxnSpPr>
        <p:spPr>
          <a:xfrm flipH="1">
            <a:off x="7012751" y="3794706"/>
            <a:ext cx="988665" cy="755220"/>
          </a:xfrm>
          <a:prstGeom prst="line">
            <a:avLst/>
          </a:prstGeom>
        </p:spPr>
        <p:style>
          <a:lnRef idx="2">
            <a:schemeClr val="dk1"/>
          </a:lnRef>
          <a:fillRef idx="0">
            <a:schemeClr val="dk1"/>
          </a:fillRef>
          <a:effectRef idx="1">
            <a:schemeClr val="dk1"/>
          </a:effectRef>
          <a:fontRef idx="minor">
            <a:schemeClr val="tx1"/>
          </a:fontRef>
        </p:style>
      </p:cxnSp>
      <p:sp>
        <p:nvSpPr>
          <p:cNvPr id="130" name="Flowchart: Connector 129">
            <a:extLst>
              <a:ext uri="{FF2B5EF4-FFF2-40B4-BE49-F238E27FC236}">
                <a16:creationId xmlns:a16="http://schemas.microsoft.com/office/drawing/2014/main" id="{3730D34F-857E-396A-8C42-512896795035}"/>
              </a:ext>
            </a:extLst>
          </p:cNvPr>
          <p:cNvSpPr/>
          <p:nvPr/>
        </p:nvSpPr>
        <p:spPr>
          <a:xfrm>
            <a:off x="8854541" y="453754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sp>
        <p:nvSpPr>
          <p:cNvPr id="131" name="Flowchart: Connector 130">
            <a:extLst>
              <a:ext uri="{FF2B5EF4-FFF2-40B4-BE49-F238E27FC236}">
                <a16:creationId xmlns:a16="http://schemas.microsoft.com/office/drawing/2014/main" id="{F4F9B158-0BAD-14CE-E5CE-29876FECA153}"/>
              </a:ext>
            </a:extLst>
          </p:cNvPr>
          <p:cNvSpPr/>
          <p:nvPr/>
        </p:nvSpPr>
        <p:spPr>
          <a:xfrm>
            <a:off x="6732531" y="454992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2" name="Straight Connector 131">
            <a:extLst>
              <a:ext uri="{FF2B5EF4-FFF2-40B4-BE49-F238E27FC236}">
                <a16:creationId xmlns:a16="http://schemas.microsoft.com/office/drawing/2014/main" id="{9A051C1D-71CE-9601-39AD-A7C99281E938}"/>
              </a:ext>
            </a:extLst>
          </p:cNvPr>
          <p:cNvCxnSpPr>
            <a:cxnSpLocks/>
            <a:stCxn id="131" idx="5"/>
            <a:endCxn id="134" idx="0"/>
          </p:cNvCxnSpPr>
          <p:nvPr/>
        </p:nvCxnSpPr>
        <p:spPr>
          <a:xfrm>
            <a:off x="7210896" y="5045075"/>
            <a:ext cx="388826" cy="840173"/>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01D61A01-ED3B-B906-19D1-A8D1B01BF58D}"/>
              </a:ext>
            </a:extLst>
          </p:cNvPr>
          <p:cNvCxnSpPr>
            <a:cxnSpLocks/>
            <a:stCxn id="131" idx="3"/>
            <a:endCxn id="135" idx="0"/>
          </p:cNvCxnSpPr>
          <p:nvPr/>
        </p:nvCxnSpPr>
        <p:spPr>
          <a:xfrm flipH="1">
            <a:off x="6355286" y="5045075"/>
            <a:ext cx="459319" cy="815840"/>
          </a:xfrm>
          <a:prstGeom prst="line">
            <a:avLst/>
          </a:prstGeom>
        </p:spPr>
        <p:style>
          <a:lnRef idx="2">
            <a:schemeClr val="dk1"/>
          </a:lnRef>
          <a:fillRef idx="0">
            <a:schemeClr val="dk1"/>
          </a:fillRef>
          <a:effectRef idx="1">
            <a:schemeClr val="dk1"/>
          </a:effectRef>
          <a:fontRef idx="minor">
            <a:schemeClr val="tx1"/>
          </a:fontRef>
        </p:style>
      </p:cxnSp>
      <p:sp>
        <p:nvSpPr>
          <p:cNvPr id="134" name="Flowchart: Connector 133">
            <a:extLst>
              <a:ext uri="{FF2B5EF4-FFF2-40B4-BE49-F238E27FC236}">
                <a16:creationId xmlns:a16="http://schemas.microsoft.com/office/drawing/2014/main" id="{B664BB2A-BA29-58FC-B929-25F6370C3235}"/>
              </a:ext>
            </a:extLst>
          </p:cNvPr>
          <p:cNvSpPr/>
          <p:nvPr/>
        </p:nvSpPr>
        <p:spPr>
          <a:xfrm>
            <a:off x="7319502" y="5885248"/>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5" name="Flowchart: Connector 134">
            <a:extLst>
              <a:ext uri="{FF2B5EF4-FFF2-40B4-BE49-F238E27FC236}">
                <a16:creationId xmlns:a16="http://schemas.microsoft.com/office/drawing/2014/main" id="{15D13465-6423-6ED2-9E25-77B212D6E13D}"/>
              </a:ext>
            </a:extLst>
          </p:cNvPr>
          <p:cNvSpPr/>
          <p:nvPr/>
        </p:nvSpPr>
        <p:spPr>
          <a:xfrm>
            <a:off x="6075066" y="586091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12</a:t>
            </a:r>
            <a:endParaRPr lang="vi-VN" sz="1500" dirty="0">
              <a:ln w="0"/>
              <a:solidFill>
                <a:schemeClr val="tx1"/>
              </a:solidFill>
              <a:effectLst>
                <a:outerShdw blurRad="38100" dist="19050" dir="2700000" algn="tl" rotWithShape="0">
                  <a:schemeClr val="dk1">
                    <a:alpha val="40000"/>
                  </a:schemeClr>
                </a:outerShdw>
              </a:effectLst>
            </a:endParaRPr>
          </a:p>
        </p:txBody>
      </p:sp>
      <p:cxnSp>
        <p:nvCxnSpPr>
          <p:cNvPr id="136" name="Straight Connector 135">
            <a:extLst>
              <a:ext uri="{FF2B5EF4-FFF2-40B4-BE49-F238E27FC236}">
                <a16:creationId xmlns:a16="http://schemas.microsoft.com/office/drawing/2014/main" id="{CCC4570B-EE96-9D43-802C-6A8477947E81}"/>
              </a:ext>
            </a:extLst>
          </p:cNvPr>
          <p:cNvCxnSpPr>
            <a:cxnSpLocks/>
            <a:stCxn id="130" idx="5"/>
            <a:endCxn id="138" idx="0"/>
          </p:cNvCxnSpPr>
          <p:nvPr/>
        </p:nvCxnSpPr>
        <p:spPr>
          <a:xfrm>
            <a:off x="9332906" y="5032695"/>
            <a:ext cx="419056" cy="89021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F047A174-A264-66D1-0B32-8E71E6ABE343}"/>
              </a:ext>
            </a:extLst>
          </p:cNvPr>
          <p:cNvCxnSpPr>
            <a:cxnSpLocks/>
            <a:stCxn id="130" idx="3"/>
            <a:endCxn id="139" idx="0"/>
          </p:cNvCxnSpPr>
          <p:nvPr/>
        </p:nvCxnSpPr>
        <p:spPr>
          <a:xfrm flipH="1">
            <a:off x="8523804" y="5032695"/>
            <a:ext cx="412811" cy="872001"/>
          </a:xfrm>
          <a:prstGeom prst="line">
            <a:avLst/>
          </a:prstGeom>
        </p:spPr>
        <p:style>
          <a:lnRef idx="2">
            <a:schemeClr val="dk1"/>
          </a:lnRef>
          <a:fillRef idx="0">
            <a:schemeClr val="dk1"/>
          </a:fillRef>
          <a:effectRef idx="1">
            <a:schemeClr val="dk1"/>
          </a:effectRef>
          <a:fontRef idx="minor">
            <a:schemeClr val="tx1"/>
          </a:fontRef>
        </p:style>
      </p:cxnSp>
      <p:sp>
        <p:nvSpPr>
          <p:cNvPr id="138" name="Flowchart: Connector 137">
            <a:extLst>
              <a:ext uri="{FF2B5EF4-FFF2-40B4-BE49-F238E27FC236}">
                <a16:creationId xmlns:a16="http://schemas.microsoft.com/office/drawing/2014/main" id="{114AD6E9-3FDF-546F-3E58-8C2005DAD4D9}"/>
              </a:ext>
            </a:extLst>
          </p:cNvPr>
          <p:cNvSpPr/>
          <p:nvPr/>
        </p:nvSpPr>
        <p:spPr>
          <a:xfrm>
            <a:off x="9471742" y="5922905"/>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8</a:t>
            </a:r>
            <a:endParaRPr lang="vi-VN" sz="1500" dirty="0">
              <a:ln w="0"/>
              <a:solidFill>
                <a:schemeClr val="tx1"/>
              </a:solidFill>
              <a:effectLst>
                <a:outerShdw blurRad="38100" dist="19050" dir="2700000" algn="tl" rotWithShape="0">
                  <a:schemeClr val="dk1">
                    <a:alpha val="40000"/>
                  </a:schemeClr>
                </a:outerShdw>
              </a:effectLst>
            </a:endParaRPr>
          </a:p>
        </p:txBody>
      </p:sp>
      <p:sp>
        <p:nvSpPr>
          <p:cNvPr id="139" name="Flowchart: Connector 138">
            <a:extLst>
              <a:ext uri="{FF2B5EF4-FFF2-40B4-BE49-F238E27FC236}">
                <a16:creationId xmlns:a16="http://schemas.microsoft.com/office/drawing/2014/main" id="{14E81F58-0E69-28C9-2158-1132AB67937A}"/>
              </a:ext>
            </a:extLst>
          </p:cNvPr>
          <p:cNvSpPr/>
          <p:nvPr/>
        </p:nvSpPr>
        <p:spPr>
          <a:xfrm>
            <a:off x="8243584" y="5904696"/>
            <a:ext cx="560439" cy="580103"/>
          </a:xfrm>
          <a:prstGeom prst="flowChartConnector">
            <a:avLst/>
          </a:prstGeom>
          <a:ln/>
        </p:spPr>
        <p:style>
          <a:lnRef idx="2">
            <a:schemeClr val="dk1"/>
          </a:lnRef>
          <a:fillRef idx="0">
            <a:schemeClr val="dk1"/>
          </a:fillRef>
          <a:effectRef idx="1">
            <a:schemeClr val="dk1"/>
          </a:effectRef>
          <a:fontRef idx="minor">
            <a:schemeClr val="tx1"/>
          </a:fontRef>
        </p:style>
        <p:txBody>
          <a:bodyPr rtlCol="0" anchor="ctr"/>
          <a:lstStyle/>
          <a:p>
            <a:pPr algn="ctr"/>
            <a:r>
              <a:rPr lang="en-US" sz="1500" dirty="0">
                <a:ln w="0"/>
                <a:effectLst>
                  <a:outerShdw blurRad="38100" dist="19050" dir="2700000" algn="tl" rotWithShape="0">
                    <a:schemeClr val="dk1">
                      <a:alpha val="40000"/>
                    </a:schemeClr>
                  </a:outerShdw>
                </a:effectLst>
              </a:rPr>
              <a:t>9</a:t>
            </a:r>
            <a:endParaRPr lang="vi-VN" sz="1500" dirty="0">
              <a:ln w="0"/>
              <a:solidFill>
                <a:schemeClr val="tx1"/>
              </a:solidFill>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4CF6CFEF-8E5F-701C-6ACB-6C50CEBA2B8E}"/>
                  </a:ext>
                </a:extLst>
              </p:cNvPr>
              <p:cNvSpPr txBox="1"/>
              <p:nvPr/>
            </p:nvSpPr>
            <p:spPr>
              <a:xfrm>
                <a:off x="2604184" y="4301230"/>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=5</m:t>
                      </m:r>
                    </m:oMath>
                  </m:oMathPara>
                </a14:m>
                <a:endParaRPr lang="en-US" b="0" dirty="0"/>
              </a:p>
              <a:p>
                <a:endParaRPr lang="en-US" b="0" dirty="0"/>
              </a:p>
              <a:p>
                <a:endParaRPr lang="en-US" dirty="0"/>
              </a:p>
            </p:txBody>
          </p:sp>
        </mc:Choice>
        <mc:Fallback xmlns="">
          <p:sp>
            <p:nvSpPr>
              <p:cNvPr id="141" name="TextBox 140">
                <a:extLst>
                  <a:ext uri="{FF2B5EF4-FFF2-40B4-BE49-F238E27FC236}">
                    <a16:creationId xmlns:a16="http://schemas.microsoft.com/office/drawing/2014/main" id="{4CF6CFEF-8E5F-701C-6ACB-6C50CEBA2B8E}"/>
                  </a:ext>
                </a:extLst>
              </p:cNvPr>
              <p:cNvSpPr txBox="1">
                <a:spLocks noRot="1" noChangeAspect="1" noMove="1" noResize="1" noEditPoints="1" noAdjustHandles="1" noChangeArrowheads="1" noChangeShapeType="1" noTextEdit="1"/>
              </p:cNvSpPr>
              <p:nvPr/>
            </p:nvSpPr>
            <p:spPr>
              <a:xfrm>
                <a:off x="2604184" y="4301230"/>
                <a:ext cx="1170039" cy="147732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AAB501D-0BFC-D1EA-77EF-A9B0E0D394E4}"/>
                  </a:ext>
                </a:extLst>
              </p:cNvPr>
              <p:cNvSpPr txBox="1"/>
              <p:nvPr/>
            </p:nvSpPr>
            <p:spPr>
              <a:xfrm>
                <a:off x="4738699" y="4273222"/>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=5</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2" name="TextBox 1">
                <a:extLst>
                  <a:ext uri="{FF2B5EF4-FFF2-40B4-BE49-F238E27FC236}">
                    <a16:creationId xmlns:a16="http://schemas.microsoft.com/office/drawing/2014/main" id="{AAAB501D-0BFC-D1EA-77EF-A9B0E0D394E4}"/>
                  </a:ext>
                </a:extLst>
              </p:cNvPr>
              <p:cNvSpPr txBox="1">
                <a:spLocks noRot="1" noChangeAspect="1" noMove="1" noResize="1" noEditPoints="1" noAdjustHandles="1" noChangeArrowheads="1" noChangeShapeType="1" noTextEdit="1"/>
              </p:cNvSpPr>
              <p:nvPr/>
            </p:nvSpPr>
            <p:spPr>
              <a:xfrm>
                <a:off x="4738699" y="4273222"/>
                <a:ext cx="1170039" cy="1477328"/>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F4EEE51-A6E6-396C-F3CD-7CE828BDF49F}"/>
                  </a:ext>
                </a:extLst>
              </p:cNvPr>
              <p:cNvSpPr txBox="1"/>
              <p:nvPr/>
            </p:nvSpPr>
            <p:spPr>
              <a:xfrm>
                <a:off x="8367156" y="3015076"/>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=7</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3" name="TextBox 2">
                <a:extLst>
                  <a:ext uri="{FF2B5EF4-FFF2-40B4-BE49-F238E27FC236}">
                    <a16:creationId xmlns:a16="http://schemas.microsoft.com/office/drawing/2014/main" id="{4F4EEE51-A6E6-396C-F3CD-7CE828BDF49F}"/>
                  </a:ext>
                </a:extLst>
              </p:cNvPr>
              <p:cNvSpPr txBox="1">
                <a:spLocks noRot="1" noChangeAspect="1" noMove="1" noResize="1" noEditPoints="1" noAdjustHandles="1" noChangeArrowheads="1" noChangeShapeType="1" noTextEdit="1"/>
              </p:cNvSpPr>
              <p:nvPr/>
            </p:nvSpPr>
            <p:spPr>
              <a:xfrm>
                <a:off x="8367156" y="3015076"/>
                <a:ext cx="1170039" cy="1477328"/>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7A9F369-4004-7BDB-B135-283D23B06250}"/>
                  </a:ext>
                </a:extLst>
              </p:cNvPr>
              <p:cNvSpPr txBox="1"/>
              <p:nvPr/>
            </p:nvSpPr>
            <p:spPr>
              <a:xfrm>
                <a:off x="7197117" y="4362778"/>
                <a:ext cx="1170039" cy="14773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α</m:t>
                      </m:r>
                      <m:r>
                        <a:rPr lang="en-US" b="0" i="1" smtClean="0">
                          <a:latin typeface="Cambria Math" panose="02040503050406030204" pitchFamily="18" charset="0"/>
                        </a:rPr>
                        <m:t>=−∞</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β</m:t>
                      </m:r>
                      <m:r>
                        <a:rPr lang="en-US" b="0" i="1" smtClean="0">
                          <a:latin typeface="Cambria Math" panose="02040503050406030204" pitchFamily="18" charset="0"/>
                        </a:rPr>
                        <m:t>=7</m:t>
                      </m:r>
                    </m:oMath>
                  </m:oMathPara>
                </a14:m>
                <a:endParaRPr lang="en-US" b="0" dirty="0"/>
              </a:p>
              <a:p>
                <a:endParaRPr lang="en-US" b="0" dirty="0"/>
              </a:p>
              <a:p>
                <a:endParaRPr lang="en-US" dirty="0"/>
              </a:p>
            </p:txBody>
          </p:sp>
        </mc:Choice>
        <mc:Fallback xmlns="">
          <p:sp>
            <p:nvSpPr>
              <p:cNvPr id="5" name="TextBox 4">
                <a:extLst>
                  <a:ext uri="{FF2B5EF4-FFF2-40B4-BE49-F238E27FC236}">
                    <a16:creationId xmlns:a16="http://schemas.microsoft.com/office/drawing/2014/main" id="{F7A9F369-4004-7BDB-B135-283D23B06250}"/>
                  </a:ext>
                </a:extLst>
              </p:cNvPr>
              <p:cNvSpPr txBox="1">
                <a:spLocks noRot="1" noChangeAspect="1" noMove="1" noResize="1" noEditPoints="1" noAdjustHandles="1" noChangeArrowheads="1" noChangeShapeType="1" noTextEdit="1"/>
              </p:cNvSpPr>
              <p:nvPr/>
            </p:nvSpPr>
            <p:spPr>
              <a:xfrm>
                <a:off x="7197117" y="4362778"/>
                <a:ext cx="1170039" cy="1477328"/>
              </a:xfrm>
              <a:prstGeom prst="rect">
                <a:avLst/>
              </a:prstGeom>
              <a:blipFill>
                <a:blip r:embed="rId8"/>
                <a:stretch>
                  <a:fillRect/>
                </a:stretch>
              </a:blipFill>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6557A38C-025D-F6EE-4845-B04B997CAAD9}"/>
              </a:ext>
            </a:extLst>
          </p:cNvPr>
          <p:cNvCxnSpPr/>
          <p:nvPr/>
        </p:nvCxnSpPr>
        <p:spPr>
          <a:xfrm flipV="1">
            <a:off x="8523804" y="3952568"/>
            <a:ext cx="330737" cy="320654"/>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F7175BD0-3045-8175-4FAA-B96AD054B87D}"/>
              </a:ext>
            </a:extLst>
          </p:cNvPr>
          <p:cNvCxnSpPr/>
          <p:nvPr/>
        </p:nvCxnSpPr>
        <p:spPr>
          <a:xfrm flipV="1">
            <a:off x="8676204" y="4104968"/>
            <a:ext cx="330737" cy="32065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1524659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BCE6E-BA96-1754-D634-C664BD0455F5}"/>
              </a:ext>
            </a:extLst>
          </p:cNvPr>
          <p:cNvSpPr>
            <a:spLocks noGrp="1"/>
          </p:cNvSpPr>
          <p:nvPr>
            <p:ph type="title"/>
          </p:nvPr>
        </p:nvSpPr>
        <p:spPr/>
        <p:txBody>
          <a:bodyPr>
            <a:normAutofit/>
          </a:bodyPr>
          <a:lstStyle/>
          <a:p>
            <a:r>
              <a:rPr lang="vi-VN" sz="3600" dirty="0">
                <a:latin typeface="Aptos" panose="020B0004020202020204" pitchFamily="34" charset="0"/>
              </a:rPr>
              <a:t>Hiệu quả thực tế trong bài toán </a:t>
            </a:r>
            <a:r>
              <a:rPr lang="vi-VN" sz="3600" dirty="0" err="1">
                <a:latin typeface="Aptos" panose="020B0004020202020204" pitchFamily="34" charset="0"/>
              </a:rPr>
              <a:t>ConnectX</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231C3728-9154-A20C-077E-4240726CB66A}"/>
              </a:ext>
            </a:extLst>
          </p:cNvPr>
          <p:cNvSpPr>
            <a:spLocks noGrp="1"/>
          </p:cNvSpPr>
          <p:nvPr>
            <p:ph idx="1"/>
          </p:nvPr>
        </p:nvSpPr>
        <p:spPr/>
        <p:txBody>
          <a:bodyPr/>
          <a:lstStyle/>
          <a:p>
            <a:pPr marL="0" indent="0">
              <a:buNone/>
            </a:pPr>
            <a:r>
              <a:rPr lang="vi-VN" b="1" dirty="0">
                <a:latin typeface="Aptos" panose="020B0004020202020204" pitchFamily="34" charset="0"/>
              </a:rPr>
              <a:t>Giảm thiểu tìm kiếm:</a:t>
            </a:r>
            <a:r>
              <a:rPr lang="vi-VN" dirty="0">
                <a:latin typeface="Aptos" panose="020B0004020202020204" pitchFamily="34" charset="0"/>
              </a:rPr>
              <a:t> Loại bỏ hàng ngàn (hoặc hàng triệu) trạng thái thừa.</a:t>
            </a:r>
          </a:p>
          <a:p>
            <a:pPr marL="0" indent="0">
              <a:buNone/>
            </a:pPr>
            <a:r>
              <a:rPr lang="vi-VN" b="1" dirty="0">
                <a:latin typeface="Aptos" panose="020B0004020202020204" pitchFamily="34" charset="0"/>
              </a:rPr>
              <a:t>Tăng chiều sâu (</a:t>
            </a:r>
            <a:r>
              <a:rPr lang="vi-VN" b="1" dirty="0" err="1">
                <a:latin typeface="Aptos" panose="020B0004020202020204" pitchFamily="34" charset="0"/>
              </a:rPr>
              <a:t>Look-ahead</a:t>
            </a:r>
            <a:r>
              <a:rPr lang="vi-VN" b="1" dirty="0">
                <a:latin typeface="Aptos" panose="020B0004020202020204" pitchFamily="34" charset="0"/>
              </a:rPr>
              <a:t>):</a:t>
            </a:r>
            <a:r>
              <a:rPr lang="vi-VN" dirty="0">
                <a:latin typeface="Aptos" panose="020B0004020202020204" pitchFamily="34" charset="0"/>
              </a:rPr>
              <a:t> Giúp AI nhìn trước được nhiều nước đi hơn trong cùng một khoảng thời gian (ví dụ: từ nhìn trước 4 nước lên 8 nước).</a:t>
            </a:r>
          </a:p>
          <a:p>
            <a:pPr marL="0" indent="0">
              <a:buNone/>
            </a:pPr>
            <a:r>
              <a:rPr lang="vi-VN" b="1" dirty="0">
                <a:latin typeface="Aptos" panose="020B0004020202020204" pitchFamily="34" charset="0"/>
              </a:rPr>
              <a:t>Thứ tự duyệt nước đi: </a:t>
            </a:r>
            <a:r>
              <a:rPr lang="vi-VN" dirty="0">
                <a:latin typeface="Aptos" panose="020B0004020202020204" pitchFamily="34" charset="0"/>
              </a:rPr>
              <a:t>Giải thích ngắn gọn việc duyệt từ cột trung tâm giúp tìm thấy </a:t>
            </a:r>
            <a:r>
              <a:rPr lang="vi-VN" dirty="0" err="1">
                <a:latin typeface="Aptos" panose="020B0004020202020204" pitchFamily="34" charset="0"/>
              </a:rPr>
              <a:t>alpha</a:t>
            </a:r>
            <a:r>
              <a:rPr lang="vi-VN" dirty="0">
                <a:latin typeface="Aptos" panose="020B0004020202020204" pitchFamily="34" charset="0"/>
              </a:rPr>
              <a:t>, </a:t>
            </a:r>
            <a:r>
              <a:rPr lang="vi-VN" dirty="0" err="1">
                <a:latin typeface="Aptos" panose="020B0004020202020204" pitchFamily="34" charset="0"/>
              </a:rPr>
              <a:t>beta</a:t>
            </a:r>
            <a:r>
              <a:rPr lang="vi-VN" dirty="0">
                <a:latin typeface="Aptos" panose="020B0004020202020204" pitchFamily="34" charset="0"/>
              </a:rPr>
              <a:t> tốt sớm hơn, từ đó tăng hiệu suất cắt tỉa</a:t>
            </a:r>
          </a:p>
          <a:p>
            <a:endParaRPr lang="vi-VN" dirty="0"/>
          </a:p>
        </p:txBody>
      </p:sp>
    </p:spTree>
    <p:extLst>
      <p:ext uri="{BB962C8B-B14F-4D97-AF65-F5344CB8AC3E}">
        <p14:creationId xmlns:p14="http://schemas.microsoft.com/office/powerpoint/2010/main" val="1552184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84D3A-87C6-7844-DAC7-1AB692877B6D}"/>
              </a:ext>
            </a:extLst>
          </p:cNvPr>
          <p:cNvSpPr>
            <a:spLocks noGrp="1"/>
          </p:cNvSpPr>
          <p:nvPr>
            <p:ph type="title"/>
          </p:nvPr>
        </p:nvSpPr>
        <p:spPr/>
        <p:txBody>
          <a:bodyPr>
            <a:normAutofit/>
          </a:bodyPr>
          <a:lstStyle/>
          <a:p>
            <a:r>
              <a:rPr lang="vi-VN" sz="3600" dirty="0">
                <a:latin typeface="Aptos" panose="020B0004020202020204" pitchFamily="34" charset="0"/>
              </a:rPr>
              <a:t>Thuật toán </a:t>
            </a:r>
            <a:r>
              <a:rPr lang="vi-VN" sz="3600" dirty="0" err="1">
                <a:latin typeface="Aptos" panose="020B0004020202020204" pitchFamily="34" charset="0"/>
              </a:rPr>
              <a:t>Minimax</a:t>
            </a:r>
            <a:r>
              <a:rPr lang="vi-VN" sz="3600" dirty="0">
                <a:latin typeface="Aptos" panose="020B0004020202020204" pitchFamily="34" charset="0"/>
              </a:rPr>
              <a:t> tối ưu hóa với </a:t>
            </a:r>
            <a:r>
              <a:rPr lang="vi-VN" sz="3600" dirty="0" err="1">
                <a:latin typeface="Aptos" panose="020B0004020202020204" pitchFamily="34" charset="0"/>
              </a:rPr>
              <a:t>Bitboard</a:t>
            </a:r>
            <a:r>
              <a:rPr lang="vi-VN" sz="3600" dirty="0">
                <a:latin typeface="Aptos" panose="020B0004020202020204" pitchFamily="34" charset="0"/>
              </a:rPr>
              <a:t>.</a:t>
            </a:r>
          </a:p>
        </p:txBody>
      </p:sp>
      <p:sp>
        <p:nvSpPr>
          <p:cNvPr id="3" name="Content Placeholder 2">
            <a:extLst>
              <a:ext uri="{FF2B5EF4-FFF2-40B4-BE49-F238E27FC236}">
                <a16:creationId xmlns:a16="http://schemas.microsoft.com/office/drawing/2014/main" id="{A6580FD3-9764-AAD1-756F-937052610ED1}"/>
              </a:ext>
            </a:extLst>
          </p:cNvPr>
          <p:cNvSpPr>
            <a:spLocks noGrp="1"/>
          </p:cNvSpPr>
          <p:nvPr>
            <p:ph idx="1"/>
          </p:nvPr>
        </p:nvSpPr>
        <p:spPr>
          <a:xfrm>
            <a:off x="838199" y="1825625"/>
            <a:ext cx="10872019" cy="4351338"/>
          </a:xfrm>
        </p:spPr>
        <p:txBody>
          <a:bodyPr>
            <a:normAutofit/>
          </a:bodyPr>
          <a:lstStyle/>
          <a:p>
            <a:pPr marL="0" indent="0">
              <a:buNone/>
            </a:pPr>
            <a:r>
              <a:rPr lang="vi-VN" b="1" dirty="0">
                <a:latin typeface="Aptos" panose="020B0004020202020204" pitchFamily="34" charset="0"/>
              </a:rPr>
              <a:t>Mục tiêu: </a:t>
            </a:r>
            <a:r>
              <a:rPr lang="vi-VN" dirty="0">
                <a:latin typeface="Aptos" panose="020B0004020202020204" pitchFamily="34" charset="0"/>
              </a:rPr>
              <a:t>Tìm kiếm nước đi tối ưu bằng cách giả lập cây quyết định đối kháng.</a:t>
            </a:r>
          </a:p>
          <a:p>
            <a:pPr marL="0" indent="0">
              <a:buNone/>
            </a:pPr>
            <a:r>
              <a:rPr lang="vi-VN" b="1" dirty="0">
                <a:latin typeface="Aptos" panose="020B0004020202020204" pitchFamily="34" charset="0"/>
              </a:rPr>
              <a:t>Đặc điểm: </a:t>
            </a:r>
            <a:r>
              <a:rPr lang="vi-VN" dirty="0">
                <a:latin typeface="Aptos" panose="020B0004020202020204" pitchFamily="34" charset="0"/>
              </a:rPr>
              <a:t>Sử dụng cấu trúc dữ liệu </a:t>
            </a:r>
            <a:r>
              <a:rPr lang="vi-VN" dirty="0" err="1">
                <a:latin typeface="Aptos" panose="020B0004020202020204" pitchFamily="34" charset="0"/>
              </a:rPr>
              <a:t>Bitboard</a:t>
            </a:r>
            <a:r>
              <a:rPr lang="vi-VN" dirty="0">
                <a:latin typeface="Aptos" panose="020B0004020202020204" pitchFamily="34" charset="0"/>
              </a:rPr>
              <a:t> giúp thao tác kiểm tra thắng/thua và đặt quân cờ cực nhanh (chỉ bằng các phép toán </a:t>
            </a:r>
            <a:r>
              <a:rPr lang="vi-VN" dirty="0" err="1">
                <a:latin typeface="Aptos" panose="020B0004020202020204" pitchFamily="34" charset="0"/>
              </a:rPr>
              <a:t>logic</a:t>
            </a:r>
            <a:r>
              <a:rPr lang="vi-VN" dirty="0">
                <a:latin typeface="Aptos" panose="020B0004020202020204" pitchFamily="34" charset="0"/>
              </a:rPr>
              <a:t> </a:t>
            </a:r>
            <a:r>
              <a:rPr lang="vi-VN" dirty="0" err="1">
                <a:latin typeface="Aptos" panose="020B0004020202020204" pitchFamily="34" charset="0"/>
              </a:rPr>
              <a:t>bit</a:t>
            </a:r>
            <a:r>
              <a:rPr lang="vi-VN" dirty="0">
                <a:latin typeface="Aptos" panose="020B0004020202020204" pitchFamily="34" charset="0"/>
              </a:rPr>
              <a:t>: AND, OR, SHIFT).</a:t>
            </a:r>
          </a:p>
          <a:p>
            <a:pPr marL="0" indent="0">
              <a:buNone/>
            </a:pPr>
            <a:r>
              <a:rPr lang="vi-VN" b="1" dirty="0">
                <a:latin typeface="Aptos" panose="020B0004020202020204" pitchFamily="34" charset="0"/>
              </a:rPr>
              <a:t>Cơ chế:</a:t>
            </a:r>
            <a:r>
              <a:rPr lang="vi-VN" dirty="0">
                <a:latin typeface="Aptos" panose="020B0004020202020204" pitchFamily="34" charset="0"/>
              </a:rPr>
              <a:t> Kết hợp cắt tỉa </a:t>
            </a:r>
            <a:r>
              <a:rPr lang="vi-VN" dirty="0" err="1">
                <a:latin typeface="Aptos" panose="020B0004020202020204" pitchFamily="34" charset="0"/>
              </a:rPr>
              <a:t>Alpha-Beta</a:t>
            </a:r>
            <a:r>
              <a:rPr lang="vi-VN" dirty="0">
                <a:latin typeface="Aptos" panose="020B0004020202020204" pitchFamily="34" charset="0"/>
              </a:rPr>
              <a:t> và Bảng chuyển đổi (</a:t>
            </a:r>
            <a:r>
              <a:rPr lang="vi-VN" dirty="0" err="1">
                <a:latin typeface="Aptos" panose="020B0004020202020204" pitchFamily="34" charset="0"/>
              </a:rPr>
              <a:t>Transposition</a:t>
            </a:r>
            <a:r>
              <a:rPr lang="vi-VN" dirty="0">
                <a:latin typeface="Aptos" panose="020B0004020202020204" pitchFamily="34" charset="0"/>
              </a:rPr>
              <a:t> </a:t>
            </a:r>
            <a:r>
              <a:rPr lang="vi-VN" dirty="0" err="1">
                <a:latin typeface="Aptos" panose="020B0004020202020204" pitchFamily="34" charset="0"/>
              </a:rPr>
              <a:t>Table</a:t>
            </a:r>
            <a:r>
              <a:rPr lang="vi-VN" dirty="0">
                <a:latin typeface="Aptos" panose="020B0004020202020204" pitchFamily="34" charset="0"/>
              </a:rPr>
              <a:t>) để tránh tính toán trùng lặp.</a:t>
            </a:r>
            <a:endParaRPr lang="vi-VN" b="1" dirty="0">
              <a:latin typeface="Aptos" panose="020B0004020202020204" pitchFamily="34" charset="0"/>
            </a:endParaRPr>
          </a:p>
        </p:txBody>
      </p:sp>
    </p:spTree>
    <p:extLst>
      <p:ext uri="{BB962C8B-B14F-4D97-AF65-F5344CB8AC3E}">
        <p14:creationId xmlns:p14="http://schemas.microsoft.com/office/powerpoint/2010/main" val="1760303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B14E8-8775-F855-E36B-F020FF206808}"/>
              </a:ext>
            </a:extLst>
          </p:cNvPr>
          <p:cNvSpPr>
            <a:spLocks noGrp="1"/>
          </p:cNvSpPr>
          <p:nvPr>
            <p:ph type="title"/>
          </p:nvPr>
        </p:nvSpPr>
        <p:spPr/>
        <p:txBody>
          <a:bodyPr>
            <a:normAutofit/>
          </a:bodyPr>
          <a:lstStyle/>
          <a:p>
            <a:r>
              <a:rPr lang="en-US" sz="3600" dirty="0" err="1"/>
              <a:t>Hàm</a:t>
            </a:r>
            <a:r>
              <a:rPr lang="en-US" sz="3600" dirty="0"/>
              <a:t> </a:t>
            </a:r>
            <a:r>
              <a:rPr lang="nn-NO" sz="3600" dirty="0"/>
              <a:t>minimax(me, opp, depth, alpha, beta, deadline, tt)</a:t>
            </a:r>
            <a:endParaRPr lang="vi-VN" sz="3600" dirty="0"/>
          </a:p>
        </p:txBody>
      </p:sp>
      <p:sp>
        <p:nvSpPr>
          <p:cNvPr id="3" name="Content Placeholder 2">
            <a:extLst>
              <a:ext uri="{FF2B5EF4-FFF2-40B4-BE49-F238E27FC236}">
                <a16:creationId xmlns:a16="http://schemas.microsoft.com/office/drawing/2014/main" id="{9BFBD7B8-C19D-1AFB-1A28-21754C409E78}"/>
              </a:ext>
            </a:extLst>
          </p:cNvPr>
          <p:cNvSpPr>
            <a:spLocks noGrp="1"/>
          </p:cNvSpPr>
          <p:nvPr>
            <p:ph idx="1"/>
          </p:nvPr>
        </p:nvSpPr>
        <p:spPr>
          <a:xfrm>
            <a:off x="838200" y="1530656"/>
            <a:ext cx="10515600" cy="5032375"/>
          </a:xfrm>
        </p:spPr>
        <p:txBody>
          <a:bodyPr>
            <a:normAutofit/>
          </a:bodyPr>
          <a:lstStyle/>
          <a:p>
            <a:pPr marL="0" indent="0">
              <a:buNone/>
            </a:pPr>
            <a:r>
              <a:rPr lang="en-US" b="1" dirty="0"/>
              <a:t>Ý </a:t>
            </a:r>
            <a:r>
              <a:rPr lang="en-US" b="1" dirty="0" err="1"/>
              <a:t>nghĩa</a:t>
            </a:r>
            <a:r>
              <a:rPr lang="en-US" b="1" dirty="0"/>
              <a:t> </a:t>
            </a:r>
            <a:r>
              <a:rPr lang="en-US" b="1" dirty="0" err="1"/>
              <a:t>các</a:t>
            </a:r>
            <a:r>
              <a:rPr lang="en-US" b="1" dirty="0"/>
              <a:t> </a:t>
            </a:r>
            <a:r>
              <a:rPr lang="en-US" b="1" dirty="0" err="1"/>
              <a:t>tham</a:t>
            </a:r>
            <a:r>
              <a:rPr lang="en-US" b="1" dirty="0"/>
              <a:t> </a:t>
            </a:r>
            <a:r>
              <a:rPr lang="en-US" b="1" dirty="0" err="1"/>
              <a:t>số</a:t>
            </a:r>
            <a:r>
              <a:rPr lang="en-US" b="1" dirty="0"/>
              <a:t> </a:t>
            </a:r>
            <a:r>
              <a:rPr lang="en-US" b="1" dirty="0" err="1"/>
              <a:t>đầu</a:t>
            </a:r>
            <a:r>
              <a:rPr lang="en-US" b="1" dirty="0"/>
              <a:t> </a:t>
            </a:r>
            <a:r>
              <a:rPr lang="en-US" b="1" dirty="0" err="1"/>
              <a:t>vào</a:t>
            </a:r>
            <a:r>
              <a:rPr lang="en-US" b="1" dirty="0"/>
              <a:t>:</a:t>
            </a:r>
          </a:p>
          <a:p>
            <a:pPr marL="457200" lvl="1" indent="0">
              <a:buNone/>
            </a:pPr>
            <a:r>
              <a:rPr lang="en-US" dirty="0"/>
              <a:t>- </a:t>
            </a:r>
            <a:r>
              <a:rPr lang="en-US" b="1" dirty="0"/>
              <a:t>me: </a:t>
            </a:r>
            <a:r>
              <a:rPr lang="en-US" dirty="0"/>
              <a:t>Bitboard </a:t>
            </a:r>
            <a:r>
              <a:rPr lang="en-US" dirty="0" err="1"/>
              <a:t>đại</a:t>
            </a:r>
            <a:r>
              <a:rPr lang="en-US" dirty="0"/>
              <a:t> </a:t>
            </a:r>
            <a:r>
              <a:rPr lang="en-US" dirty="0" err="1"/>
              <a:t>diện</a:t>
            </a:r>
            <a:r>
              <a:rPr lang="en-US" dirty="0"/>
              <a:t> </a:t>
            </a:r>
            <a:r>
              <a:rPr lang="en-US" dirty="0" err="1"/>
              <a:t>cho</a:t>
            </a:r>
            <a:r>
              <a:rPr lang="en-US" dirty="0"/>
              <a:t> </a:t>
            </a:r>
            <a:r>
              <a:rPr lang="en-US" dirty="0" err="1"/>
              <a:t>vị</a:t>
            </a:r>
            <a:r>
              <a:rPr lang="en-US" dirty="0"/>
              <a:t> </a:t>
            </a:r>
            <a:r>
              <a:rPr lang="en-US" dirty="0" err="1"/>
              <a:t>trí</a:t>
            </a:r>
            <a:r>
              <a:rPr lang="en-US" dirty="0"/>
              <a:t> </a:t>
            </a:r>
            <a:r>
              <a:rPr lang="en-US" dirty="0" err="1"/>
              <a:t>các</a:t>
            </a:r>
            <a:r>
              <a:rPr lang="en-US" dirty="0"/>
              <a:t> </a:t>
            </a:r>
            <a:r>
              <a:rPr lang="en-US" dirty="0" err="1"/>
              <a:t>quân</a:t>
            </a:r>
            <a:r>
              <a:rPr lang="en-US" dirty="0"/>
              <a:t> </a:t>
            </a:r>
            <a:r>
              <a:rPr lang="en-US" dirty="0" err="1"/>
              <a:t>cờ</a:t>
            </a:r>
            <a:r>
              <a:rPr lang="en-US" dirty="0"/>
              <a:t> </a:t>
            </a:r>
            <a:r>
              <a:rPr lang="en-US" dirty="0" err="1"/>
              <a:t>của</a:t>
            </a:r>
            <a:r>
              <a:rPr lang="en-US" dirty="0"/>
              <a:t> Agent </a:t>
            </a:r>
            <a:r>
              <a:rPr lang="en-US" dirty="0" err="1"/>
              <a:t>hiện</a:t>
            </a:r>
            <a:r>
              <a:rPr lang="en-US" dirty="0"/>
              <a:t> </a:t>
            </a:r>
            <a:r>
              <a:rPr lang="en-US" dirty="0" err="1"/>
              <a:t>tại</a:t>
            </a:r>
            <a:endParaRPr lang="en-US" dirty="0"/>
          </a:p>
          <a:p>
            <a:pPr marL="457200" lvl="1" indent="0">
              <a:buNone/>
            </a:pPr>
            <a:r>
              <a:rPr lang="en-US" dirty="0"/>
              <a:t>- </a:t>
            </a:r>
            <a:r>
              <a:rPr lang="en-US" b="1" dirty="0" err="1"/>
              <a:t>opp</a:t>
            </a:r>
            <a:r>
              <a:rPr lang="en-US" b="1" dirty="0"/>
              <a:t>: </a:t>
            </a:r>
            <a:r>
              <a:rPr lang="en-US" dirty="0"/>
              <a:t>Bitboard </a:t>
            </a:r>
            <a:r>
              <a:rPr lang="en-US" dirty="0" err="1"/>
              <a:t>đại</a:t>
            </a:r>
            <a:r>
              <a:rPr lang="en-US" dirty="0"/>
              <a:t> </a:t>
            </a:r>
            <a:r>
              <a:rPr lang="en-US" dirty="0" err="1"/>
              <a:t>diện</a:t>
            </a:r>
            <a:r>
              <a:rPr lang="en-US" dirty="0"/>
              <a:t> </a:t>
            </a:r>
            <a:r>
              <a:rPr lang="en-US" dirty="0" err="1"/>
              <a:t>cho</a:t>
            </a:r>
            <a:r>
              <a:rPr lang="en-US" dirty="0"/>
              <a:t> </a:t>
            </a:r>
            <a:r>
              <a:rPr lang="en-US" dirty="0" err="1"/>
              <a:t>vị</a:t>
            </a:r>
            <a:r>
              <a:rPr lang="en-US" dirty="0"/>
              <a:t> </a:t>
            </a:r>
            <a:r>
              <a:rPr lang="en-US" dirty="0" err="1"/>
              <a:t>trí</a:t>
            </a:r>
            <a:r>
              <a:rPr lang="en-US" dirty="0"/>
              <a:t> </a:t>
            </a:r>
            <a:r>
              <a:rPr lang="en-US" dirty="0" err="1"/>
              <a:t>các</a:t>
            </a:r>
            <a:r>
              <a:rPr lang="en-US" dirty="0"/>
              <a:t> </a:t>
            </a:r>
            <a:r>
              <a:rPr lang="en-US" dirty="0" err="1"/>
              <a:t>quân</a:t>
            </a:r>
            <a:r>
              <a:rPr lang="en-US" dirty="0"/>
              <a:t> </a:t>
            </a:r>
            <a:r>
              <a:rPr lang="en-US" dirty="0" err="1"/>
              <a:t>cờ</a:t>
            </a:r>
            <a:r>
              <a:rPr lang="en-US" dirty="0"/>
              <a:t> </a:t>
            </a:r>
            <a:r>
              <a:rPr lang="en-US" dirty="0" err="1"/>
              <a:t>đối</a:t>
            </a:r>
            <a:r>
              <a:rPr lang="en-US" dirty="0"/>
              <a:t> </a:t>
            </a:r>
            <a:r>
              <a:rPr lang="en-US" dirty="0" err="1"/>
              <a:t>thủ</a:t>
            </a:r>
            <a:endParaRPr lang="en-US" dirty="0"/>
          </a:p>
          <a:p>
            <a:pPr marL="457200" lvl="1" indent="0">
              <a:buNone/>
            </a:pPr>
            <a:r>
              <a:rPr lang="en-US" dirty="0"/>
              <a:t>- </a:t>
            </a:r>
            <a:r>
              <a:rPr lang="en-US" b="1" dirty="0"/>
              <a:t>depth: </a:t>
            </a:r>
            <a:r>
              <a:rPr lang="en-US" dirty="0" err="1"/>
              <a:t>độ</a:t>
            </a:r>
            <a:r>
              <a:rPr lang="en-US" dirty="0"/>
              <a:t> </a:t>
            </a:r>
            <a:r>
              <a:rPr lang="en-US" dirty="0" err="1"/>
              <a:t>sâu</a:t>
            </a:r>
            <a:r>
              <a:rPr lang="en-US" dirty="0"/>
              <a:t> </a:t>
            </a:r>
            <a:r>
              <a:rPr lang="en-US" dirty="0" err="1"/>
              <a:t>còn</a:t>
            </a:r>
            <a:r>
              <a:rPr lang="en-US" dirty="0"/>
              <a:t> </a:t>
            </a:r>
            <a:r>
              <a:rPr lang="en-US" dirty="0" err="1"/>
              <a:t>lại</a:t>
            </a:r>
            <a:r>
              <a:rPr lang="en-US" dirty="0"/>
              <a:t> </a:t>
            </a:r>
            <a:r>
              <a:rPr lang="en-US" dirty="0" err="1"/>
              <a:t>mà</a:t>
            </a:r>
            <a:r>
              <a:rPr lang="en-US" dirty="0"/>
              <a:t> </a:t>
            </a:r>
            <a:r>
              <a:rPr lang="en-US" dirty="0" err="1"/>
              <a:t>thuật</a:t>
            </a:r>
            <a:r>
              <a:rPr lang="en-US" dirty="0"/>
              <a:t> </a:t>
            </a:r>
            <a:r>
              <a:rPr lang="en-US" dirty="0" err="1"/>
              <a:t>toán</a:t>
            </a:r>
            <a:r>
              <a:rPr lang="en-US" dirty="0"/>
              <a:t> </a:t>
            </a:r>
            <a:r>
              <a:rPr lang="en-US" dirty="0" err="1"/>
              <a:t>sẽ</a:t>
            </a:r>
            <a:r>
              <a:rPr lang="en-US" dirty="0"/>
              <a:t> </a:t>
            </a:r>
            <a:r>
              <a:rPr lang="en-US" dirty="0" err="1"/>
              <a:t>tìm</a:t>
            </a:r>
            <a:r>
              <a:rPr lang="en-US" dirty="0"/>
              <a:t> </a:t>
            </a:r>
            <a:r>
              <a:rPr lang="en-US" dirty="0" err="1"/>
              <a:t>kiếm</a:t>
            </a:r>
            <a:r>
              <a:rPr lang="en-US" dirty="0"/>
              <a:t> (</a:t>
            </a:r>
            <a:r>
              <a:rPr lang="en-US" dirty="0" err="1"/>
              <a:t>giảm</a:t>
            </a:r>
            <a:r>
              <a:rPr lang="en-US" dirty="0"/>
              <a:t> </a:t>
            </a:r>
            <a:r>
              <a:rPr lang="en-US" dirty="0" err="1"/>
              <a:t>dần</a:t>
            </a:r>
            <a:r>
              <a:rPr lang="en-US" dirty="0"/>
              <a:t> </a:t>
            </a:r>
            <a:r>
              <a:rPr lang="en-US" dirty="0" err="1"/>
              <a:t>sau</a:t>
            </a:r>
            <a:r>
              <a:rPr lang="en-US" dirty="0"/>
              <a:t> </a:t>
            </a:r>
            <a:r>
              <a:rPr lang="en-US" dirty="0" err="1"/>
              <a:t>mỗi</a:t>
            </a:r>
            <a:r>
              <a:rPr lang="en-US" dirty="0"/>
              <a:t> </a:t>
            </a:r>
            <a:r>
              <a:rPr lang="en-US" dirty="0" err="1"/>
              <a:t>tầng</a:t>
            </a:r>
            <a:r>
              <a:rPr lang="en-US" dirty="0"/>
              <a:t> </a:t>
            </a:r>
            <a:r>
              <a:rPr lang="en-US" dirty="0" err="1"/>
              <a:t>đệ</a:t>
            </a:r>
            <a:r>
              <a:rPr lang="en-US" dirty="0"/>
              <a:t> </a:t>
            </a:r>
            <a:r>
              <a:rPr lang="en-US" dirty="0" err="1"/>
              <a:t>quy</a:t>
            </a:r>
            <a:r>
              <a:rPr lang="en-US" dirty="0"/>
              <a:t>)</a:t>
            </a:r>
          </a:p>
          <a:p>
            <a:pPr marL="457200" lvl="1" indent="0">
              <a:buNone/>
            </a:pPr>
            <a:r>
              <a:rPr lang="en-US" dirty="0"/>
              <a:t>- </a:t>
            </a:r>
            <a:r>
              <a:rPr lang="en-US" b="1" dirty="0"/>
              <a:t>alpha: </a:t>
            </a:r>
            <a:r>
              <a:rPr lang="en-US" dirty="0" err="1"/>
              <a:t>ngưỡng</a:t>
            </a:r>
            <a:r>
              <a:rPr lang="en-US" dirty="0"/>
              <a:t> </a:t>
            </a:r>
            <a:r>
              <a:rPr lang="en-US" dirty="0" err="1"/>
              <a:t>điểm</a:t>
            </a:r>
            <a:r>
              <a:rPr lang="en-US" dirty="0"/>
              <a:t> </a:t>
            </a:r>
            <a:r>
              <a:rPr lang="en-US" dirty="0" err="1"/>
              <a:t>cao</a:t>
            </a:r>
            <a:r>
              <a:rPr lang="en-US" dirty="0"/>
              <a:t> </a:t>
            </a:r>
            <a:r>
              <a:rPr lang="en-US" dirty="0" err="1"/>
              <a:t>nhất</a:t>
            </a:r>
            <a:r>
              <a:rPr lang="en-US" dirty="0"/>
              <a:t> </a:t>
            </a:r>
            <a:r>
              <a:rPr lang="en-US" dirty="0" err="1"/>
              <a:t>mà</a:t>
            </a:r>
            <a:r>
              <a:rPr lang="en-US" dirty="0"/>
              <a:t> </a:t>
            </a:r>
            <a:r>
              <a:rPr lang="en-US" dirty="0" err="1"/>
              <a:t>người</a:t>
            </a:r>
            <a:r>
              <a:rPr lang="en-US" dirty="0"/>
              <a:t> </a:t>
            </a:r>
            <a:r>
              <a:rPr lang="en-US" dirty="0" err="1"/>
              <a:t>chơi</a:t>
            </a:r>
            <a:r>
              <a:rPr lang="en-US" dirty="0"/>
              <a:t> MAX (Agent) </a:t>
            </a:r>
            <a:r>
              <a:rPr lang="en-US" dirty="0" err="1"/>
              <a:t>chắc</a:t>
            </a:r>
            <a:r>
              <a:rPr lang="en-US" dirty="0"/>
              <a:t> </a:t>
            </a:r>
            <a:r>
              <a:rPr lang="en-US" dirty="0" err="1"/>
              <a:t>chắn</a:t>
            </a:r>
            <a:r>
              <a:rPr lang="en-US" dirty="0"/>
              <a:t> </a:t>
            </a:r>
            <a:r>
              <a:rPr lang="en-US" dirty="0" err="1"/>
              <a:t>đạt</a:t>
            </a:r>
            <a:r>
              <a:rPr lang="en-US" dirty="0"/>
              <a:t> </a:t>
            </a:r>
            <a:r>
              <a:rPr lang="en-US" dirty="0" err="1"/>
              <a:t>được</a:t>
            </a:r>
            <a:endParaRPr lang="en-US" dirty="0"/>
          </a:p>
          <a:p>
            <a:pPr marL="457200" lvl="1" indent="0">
              <a:buNone/>
            </a:pPr>
            <a:r>
              <a:rPr lang="en-US" dirty="0"/>
              <a:t>- </a:t>
            </a:r>
            <a:r>
              <a:rPr lang="en-US" b="1" dirty="0"/>
              <a:t>beta: </a:t>
            </a:r>
            <a:r>
              <a:rPr lang="en-US" dirty="0" err="1"/>
              <a:t>ngưỡng</a:t>
            </a:r>
            <a:r>
              <a:rPr lang="en-US" dirty="0"/>
              <a:t> </a:t>
            </a:r>
            <a:r>
              <a:rPr lang="en-US" dirty="0" err="1"/>
              <a:t>điểm</a:t>
            </a:r>
            <a:r>
              <a:rPr lang="en-US" dirty="0"/>
              <a:t> </a:t>
            </a:r>
            <a:r>
              <a:rPr lang="en-US" dirty="0" err="1"/>
              <a:t>thấp</a:t>
            </a:r>
            <a:r>
              <a:rPr lang="en-US" dirty="0"/>
              <a:t> </a:t>
            </a:r>
            <a:r>
              <a:rPr lang="en-US" dirty="0" err="1"/>
              <a:t>nhất</a:t>
            </a:r>
            <a:r>
              <a:rPr lang="en-US" dirty="0"/>
              <a:t> </a:t>
            </a:r>
            <a:r>
              <a:rPr lang="en-US" dirty="0" err="1"/>
              <a:t>mà</a:t>
            </a:r>
            <a:r>
              <a:rPr lang="en-US" dirty="0"/>
              <a:t> </a:t>
            </a:r>
            <a:r>
              <a:rPr lang="en-US" dirty="0" err="1"/>
              <a:t>người</a:t>
            </a:r>
            <a:r>
              <a:rPr lang="en-US" dirty="0"/>
              <a:t> </a:t>
            </a:r>
            <a:r>
              <a:rPr lang="en-US" dirty="0" err="1"/>
              <a:t>chơi</a:t>
            </a:r>
            <a:r>
              <a:rPr lang="en-US" dirty="0"/>
              <a:t> MIN (</a:t>
            </a:r>
            <a:r>
              <a:rPr lang="en-US" dirty="0" err="1"/>
              <a:t>Đối</a:t>
            </a:r>
            <a:r>
              <a:rPr lang="en-US" dirty="0"/>
              <a:t> </a:t>
            </a:r>
            <a:r>
              <a:rPr lang="en-US" dirty="0" err="1"/>
              <a:t>thủ</a:t>
            </a:r>
            <a:r>
              <a:rPr lang="en-US" dirty="0"/>
              <a:t>) </a:t>
            </a:r>
            <a:r>
              <a:rPr lang="en-US" dirty="0" err="1"/>
              <a:t>có</a:t>
            </a:r>
            <a:r>
              <a:rPr lang="en-US" dirty="0"/>
              <a:t> </a:t>
            </a:r>
            <a:r>
              <a:rPr lang="en-US" dirty="0" err="1"/>
              <a:t>thể</a:t>
            </a:r>
            <a:r>
              <a:rPr lang="en-US" dirty="0"/>
              <a:t> </a:t>
            </a:r>
            <a:r>
              <a:rPr lang="en-US" dirty="0" err="1"/>
              <a:t>ép</a:t>
            </a:r>
            <a:r>
              <a:rPr lang="en-US" dirty="0"/>
              <a:t> Agent </a:t>
            </a:r>
            <a:r>
              <a:rPr lang="en-US" dirty="0" err="1"/>
              <a:t>nhận</a:t>
            </a:r>
            <a:endParaRPr lang="en-US" dirty="0"/>
          </a:p>
          <a:p>
            <a:pPr marL="457200" lvl="1" indent="0">
              <a:buNone/>
            </a:pPr>
            <a:r>
              <a:rPr lang="en-US" dirty="0"/>
              <a:t>- </a:t>
            </a:r>
            <a:r>
              <a:rPr lang="en-US" b="1" dirty="0"/>
              <a:t>deadline: </a:t>
            </a:r>
            <a:r>
              <a:rPr lang="en-US" dirty="0" err="1"/>
              <a:t>thời</a:t>
            </a:r>
            <a:r>
              <a:rPr lang="en-US" dirty="0"/>
              <a:t> </a:t>
            </a:r>
            <a:r>
              <a:rPr lang="en-US" dirty="0" err="1"/>
              <a:t>điểm</a:t>
            </a:r>
            <a:r>
              <a:rPr lang="en-US" dirty="0"/>
              <a:t> </a:t>
            </a:r>
            <a:r>
              <a:rPr lang="en-US" dirty="0" err="1"/>
              <a:t>bắt</a:t>
            </a:r>
            <a:r>
              <a:rPr lang="en-US" dirty="0"/>
              <a:t> </a:t>
            </a:r>
            <a:r>
              <a:rPr lang="en-US" dirty="0" err="1"/>
              <a:t>buộc</a:t>
            </a:r>
            <a:r>
              <a:rPr lang="en-US" dirty="0"/>
              <a:t> </a:t>
            </a:r>
            <a:r>
              <a:rPr lang="en-US" dirty="0" err="1"/>
              <a:t>hàm</a:t>
            </a:r>
            <a:r>
              <a:rPr lang="en-US" dirty="0"/>
              <a:t> </a:t>
            </a:r>
            <a:r>
              <a:rPr lang="en-US" dirty="0" err="1"/>
              <a:t>phải</a:t>
            </a:r>
            <a:r>
              <a:rPr lang="en-US" dirty="0"/>
              <a:t> </a:t>
            </a:r>
            <a:r>
              <a:rPr lang="en-US" dirty="0" err="1"/>
              <a:t>trả</a:t>
            </a:r>
            <a:r>
              <a:rPr lang="en-US" dirty="0"/>
              <a:t> </a:t>
            </a:r>
            <a:r>
              <a:rPr lang="en-US" dirty="0" err="1"/>
              <a:t>về</a:t>
            </a:r>
            <a:r>
              <a:rPr lang="en-US" dirty="0"/>
              <a:t> </a:t>
            </a:r>
            <a:r>
              <a:rPr lang="en-US" dirty="0" err="1"/>
              <a:t>kết</a:t>
            </a:r>
            <a:r>
              <a:rPr lang="en-US" dirty="0"/>
              <a:t> </a:t>
            </a:r>
            <a:r>
              <a:rPr lang="en-US" dirty="0" err="1"/>
              <a:t>quả</a:t>
            </a:r>
            <a:r>
              <a:rPr lang="en-US" dirty="0"/>
              <a:t>, </a:t>
            </a:r>
            <a:r>
              <a:rPr lang="en-US" dirty="0" err="1"/>
              <a:t>giúp</a:t>
            </a:r>
            <a:r>
              <a:rPr lang="en-US" dirty="0"/>
              <a:t> Agent </a:t>
            </a:r>
            <a:r>
              <a:rPr lang="en-US" dirty="0" err="1"/>
              <a:t>không</a:t>
            </a:r>
            <a:r>
              <a:rPr lang="en-US" dirty="0"/>
              <a:t> </a:t>
            </a:r>
            <a:r>
              <a:rPr lang="en-US" dirty="0" err="1"/>
              <a:t>bị</a:t>
            </a:r>
            <a:r>
              <a:rPr lang="en-US" dirty="0"/>
              <a:t> </a:t>
            </a:r>
            <a:r>
              <a:rPr lang="en-US" dirty="0" err="1"/>
              <a:t>quá</a:t>
            </a:r>
            <a:r>
              <a:rPr lang="en-US" dirty="0"/>
              <a:t> time limit</a:t>
            </a:r>
          </a:p>
          <a:p>
            <a:pPr marL="457200" lvl="1" indent="0">
              <a:buNone/>
            </a:pPr>
            <a:r>
              <a:rPr lang="en-US" dirty="0"/>
              <a:t>- </a:t>
            </a:r>
            <a:r>
              <a:rPr lang="en-US" b="1" dirty="0" err="1"/>
              <a:t>tt</a:t>
            </a:r>
            <a:r>
              <a:rPr lang="en-US" b="1" dirty="0"/>
              <a:t>: </a:t>
            </a:r>
            <a:r>
              <a:rPr lang="en-US" dirty="0" err="1"/>
              <a:t>một</a:t>
            </a:r>
            <a:r>
              <a:rPr lang="en-US" dirty="0"/>
              <a:t> </a:t>
            </a:r>
            <a:r>
              <a:rPr lang="en-US" dirty="0" err="1"/>
              <a:t>từ</a:t>
            </a:r>
            <a:r>
              <a:rPr lang="en-US" dirty="0"/>
              <a:t> </a:t>
            </a:r>
            <a:r>
              <a:rPr lang="en-US" dirty="0" err="1"/>
              <a:t>điển</a:t>
            </a:r>
            <a:r>
              <a:rPr lang="en-US" dirty="0"/>
              <a:t> </a:t>
            </a:r>
            <a:r>
              <a:rPr lang="en-US" dirty="0" err="1"/>
              <a:t>lưu</a:t>
            </a:r>
            <a:r>
              <a:rPr lang="en-US" dirty="0"/>
              <a:t> </a:t>
            </a:r>
            <a:r>
              <a:rPr lang="en-US" dirty="0" err="1"/>
              <a:t>trữ</a:t>
            </a:r>
            <a:r>
              <a:rPr lang="en-US" dirty="0"/>
              <a:t> </a:t>
            </a:r>
            <a:r>
              <a:rPr lang="en-US" dirty="0" err="1"/>
              <a:t>các</a:t>
            </a:r>
            <a:r>
              <a:rPr lang="en-US" dirty="0"/>
              <a:t> </a:t>
            </a:r>
            <a:r>
              <a:rPr lang="en-US" dirty="0" err="1"/>
              <a:t>trạng</a:t>
            </a:r>
            <a:r>
              <a:rPr lang="en-US" dirty="0"/>
              <a:t> </a:t>
            </a:r>
            <a:r>
              <a:rPr lang="en-US" dirty="0" err="1"/>
              <a:t>thái</a:t>
            </a:r>
            <a:r>
              <a:rPr lang="en-US" dirty="0"/>
              <a:t> </a:t>
            </a:r>
            <a:r>
              <a:rPr lang="en-US" dirty="0" err="1"/>
              <a:t>bàn</a:t>
            </a:r>
            <a:r>
              <a:rPr lang="en-US" dirty="0"/>
              <a:t> </a:t>
            </a:r>
            <a:r>
              <a:rPr lang="en-US" dirty="0" err="1"/>
              <a:t>cờ</a:t>
            </a:r>
            <a:r>
              <a:rPr lang="en-US" dirty="0"/>
              <a:t> </a:t>
            </a:r>
            <a:r>
              <a:rPr lang="en-US" dirty="0" err="1"/>
              <a:t>đã</a:t>
            </a:r>
            <a:r>
              <a:rPr lang="en-US" dirty="0"/>
              <a:t> </a:t>
            </a:r>
            <a:r>
              <a:rPr lang="en-US" dirty="0" err="1"/>
              <a:t>tính</a:t>
            </a:r>
            <a:r>
              <a:rPr lang="en-US" dirty="0"/>
              <a:t> </a:t>
            </a:r>
            <a:r>
              <a:rPr lang="en-US" dirty="0" err="1"/>
              <a:t>toán</a:t>
            </a:r>
            <a:r>
              <a:rPr lang="en-US" dirty="0"/>
              <a:t>. Nếu </a:t>
            </a:r>
            <a:r>
              <a:rPr lang="en-US" dirty="0" err="1"/>
              <a:t>gặp</a:t>
            </a:r>
            <a:r>
              <a:rPr lang="en-US" dirty="0"/>
              <a:t> </a:t>
            </a:r>
            <a:r>
              <a:rPr lang="en-US" dirty="0" err="1"/>
              <a:t>lại</a:t>
            </a:r>
            <a:r>
              <a:rPr lang="en-US" dirty="0"/>
              <a:t> </a:t>
            </a:r>
            <a:r>
              <a:rPr lang="en-US" dirty="0" err="1"/>
              <a:t>trạng</a:t>
            </a:r>
            <a:r>
              <a:rPr lang="en-US" dirty="0"/>
              <a:t> </a:t>
            </a:r>
            <a:r>
              <a:rPr lang="en-US" dirty="0" err="1"/>
              <a:t>thái</a:t>
            </a:r>
            <a:r>
              <a:rPr lang="en-US" dirty="0"/>
              <a:t> </a:t>
            </a:r>
            <a:r>
              <a:rPr lang="en-US" dirty="0" err="1"/>
              <a:t>cũ</a:t>
            </a:r>
            <a:r>
              <a:rPr lang="en-US" dirty="0"/>
              <a:t>, AI </a:t>
            </a:r>
            <a:r>
              <a:rPr lang="en-US" dirty="0" err="1"/>
              <a:t>lấy</a:t>
            </a:r>
            <a:r>
              <a:rPr lang="en-US" dirty="0"/>
              <a:t> </a:t>
            </a:r>
            <a:r>
              <a:rPr lang="en-US" dirty="0" err="1"/>
              <a:t>kết</a:t>
            </a:r>
            <a:r>
              <a:rPr lang="en-US" dirty="0"/>
              <a:t> </a:t>
            </a:r>
            <a:r>
              <a:rPr lang="en-US" dirty="0" err="1"/>
              <a:t>quả</a:t>
            </a:r>
            <a:r>
              <a:rPr lang="en-US" dirty="0"/>
              <a:t> </a:t>
            </a:r>
            <a:r>
              <a:rPr lang="en-US" dirty="0" err="1"/>
              <a:t>ra</a:t>
            </a:r>
            <a:r>
              <a:rPr lang="en-US" dirty="0"/>
              <a:t> </a:t>
            </a:r>
            <a:r>
              <a:rPr lang="en-US" dirty="0" err="1"/>
              <a:t>dùng</a:t>
            </a:r>
            <a:r>
              <a:rPr lang="en-US" dirty="0"/>
              <a:t> </a:t>
            </a:r>
            <a:r>
              <a:rPr lang="en-US" dirty="0" err="1"/>
              <a:t>luôn</a:t>
            </a:r>
            <a:r>
              <a:rPr lang="en-US" dirty="0"/>
              <a:t> </a:t>
            </a:r>
            <a:r>
              <a:rPr lang="en-US" dirty="0" err="1"/>
              <a:t>thay</a:t>
            </a:r>
            <a:r>
              <a:rPr lang="en-US" dirty="0"/>
              <a:t> </a:t>
            </a:r>
            <a:r>
              <a:rPr lang="en-US" dirty="0" err="1"/>
              <a:t>vì</a:t>
            </a:r>
            <a:r>
              <a:rPr lang="en-US" dirty="0"/>
              <a:t> </a:t>
            </a:r>
            <a:r>
              <a:rPr lang="en-US" dirty="0" err="1"/>
              <a:t>tính</a:t>
            </a:r>
            <a:r>
              <a:rPr lang="en-US" dirty="0"/>
              <a:t> </a:t>
            </a:r>
            <a:r>
              <a:rPr lang="en-US" dirty="0" err="1"/>
              <a:t>lại</a:t>
            </a:r>
            <a:r>
              <a:rPr lang="en-US" dirty="0"/>
              <a:t> </a:t>
            </a:r>
            <a:r>
              <a:rPr lang="en-US" dirty="0" err="1"/>
              <a:t>từ</a:t>
            </a:r>
            <a:r>
              <a:rPr lang="en-US" dirty="0"/>
              <a:t> </a:t>
            </a:r>
            <a:r>
              <a:rPr lang="en-US" dirty="0" err="1"/>
              <a:t>đầu</a:t>
            </a:r>
            <a:endParaRPr lang="vi-VN" dirty="0"/>
          </a:p>
        </p:txBody>
      </p:sp>
    </p:spTree>
    <p:extLst>
      <p:ext uri="{BB962C8B-B14F-4D97-AF65-F5344CB8AC3E}">
        <p14:creationId xmlns:p14="http://schemas.microsoft.com/office/powerpoint/2010/main" val="4129608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C18FE-D7A6-DCE3-517C-6FED4595BE3A}"/>
              </a:ext>
            </a:extLst>
          </p:cNvPr>
          <p:cNvSpPr>
            <a:spLocks noGrp="1"/>
          </p:cNvSpPr>
          <p:nvPr>
            <p:ph type="title"/>
          </p:nvPr>
        </p:nvSpPr>
        <p:spPr/>
        <p:txBody>
          <a:bodyPr>
            <a:normAutofit/>
          </a:bodyPr>
          <a:lstStyle/>
          <a:p>
            <a:r>
              <a:rPr lang="vi-VN" sz="3600" dirty="0">
                <a:latin typeface="Aptos" panose="020B0004020202020204" pitchFamily="34" charset="0"/>
              </a:rPr>
              <a:t>Các bước xử lý bên trong hàm.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7E83DA-ED73-4B3C-234F-72EFE6E45709}"/>
                  </a:ext>
                </a:extLst>
              </p:cNvPr>
              <p:cNvSpPr>
                <a:spLocks noGrp="1"/>
              </p:cNvSpPr>
              <p:nvPr>
                <p:ph idx="1"/>
              </p:nvPr>
            </p:nvSpPr>
            <p:spPr/>
            <p:txBody>
              <a:bodyPr/>
              <a:lstStyle/>
              <a:p>
                <a:pPr marL="514350" indent="-514350">
                  <a:buFont typeface="+mj-lt"/>
                  <a:buAutoNum type="arabicPeriod"/>
                </a:pPr>
                <a:r>
                  <a:rPr lang="vi-VN" b="1" dirty="0">
                    <a:latin typeface="Aptos" panose="020B0004020202020204" pitchFamily="34" charset="0"/>
                  </a:rPr>
                  <a:t>Kiểm tra điều kiện thắng / thua:</a:t>
                </a:r>
              </a:p>
              <a:p>
                <a:pPr lvl="1"/>
                <a:r>
                  <a:rPr lang="vi-VN" dirty="0">
                    <a:latin typeface="Aptos" panose="020B0004020202020204" pitchFamily="34" charset="0"/>
                  </a:rPr>
                  <a:t>Nếu thắng / thua hoặc hòa: trả về điểm số vô hạn (</a:t>
                </a:r>
                <a14:m>
                  <m:oMath xmlns:m="http://schemas.openxmlformats.org/officeDocument/2006/math">
                    <m:r>
                      <a:rPr lang="vi-VN" b="0" i="1" smtClean="0">
                        <a:latin typeface="Cambria Math" panose="02040503050406030204" pitchFamily="18" charset="0"/>
                      </a:rPr>
                      <m:t>∞</m:t>
                    </m:r>
                  </m:oMath>
                </a14:m>
                <a:r>
                  <a:rPr lang="vi-VN" dirty="0">
                    <a:latin typeface="Aptos" panose="020B0004020202020204" pitchFamily="34" charset="0"/>
                  </a:rPr>
                  <a:t> / </a:t>
                </a:r>
                <a14:m>
                  <m:oMath xmlns:m="http://schemas.openxmlformats.org/officeDocument/2006/math">
                    <m:r>
                      <a:rPr lang="vi-VN" b="0" i="0" smtClean="0">
                        <a:latin typeface="Cambria Math" panose="02040503050406030204" pitchFamily="18" charset="0"/>
                      </a:rPr>
                      <m:t>− </m:t>
                    </m:r>
                    <m:r>
                      <a:rPr lang="vi-VN" i="1">
                        <a:latin typeface="Cambria Math" panose="02040503050406030204" pitchFamily="18" charset="0"/>
                      </a:rPr>
                      <m:t>∞</m:t>
                    </m:r>
                  </m:oMath>
                </a14:m>
                <a:r>
                  <a:rPr lang="vi-VN" dirty="0">
                    <a:latin typeface="Aptos" panose="020B0004020202020204" pitchFamily="34" charset="0"/>
                  </a:rPr>
                  <a:t>) hoặc 0</a:t>
                </a:r>
              </a:p>
              <a:p>
                <a:pPr lvl="1"/>
                <a:r>
                  <a:rPr lang="vi-VN" dirty="0">
                    <a:latin typeface="Aptos" panose="020B0004020202020204" pitchFamily="34" charset="0"/>
                  </a:rPr>
                  <a:t>Nếu </a:t>
                </a:r>
                <a:r>
                  <a:rPr lang="vi-VN" dirty="0" err="1">
                    <a:latin typeface="Aptos" panose="020B0004020202020204" pitchFamily="34" charset="0"/>
                  </a:rPr>
                  <a:t>depth</a:t>
                </a:r>
                <a:r>
                  <a:rPr lang="vi-VN" dirty="0">
                    <a:latin typeface="Aptos" panose="020B0004020202020204" pitchFamily="34" charset="0"/>
                  </a:rPr>
                  <a:t> == 0 hoặc hết thời gian (</a:t>
                </a:r>
                <a:r>
                  <a:rPr lang="vi-VN" dirty="0" err="1">
                    <a:latin typeface="Aptos" panose="020B0004020202020204" pitchFamily="34" charset="0"/>
                  </a:rPr>
                  <a:t>deadline</a:t>
                </a:r>
                <a:r>
                  <a:rPr lang="vi-VN" dirty="0">
                    <a:latin typeface="Aptos" panose="020B0004020202020204" pitchFamily="34" charset="0"/>
                  </a:rPr>
                  <a:t>): gọi hàm </a:t>
                </a:r>
                <a:r>
                  <a:rPr lang="vi-VN" dirty="0" err="1">
                    <a:latin typeface="Aptos" panose="020B0004020202020204" pitchFamily="34" charset="0"/>
                  </a:rPr>
                  <a:t>heuristic</a:t>
                </a:r>
                <a:r>
                  <a:rPr lang="vi-VN" dirty="0">
                    <a:latin typeface="Aptos" panose="020B0004020202020204" pitchFamily="34" charset="0"/>
                  </a:rPr>
                  <a:t> để ước lượng điểm số hiện tại</a:t>
                </a:r>
              </a:p>
              <a:p>
                <a:pPr marL="514350" indent="-514350">
                  <a:buFont typeface="+mj-lt"/>
                  <a:buAutoNum type="arabicPeriod"/>
                </a:pPr>
                <a:r>
                  <a:rPr lang="vi-VN" b="1" dirty="0">
                    <a:latin typeface="Aptos" panose="020B0004020202020204" pitchFamily="34" charset="0"/>
                  </a:rPr>
                  <a:t>Tra cứu bảng chuyển đổi (</a:t>
                </a:r>
                <a:r>
                  <a:rPr lang="vi-VN" b="1" dirty="0" err="1">
                    <a:latin typeface="Aptos" panose="020B0004020202020204" pitchFamily="34" charset="0"/>
                  </a:rPr>
                  <a:t>tt</a:t>
                </a:r>
                <a:r>
                  <a:rPr lang="vi-VN" b="1" dirty="0">
                    <a:latin typeface="Aptos" panose="020B0004020202020204" pitchFamily="34" charset="0"/>
                  </a:rPr>
                  <a:t>): </a:t>
                </a:r>
                <a:r>
                  <a:rPr lang="vi-VN" dirty="0">
                    <a:latin typeface="Aptos" panose="020B0004020202020204" pitchFamily="34" charset="0"/>
                  </a:rPr>
                  <a:t>Kiểm tra xem trạng thái {me, </a:t>
                </a:r>
                <a:r>
                  <a:rPr lang="vi-VN" dirty="0" err="1">
                    <a:latin typeface="Aptos" panose="020B0004020202020204" pitchFamily="34" charset="0"/>
                  </a:rPr>
                  <a:t>opp</a:t>
                </a:r>
                <a:r>
                  <a:rPr lang="vi-VN" dirty="0">
                    <a:latin typeface="Aptos" panose="020B0004020202020204" pitchFamily="34" charset="0"/>
                  </a:rPr>
                  <a:t>} đã có trong bộ nhớ hiện tại</a:t>
                </a:r>
              </a:p>
              <a:p>
                <a:pPr marL="514350" indent="-514350">
                  <a:buFont typeface="+mj-lt"/>
                  <a:buAutoNum type="arabicPeriod"/>
                </a:pPr>
                <a:r>
                  <a:rPr lang="vi-VN" b="1" dirty="0">
                    <a:latin typeface="Aptos" panose="020B0004020202020204" pitchFamily="34" charset="0"/>
                  </a:rPr>
                  <a:t>Tạo nước đi tiếp theo: </a:t>
                </a:r>
                <a:r>
                  <a:rPr lang="vi-VN" dirty="0">
                    <a:latin typeface="Aptos" panose="020B0004020202020204" pitchFamily="34" charset="0"/>
                  </a:rPr>
                  <a:t>Tìm các cột còn trống bằng </a:t>
                </a:r>
                <a:r>
                  <a:rPr lang="vi-VN" dirty="0" err="1">
                    <a:latin typeface="Aptos" panose="020B0004020202020204" pitchFamily="34" charset="0"/>
                  </a:rPr>
                  <a:t>Bitmask</a:t>
                </a:r>
                <a:endParaRPr lang="vi-VN" dirty="0">
                  <a:latin typeface="Aptos" panose="020B0004020202020204" pitchFamily="34" charset="0"/>
                </a:endParaRPr>
              </a:p>
              <a:p>
                <a:pPr marL="514350" indent="-514350">
                  <a:buFont typeface="+mj-lt"/>
                  <a:buAutoNum type="arabicPeriod"/>
                </a:pPr>
                <a:r>
                  <a:rPr lang="vi-VN" b="1" dirty="0">
                    <a:latin typeface="Aptos" panose="020B0004020202020204" pitchFamily="34" charset="0"/>
                  </a:rPr>
                  <a:t>Đệ quy đối kháng: </a:t>
                </a:r>
                <a:r>
                  <a:rPr lang="vi-VN" dirty="0">
                    <a:latin typeface="Aptos" panose="020B0004020202020204" pitchFamily="34" charset="0"/>
                  </a:rPr>
                  <a:t>Đổi vai trò </a:t>
                </a:r>
                <a:r>
                  <a:rPr lang="vi-VN" b="1" dirty="0">
                    <a:latin typeface="Aptos" panose="020B0004020202020204" pitchFamily="34" charset="0"/>
                  </a:rPr>
                  <a:t>me</a:t>
                </a:r>
                <a:r>
                  <a:rPr lang="vi-VN" dirty="0">
                    <a:latin typeface="Aptos" panose="020B0004020202020204" pitchFamily="34" charset="0"/>
                  </a:rPr>
                  <a:t> và </a:t>
                </a:r>
                <a:r>
                  <a:rPr lang="vi-VN" b="1" dirty="0" err="1">
                    <a:latin typeface="Aptos" panose="020B0004020202020204" pitchFamily="34" charset="0"/>
                  </a:rPr>
                  <a:t>opp</a:t>
                </a:r>
                <a:r>
                  <a:rPr lang="vi-VN" b="1" dirty="0">
                    <a:latin typeface="Aptos" panose="020B0004020202020204" pitchFamily="34" charset="0"/>
                  </a:rPr>
                  <a:t> </a:t>
                </a:r>
                <a:r>
                  <a:rPr lang="vi-VN" dirty="0">
                    <a:latin typeface="Aptos" panose="020B0004020202020204" pitchFamily="34" charset="0"/>
                  </a:rPr>
                  <a:t>ở tầng tiếp theo, đồng thời cập nhật </a:t>
                </a:r>
                <a:r>
                  <a:rPr lang="vi-VN" b="1" dirty="0" err="1">
                    <a:latin typeface="Aptos" panose="020B0004020202020204" pitchFamily="34" charset="0"/>
                  </a:rPr>
                  <a:t>alpha</a:t>
                </a:r>
                <a:r>
                  <a:rPr lang="vi-VN" dirty="0">
                    <a:latin typeface="Aptos" panose="020B0004020202020204" pitchFamily="34" charset="0"/>
                  </a:rPr>
                  <a:t>, </a:t>
                </a:r>
                <a:r>
                  <a:rPr lang="vi-VN" b="1" dirty="0" err="1">
                    <a:latin typeface="Aptos" panose="020B0004020202020204" pitchFamily="34" charset="0"/>
                  </a:rPr>
                  <a:t>beta</a:t>
                </a:r>
                <a:endParaRPr lang="vi-VN" b="1" dirty="0">
                  <a:latin typeface="Aptos" panose="020B0004020202020204" pitchFamily="34" charset="0"/>
                </a:endParaRPr>
              </a:p>
              <a:p>
                <a:pPr lvl="1"/>
                <a:endParaRPr lang="vi-VN" dirty="0">
                  <a:latin typeface="Aptos" panose="020B0004020202020204" pitchFamily="34" charset="0"/>
                </a:endParaRPr>
              </a:p>
            </p:txBody>
          </p:sp>
        </mc:Choice>
        <mc:Fallback xmlns="">
          <p:sp>
            <p:nvSpPr>
              <p:cNvPr id="3" name="Content Placeholder 2">
                <a:extLst>
                  <a:ext uri="{FF2B5EF4-FFF2-40B4-BE49-F238E27FC236}">
                    <a16:creationId xmlns:a16="http://schemas.microsoft.com/office/drawing/2014/main" id="{8B7E83DA-ED73-4B3C-234F-72EFE6E45709}"/>
                  </a:ext>
                </a:extLst>
              </p:cNvPr>
              <p:cNvSpPr>
                <a:spLocks noGrp="1" noRot="1" noChangeAspect="1" noMove="1" noResize="1" noEditPoints="1" noAdjustHandles="1" noChangeArrowheads="1" noChangeShapeType="1" noTextEdit="1"/>
              </p:cNvSpPr>
              <p:nvPr>
                <p:ph idx="1"/>
              </p:nvPr>
            </p:nvSpPr>
            <p:spPr>
              <a:blipFill>
                <a:blip r:embed="rId2"/>
                <a:stretch>
                  <a:fillRect l="-1217" t="-2381" r="-174"/>
                </a:stretch>
              </a:blipFill>
            </p:spPr>
            <p:txBody>
              <a:bodyPr/>
              <a:lstStyle/>
              <a:p>
                <a:r>
                  <a:rPr lang="vi-VN">
                    <a:noFill/>
                  </a:rPr>
                  <a:t> </a:t>
                </a:r>
              </a:p>
            </p:txBody>
          </p:sp>
        </mc:Fallback>
      </mc:AlternateContent>
    </p:spTree>
    <p:extLst>
      <p:ext uri="{BB962C8B-B14F-4D97-AF65-F5344CB8AC3E}">
        <p14:creationId xmlns:p14="http://schemas.microsoft.com/office/powerpoint/2010/main" val="2044236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91416-1974-04D7-729D-8D12F590CCC4}"/>
              </a:ext>
            </a:extLst>
          </p:cNvPr>
          <p:cNvSpPr>
            <a:spLocks noGrp="1"/>
          </p:cNvSpPr>
          <p:nvPr>
            <p:ph type="title"/>
          </p:nvPr>
        </p:nvSpPr>
        <p:spPr/>
        <p:txBody>
          <a:bodyPr>
            <a:normAutofit/>
          </a:bodyPr>
          <a:lstStyle/>
          <a:p>
            <a:r>
              <a:rPr lang="vi-VN" sz="3600" dirty="0">
                <a:latin typeface="Aptos" panose="020B0004020202020204" pitchFamily="34" charset="0"/>
              </a:rPr>
              <a:t>Sức mạnh </a:t>
            </a:r>
            <a:r>
              <a:rPr lang="vi-VN" sz="3600" dirty="0" err="1">
                <a:latin typeface="Aptos" panose="020B0004020202020204" pitchFamily="34" charset="0"/>
              </a:rPr>
              <a:t>Bitboard</a:t>
            </a:r>
            <a:r>
              <a:rPr lang="vi-VN" sz="3600" dirty="0">
                <a:latin typeface="Aptos" panose="020B0004020202020204" pitchFamily="34" charset="0"/>
              </a:rPr>
              <a:t> trong </a:t>
            </a:r>
            <a:r>
              <a:rPr lang="vi-VN" sz="3600" dirty="0" err="1">
                <a:latin typeface="Aptos" panose="020B0004020202020204" pitchFamily="34" charset="0"/>
              </a:rPr>
              <a:t>Minimax</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138D4C87-137D-BE96-2CAF-F6F8E23B09F1}"/>
              </a:ext>
            </a:extLst>
          </p:cNvPr>
          <p:cNvSpPr>
            <a:spLocks noGrp="1"/>
          </p:cNvSpPr>
          <p:nvPr>
            <p:ph idx="1"/>
          </p:nvPr>
        </p:nvSpPr>
        <p:spPr/>
        <p:txBody>
          <a:bodyPr>
            <a:normAutofit/>
          </a:bodyPr>
          <a:lstStyle/>
          <a:p>
            <a:pPr marL="0" indent="0">
              <a:buNone/>
            </a:pPr>
            <a:r>
              <a:rPr lang="vi-VN" dirty="0">
                <a:latin typeface="Aptos" panose="020B0004020202020204" pitchFamily="34" charset="0"/>
              </a:rPr>
              <a:t>Thay vì dùng mảng 2 chiều (6x7), bàn cờ được gói gọn trong 2 số nguyên</a:t>
            </a:r>
          </a:p>
          <a:p>
            <a:pPr marL="0" lvl="0" indent="0" eaLnBrk="0" fontAlgn="base" hangingPunct="0">
              <a:lnSpc>
                <a:spcPct val="100000"/>
              </a:lnSpc>
              <a:spcBef>
                <a:spcPct val="0"/>
              </a:spcBef>
              <a:spcAft>
                <a:spcPct val="0"/>
              </a:spcAft>
              <a:buNone/>
            </a:pPr>
            <a:r>
              <a:rPr lang="vi-VN" altLang="vi-VN" b="1" dirty="0">
                <a:latin typeface="Aptos" panose="020B0004020202020204" pitchFamily="34" charset="0"/>
              </a:rPr>
              <a:t>Kiểm tra thắng: </a:t>
            </a:r>
            <a:r>
              <a:rPr lang="vi-VN" altLang="vi-VN" dirty="0">
                <a:latin typeface="Aptos" panose="020B0004020202020204" pitchFamily="34" charset="0"/>
              </a:rPr>
              <a:t>chỉ cần 1 dòng </a:t>
            </a:r>
            <a:r>
              <a:rPr lang="vi-VN" altLang="vi-VN" dirty="0" err="1">
                <a:latin typeface="Aptos" panose="020B0004020202020204" pitchFamily="34" charset="0"/>
              </a:rPr>
              <a:t>code</a:t>
            </a:r>
            <a:r>
              <a:rPr lang="vi-VN" altLang="vi-VN" dirty="0">
                <a:latin typeface="Aptos" panose="020B0004020202020204" pitchFamily="34" charset="0"/>
              </a:rPr>
              <a:t> </a:t>
            </a:r>
            <a:r>
              <a:rPr lang="vi-VN" altLang="vi-VN" dirty="0" err="1">
                <a:latin typeface="Aptos" panose="020B0004020202020204" pitchFamily="34" charset="0"/>
              </a:rPr>
              <a:t>logic</a:t>
            </a:r>
            <a:r>
              <a:rPr lang="vi-VN" altLang="vi-VN" dirty="0">
                <a:latin typeface="Aptos" panose="020B0004020202020204" pitchFamily="34" charset="0"/>
              </a:rPr>
              <a:t> </a:t>
            </a:r>
            <a:r>
              <a:rPr lang="vi-VN" altLang="vi-VN" dirty="0" err="1">
                <a:latin typeface="Aptos" panose="020B0004020202020204" pitchFamily="34" charset="0"/>
              </a:rPr>
              <a:t>bit</a:t>
            </a:r>
            <a:r>
              <a:rPr lang="vi-VN" altLang="vi-VN" dirty="0">
                <a:latin typeface="Aptos" panose="020B0004020202020204" pitchFamily="34" charset="0"/>
              </a:rPr>
              <a:t> thay vì chạy vòng lặp</a:t>
            </a:r>
          </a:p>
          <a:p>
            <a:pPr marL="0" indent="0">
              <a:buNone/>
            </a:pPr>
            <a:r>
              <a:rPr lang="vi-VN" b="1" dirty="0">
                <a:latin typeface="Aptos" panose="020B0004020202020204" pitchFamily="34" charset="0"/>
              </a:rPr>
              <a:t>Tiết kiệm bộ nhớ: </a:t>
            </a:r>
            <a:r>
              <a:rPr lang="vi-VN" dirty="0">
                <a:latin typeface="Aptos" panose="020B0004020202020204" pitchFamily="34" charset="0"/>
              </a:rPr>
              <a:t>Giúp </a:t>
            </a:r>
            <a:r>
              <a:rPr lang="vi-VN" dirty="0" err="1">
                <a:latin typeface="Aptos" panose="020B0004020202020204" pitchFamily="34" charset="0"/>
              </a:rPr>
              <a:t>Transposition</a:t>
            </a:r>
            <a:r>
              <a:rPr lang="vi-VN" dirty="0">
                <a:latin typeface="Aptos" panose="020B0004020202020204" pitchFamily="34" charset="0"/>
              </a:rPr>
              <a:t> </a:t>
            </a:r>
            <a:r>
              <a:rPr lang="vi-VN" dirty="0" err="1">
                <a:latin typeface="Aptos" panose="020B0004020202020204" pitchFamily="34" charset="0"/>
              </a:rPr>
              <a:t>Table</a:t>
            </a:r>
            <a:r>
              <a:rPr lang="vi-VN" dirty="0">
                <a:latin typeface="Aptos" panose="020B0004020202020204" pitchFamily="34" charset="0"/>
              </a:rPr>
              <a:t> lưu được hàng triệu trạng thái mà không tốn nhiều RAM</a:t>
            </a:r>
          </a:p>
          <a:p>
            <a:pPr marL="0" indent="0">
              <a:buNone/>
            </a:pPr>
            <a:r>
              <a:rPr lang="vi-VN" b="1" dirty="0">
                <a:latin typeface="Aptos" panose="020B0004020202020204" pitchFamily="34" charset="0"/>
              </a:rPr>
              <a:t>Kết quả: </a:t>
            </a:r>
            <a:r>
              <a:rPr lang="vi-VN" dirty="0">
                <a:latin typeface="Aptos" panose="020B0004020202020204" pitchFamily="34" charset="0"/>
              </a:rPr>
              <a:t>AI có thể "nhìn xa" hơn (độ sâu </a:t>
            </a:r>
            <a:r>
              <a:rPr lang="vi-VN" dirty="0" err="1">
                <a:latin typeface="Aptos" panose="020B0004020202020204" pitchFamily="34" charset="0"/>
              </a:rPr>
              <a:t>depth</a:t>
            </a:r>
            <a:r>
              <a:rPr lang="vi-VN" dirty="0">
                <a:latin typeface="Aptos" panose="020B0004020202020204" pitchFamily="34" charset="0"/>
              </a:rPr>
              <a:t> lớn hơn) trong cùng một khoảng thời gian.</a:t>
            </a:r>
          </a:p>
          <a:p>
            <a:pPr marL="0" lvl="0" indent="0" eaLnBrk="0" fontAlgn="base" hangingPunct="0">
              <a:lnSpc>
                <a:spcPct val="100000"/>
              </a:lnSpc>
              <a:spcBef>
                <a:spcPct val="0"/>
              </a:spcBef>
              <a:spcAft>
                <a:spcPct val="0"/>
              </a:spcAft>
              <a:buNone/>
            </a:pPr>
            <a:endParaRPr lang="vi-VN" altLang="vi-VN" sz="1800" dirty="0"/>
          </a:p>
          <a:p>
            <a:pPr lvl="1"/>
            <a:endParaRPr lang="vi-VN" dirty="0">
              <a:latin typeface="Aptos" panose="020B0004020202020204" pitchFamily="34" charset="0"/>
            </a:endParaRPr>
          </a:p>
        </p:txBody>
      </p:sp>
    </p:spTree>
    <p:extLst>
      <p:ext uri="{BB962C8B-B14F-4D97-AF65-F5344CB8AC3E}">
        <p14:creationId xmlns:p14="http://schemas.microsoft.com/office/powerpoint/2010/main" val="163375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EDDCF-BD3F-91BA-B828-28298D8BBF55}"/>
              </a:ext>
            </a:extLst>
          </p:cNvPr>
          <p:cNvSpPr>
            <a:spLocks noGrp="1"/>
          </p:cNvSpPr>
          <p:nvPr>
            <p:ph type="title"/>
          </p:nvPr>
        </p:nvSpPr>
        <p:spPr>
          <a:xfrm>
            <a:off x="838199" y="365125"/>
            <a:ext cx="10862187" cy="1325563"/>
          </a:xfrm>
        </p:spPr>
        <p:txBody>
          <a:bodyPr>
            <a:normAutofit/>
          </a:bodyPr>
          <a:lstStyle/>
          <a:p>
            <a:r>
              <a:rPr lang="vi-VN" sz="3600" dirty="0">
                <a:latin typeface="Aptos" panose="020B0004020202020204" pitchFamily="34" charset="0"/>
              </a:rPr>
              <a:t>Tối ưu hóa </a:t>
            </a:r>
            <a:r>
              <a:rPr lang="vi-VN" sz="3600" dirty="0" err="1">
                <a:latin typeface="Aptos" panose="020B0004020202020204" pitchFamily="34" charset="0"/>
              </a:rPr>
              <a:t>Alpha-Beta</a:t>
            </a:r>
            <a:r>
              <a:rPr lang="vi-VN" sz="3600" dirty="0">
                <a:latin typeface="Aptos" panose="020B0004020202020204" pitchFamily="34" charset="0"/>
              </a:rPr>
              <a:t> và Lưu trữ kết quả.</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87B384-5D8B-1226-6038-1EAA6B767184}"/>
                  </a:ext>
                </a:extLst>
              </p:cNvPr>
              <p:cNvSpPr>
                <a:spLocks noGrp="1"/>
              </p:cNvSpPr>
              <p:nvPr>
                <p:ph idx="1"/>
              </p:nvPr>
            </p:nvSpPr>
            <p:spPr/>
            <p:txBody>
              <a:bodyPr/>
              <a:lstStyle/>
              <a:p>
                <a:pPr marL="0" indent="0">
                  <a:buNone/>
                </a:pPr>
                <a:r>
                  <a:rPr lang="vi-VN" b="1" dirty="0">
                    <a:latin typeface="Aptos" panose="020B0004020202020204" pitchFamily="34" charset="0"/>
                  </a:rPr>
                  <a:t>Cắt tỉa: </a:t>
                </a:r>
                <a:r>
                  <a:rPr lang="vi-VN" dirty="0">
                    <a:latin typeface="Aptos" panose="020B0004020202020204" pitchFamily="34" charset="0"/>
                  </a:rPr>
                  <a:t>Nếu </a:t>
                </a:r>
                <a:r>
                  <a:rPr lang="vi-VN" dirty="0" err="1">
                    <a:latin typeface="Aptos" panose="020B0004020202020204" pitchFamily="34" charset="0"/>
                  </a:rPr>
                  <a:t>score</a:t>
                </a:r>
                <a:r>
                  <a:rPr lang="vi-VN" dirty="0">
                    <a:latin typeface="Aptos" panose="020B0004020202020204" pitchFamily="34" charset="0"/>
                  </a:rPr>
                  <a:t> ≥ </a:t>
                </a:r>
                <a:r>
                  <a:rPr lang="vi-VN" dirty="0" err="1">
                    <a:latin typeface="Aptos" panose="020B0004020202020204" pitchFamily="34" charset="0"/>
                  </a:rPr>
                  <a:t>beta</a:t>
                </a:r>
                <a:r>
                  <a:rPr lang="vi-VN" dirty="0">
                    <a:latin typeface="Aptos" panose="020B0004020202020204" pitchFamily="34" charset="0"/>
                  </a:rPr>
                  <a:t>, ngừng tìm kiếm nhánh hiện tại (vì đối thủ sẽ không bao giờ cho phép ta đi vào nhánh này)</a:t>
                </a:r>
                <a:endParaRPr lang="vi-VN" b="1" dirty="0">
                  <a:latin typeface="Aptos" panose="020B0004020202020204" pitchFamily="34" charset="0"/>
                </a:endParaRPr>
              </a:p>
              <a:p>
                <a:pPr marL="0" indent="0">
                  <a:buNone/>
                </a:pPr>
                <a:r>
                  <a:rPr lang="vi-VN" b="1" dirty="0">
                    <a:latin typeface="Aptos" panose="020B0004020202020204" pitchFamily="34" charset="0"/>
                  </a:rPr>
                  <a:t>Lưu trữ: </a:t>
                </a:r>
                <a:r>
                  <a:rPr lang="vi-VN" dirty="0">
                    <a:latin typeface="Aptos" panose="020B0004020202020204" pitchFamily="34" charset="0"/>
                  </a:rPr>
                  <a:t>Sau khi tìm ra điểm số tốt nhất cho một trạng thái, hàm sẽ lưu nó vào </a:t>
                </a:r>
                <a:r>
                  <a:rPr lang="vi-VN" b="1" dirty="0" err="1">
                    <a:latin typeface="Aptos" panose="020B0004020202020204" pitchFamily="34" charset="0"/>
                  </a:rPr>
                  <a:t>tt</a:t>
                </a:r>
                <a:r>
                  <a:rPr lang="vi-VN" dirty="0">
                    <a:latin typeface="Aptos" panose="020B0004020202020204" pitchFamily="34" charset="0"/>
                  </a:rPr>
                  <a:t> kèm theo loại giá trị (</a:t>
                </a:r>
                <a:r>
                  <a:rPr lang="vi-VN" dirty="0" err="1">
                    <a:latin typeface="Aptos" panose="020B0004020202020204" pitchFamily="34" charset="0"/>
                  </a:rPr>
                  <a:t>Exact</a:t>
                </a:r>
                <a:r>
                  <a:rPr lang="vi-VN" dirty="0">
                    <a:latin typeface="Aptos" panose="020B0004020202020204" pitchFamily="34" charset="0"/>
                  </a:rPr>
                  <a:t>, </a:t>
                </a:r>
                <a:r>
                  <a:rPr lang="vi-VN" dirty="0" err="1">
                    <a:latin typeface="Aptos" panose="020B0004020202020204" pitchFamily="34" charset="0"/>
                  </a:rPr>
                  <a:t>Lowerbound</a:t>
                </a:r>
                <a:r>
                  <a:rPr lang="vi-VN" dirty="0">
                    <a:latin typeface="Aptos" panose="020B0004020202020204" pitchFamily="34" charset="0"/>
                  </a:rPr>
                  <a:t>, hoặc </a:t>
                </a:r>
                <a:r>
                  <a:rPr lang="vi-VN" dirty="0" err="1">
                    <a:latin typeface="Aptos" panose="020B0004020202020204" pitchFamily="34" charset="0"/>
                  </a:rPr>
                  <a:t>Upperbound</a:t>
                </a:r>
                <a:r>
                  <a:rPr lang="vi-VN" dirty="0">
                    <a:latin typeface="Aptos" panose="020B0004020202020204" pitchFamily="34" charset="0"/>
                  </a:rPr>
                  <a:t>).</a:t>
                </a:r>
              </a:p>
              <a:p>
                <a:pPr marL="457200" lvl="1" indent="0">
                  <a:buNone/>
                </a:pPr>
                <a:r>
                  <a:rPr lang="vi-VN" dirty="0"/>
                  <a:t>- </a:t>
                </a:r>
                <a:r>
                  <a:rPr lang="vi-VN" dirty="0" err="1"/>
                  <a:t>Exact</a:t>
                </a:r>
                <a:r>
                  <a:rPr lang="vi-VN" dirty="0"/>
                  <a:t>: </a:t>
                </a:r>
                <a14:m>
                  <m:oMath xmlns:m="http://schemas.openxmlformats.org/officeDocument/2006/math">
                    <m:r>
                      <a:rPr lang="vi-VN" i="1" smtClean="0">
                        <a:latin typeface="Cambria Math" panose="02040503050406030204" pitchFamily="18" charset="0"/>
                      </a:rPr>
                      <m:t>𝛼</m:t>
                    </m:r>
                    <m:r>
                      <a:rPr lang="vi-VN" i="1" smtClean="0">
                        <a:latin typeface="Cambria Math" panose="02040503050406030204" pitchFamily="18" charset="0"/>
                      </a:rPr>
                      <m:t>≤</m:t>
                    </m:r>
                    <m:r>
                      <a:rPr lang="vi-VN" b="0" i="1" smtClean="0">
                        <a:latin typeface="Cambria Math" panose="02040503050406030204" pitchFamily="18" charset="0"/>
                      </a:rPr>
                      <m:t>𝑉</m:t>
                    </m:r>
                    <m:r>
                      <a:rPr lang="vi-VN" i="1">
                        <a:latin typeface="Cambria Math" panose="02040503050406030204" pitchFamily="18" charset="0"/>
                      </a:rPr>
                      <m:t>≤</m:t>
                    </m:r>
                    <m:r>
                      <a:rPr lang="vi-VN" i="1">
                        <a:latin typeface="Cambria Math" panose="02040503050406030204" pitchFamily="18" charset="0"/>
                      </a:rPr>
                      <m:t>𝛽</m:t>
                    </m:r>
                  </m:oMath>
                </a14:m>
                <a:endParaRPr lang="vi-VN" b="0" dirty="0"/>
              </a:p>
              <a:p>
                <a:pPr marL="457200" lvl="1" indent="0">
                  <a:buNone/>
                </a:pPr>
                <a:r>
                  <a:rPr lang="vi-VN" dirty="0"/>
                  <a:t>- </a:t>
                </a:r>
                <a:r>
                  <a:rPr lang="vi-VN" dirty="0" err="1"/>
                  <a:t>Lowerbound</a:t>
                </a:r>
                <a:r>
                  <a:rPr lang="vi-VN" dirty="0"/>
                  <a:t>: </a:t>
                </a:r>
                <a14:m>
                  <m:oMath xmlns:m="http://schemas.openxmlformats.org/officeDocument/2006/math">
                    <m:r>
                      <a:rPr lang="vi-VN" i="1" smtClean="0">
                        <a:latin typeface="Cambria Math" panose="02040503050406030204" pitchFamily="18" charset="0"/>
                      </a:rPr>
                      <m:t>𝑉</m:t>
                    </m:r>
                    <m:r>
                      <a:rPr lang="vi-VN" i="1" smtClean="0">
                        <a:latin typeface="Cambria Math" panose="02040503050406030204" pitchFamily="18" charset="0"/>
                      </a:rPr>
                      <m:t>≥</m:t>
                    </m:r>
                    <m:r>
                      <a:rPr lang="vi-VN" i="1">
                        <a:latin typeface="Cambria Math" panose="02040503050406030204" pitchFamily="18" charset="0"/>
                      </a:rPr>
                      <m:t>𝛽</m:t>
                    </m:r>
                  </m:oMath>
                </a14:m>
                <a:endParaRPr lang="vi-VN" dirty="0"/>
              </a:p>
              <a:p>
                <a:pPr marL="457200" lvl="1" indent="0">
                  <a:buNone/>
                </a:pPr>
                <a:r>
                  <a:rPr lang="vi-VN" dirty="0"/>
                  <a:t>- </a:t>
                </a:r>
                <a:r>
                  <a:rPr lang="vi-VN" dirty="0" err="1"/>
                  <a:t>Upperbound</a:t>
                </a:r>
                <a:r>
                  <a:rPr lang="vi-VN" dirty="0"/>
                  <a:t>: </a:t>
                </a:r>
                <a14:m>
                  <m:oMath xmlns:m="http://schemas.openxmlformats.org/officeDocument/2006/math">
                    <m:r>
                      <a:rPr lang="vi-VN" i="1">
                        <a:latin typeface="Cambria Math" panose="02040503050406030204" pitchFamily="18" charset="0"/>
                      </a:rPr>
                      <m:t>𝑉</m:t>
                    </m:r>
                    <m:r>
                      <a:rPr lang="vi-VN" i="1">
                        <a:latin typeface="Cambria Math" panose="02040503050406030204" pitchFamily="18" charset="0"/>
                      </a:rPr>
                      <m:t>≤</m:t>
                    </m:r>
                    <m:r>
                      <a:rPr lang="vi-VN" i="1">
                        <a:latin typeface="Cambria Math" panose="02040503050406030204" pitchFamily="18" charset="0"/>
                      </a:rPr>
                      <m:t>𝛼</m:t>
                    </m:r>
                  </m:oMath>
                </a14:m>
                <a:endParaRPr lang="vi-VN" dirty="0"/>
              </a:p>
              <a:p>
                <a:pPr lvl="1"/>
                <a:endParaRPr lang="vi-VN" b="0" dirty="0"/>
              </a:p>
            </p:txBody>
          </p:sp>
        </mc:Choice>
        <mc:Fallback xmlns="">
          <p:sp>
            <p:nvSpPr>
              <p:cNvPr id="3" name="Content Placeholder 2">
                <a:extLst>
                  <a:ext uri="{FF2B5EF4-FFF2-40B4-BE49-F238E27FC236}">
                    <a16:creationId xmlns:a16="http://schemas.microsoft.com/office/drawing/2014/main" id="{0187B384-5D8B-1226-6038-1EAA6B767184}"/>
                  </a:ext>
                </a:extLst>
              </p:cNvPr>
              <p:cNvSpPr>
                <a:spLocks noGrp="1" noRot="1" noChangeAspect="1" noMove="1" noResize="1" noEditPoints="1" noAdjustHandles="1" noChangeArrowheads="1" noChangeShapeType="1" noTextEdit="1"/>
              </p:cNvSpPr>
              <p:nvPr>
                <p:ph idx="1"/>
              </p:nvPr>
            </p:nvSpPr>
            <p:spPr>
              <a:blipFill>
                <a:blip r:embed="rId2"/>
                <a:stretch>
                  <a:fillRect l="-1217" t="-2381" r="-174"/>
                </a:stretch>
              </a:blipFill>
            </p:spPr>
            <p:txBody>
              <a:bodyPr/>
              <a:lstStyle/>
              <a:p>
                <a:r>
                  <a:rPr lang="vi-VN">
                    <a:noFill/>
                  </a:rPr>
                  <a:t> </a:t>
                </a:r>
              </a:p>
            </p:txBody>
          </p:sp>
        </mc:Fallback>
      </mc:AlternateContent>
    </p:spTree>
    <p:extLst>
      <p:ext uri="{BB962C8B-B14F-4D97-AF65-F5344CB8AC3E}">
        <p14:creationId xmlns:p14="http://schemas.microsoft.com/office/powerpoint/2010/main" val="1759668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11166-EE9E-A2C2-FBF1-4BC852AE6DA7}"/>
              </a:ext>
            </a:extLst>
          </p:cNvPr>
          <p:cNvSpPr>
            <a:spLocks noGrp="1"/>
          </p:cNvSpPr>
          <p:nvPr>
            <p:ph type="title"/>
          </p:nvPr>
        </p:nvSpPr>
        <p:spPr/>
        <p:txBody>
          <a:bodyPr>
            <a:normAutofit/>
          </a:bodyPr>
          <a:lstStyle/>
          <a:p>
            <a:r>
              <a:rPr lang="en-US" sz="3600" dirty="0"/>
              <a:t>Iterative Deepening (1)</a:t>
            </a:r>
            <a:endParaRPr lang="vi-VN" sz="3600" dirty="0"/>
          </a:p>
        </p:txBody>
      </p:sp>
      <p:sp>
        <p:nvSpPr>
          <p:cNvPr id="3" name="Content Placeholder 2">
            <a:extLst>
              <a:ext uri="{FF2B5EF4-FFF2-40B4-BE49-F238E27FC236}">
                <a16:creationId xmlns:a16="http://schemas.microsoft.com/office/drawing/2014/main" id="{41245B64-917B-4A6C-9378-5D6193979A93}"/>
              </a:ext>
            </a:extLst>
          </p:cNvPr>
          <p:cNvSpPr>
            <a:spLocks noGrp="1"/>
          </p:cNvSpPr>
          <p:nvPr>
            <p:ph idx="1"/>
          </p:nvPr>
        </p:nvSpPr>
        <p:spPr/>
        <p:txBody>
          <a:bodyPr/>
          <a:lstStyle/>
          <a:p>
            <a:pPr marL="0" indent="0">
              <a:buNone/>
            </a:pPr>
            <a:r>
              <a:rPr lang="en-US" dirty="0" err="1"/>
              <a:t>Vấn</a:t>
            </a:r>
            <a:r>
              <a:rPr lang="en-US" dirty="0"/>
              <a:t> </a:t>
            </a:r>
            <a:r>
              <a:rPr lang="en-US" dirty="0" err="1"/>
              <a:t>đề</a:t>
            </a:r>
            <a:r>
              <a:rPr lang="en-US" dirty="0"/>
              <a:t> </a:t>
            </a:r>
            <a:r>
              <a:rPr lang="en-US" dirty="0" err="1"/>
              <a:t>của</a:t>
            </a:r>
            <a:r>
              <a:rPr lang="en-US" dirty="0"/>
              <a:t> </a:t>
            </a:r>
            <a:r>
              <a:rPr lang="en-US" dirty="0" err="1"/>
              <a:t>việc</a:t>
            </a:r>
            <a:r>
              <a:rPr lang="en-US" dirty="0"/>
              <a:t> </a:t>
            </a:r>
            <a:r>
              <a:rPr lang="en-US" dirty="0" err="1"/>
              <a:t>tìm</a:t>
            </a:r>
            <a:r>
              <a:rPr lang="en-US" dirty="0"/>
              <a:t> </a:t>
            </a:r>
            <a:r>
              <a:rPr lang="en-US" dirty="0" err="1"/>
              <a:t>kiếm</a:t>
            </a:r>
            <a:r>
              <a:rPr lang="en-US" dirty="0"/>
              <a:t> </a:t>
            </a:r>
            <a:r>
              <a:rPr lang="en-US" dirty="0" err="1"/>
              <a:t>độ</a:t>
            </a:r>
            <a:r>
              <a:rPr lang="en-US" dirty="0"/>
              <a:t> </a:t>
            </a:r>
            <a:r>
              <a:rPr lang="en-US" dirty="0" err="1"/>
              <a:t>sâu</a:t>
            </a:r>
            <a:r>
              <a:rPr lang="en-US" dirty="0"/>
              <a:t> </a:t>
            </a:r>
            <a:r>
              <a:rPr lang="en-US" dirty="0" err="1"/>
              <a:t>cố</a:t>
            </a:r>
            <a:r>
              <a:rPr lang="en-US" dirty="0"/>
              <a:t> </a:t>
            </a:r>
            <a:r>
              <a:rPr lang="en-US" dirty="0" err="1"/>
              <a:t>định</a:t>
            </a:r>
            <a:endParaRPr lang="en-US" dirty="0"/>
          </a:p>
          <a:p>
            <a:pPr lvl="1"/>
            <a:r>
              <a:rPr lang="en-US" b="1" dirty="0" err="1"/>
              <a:t>Bối</a:t>
            </a:r>
            <a:r>
              <a:rPr lang="en-US" b="1" dirty="0"/>
              <a:t> </a:t>
            </a:r>
            <a:r>
              <a:rPr lang="en-US" b="1" dirty="0" err="1"/>
              <a:t>cảnh</a:t>
            </a:r>
            <a:r>
              <a:rPr lang="en-US" b="1" dirty="0"/>
              <a:t>: </a:t>
            </a:r>
            <a:r>
              <a:rPr lang="vi-VN" dirty="0">
                <a:latin typeface="Aptos" panose="020B0004020202020204" pitchFamily="34" charset="0"/>
                <a:cs typeface="Aparajita" panose="02020603050405020304" pitchFamily="18" charset="0"/>
              </a:rPr>
              <a:t>Trong cuộc thi (như </a:t>
            </a:r>
            <a:r>
              <a:rPr lang="vi-VN" dirty="0" err="1">
                <a:latin typeface="Aptos" panose="020B0004020202020204" pitchFamily="34" charset="0"/>
                <a:cs typeface="Aparajita" panose="02020603050405020304" pitchFamily="18" charset="0"/>
              </a:rPr>
              <a:t>Kaggle</a:t>
            </a:r>
            <a:r>
              <a:rPr lang="vi-VN" dirty="0">
                <a:latin typeface="Aptos" panose="020B0004020202020204" pitchFamily="34" charset="0"/>
                <a:cs typeface="Aparajita" panose="02020603050405020304" pitchFamily="18" charset="0"/>
              </a:rPr>
              <a:t>), AI bị giới hạn thời gian nghiêm ngặt (ví dụ: 2 giây/lượt).</a:t>
            </a:r>
          </a:p>
          <a:p>
            <a:pPr lvl="1"/>
            <a:r>
              <a:rPr lang="vi-VN" b="1" dirty="0">
                <a:latin typeface="Aptos" panose="020B0004020202020204" pitchFamily="34" charset="0"/>
                <a:cs typeface="Aparajita" panose="02020603050405020304" pitchFamily="18" charset="0"/>
              </a:rPr>
              <a:t>Thách thức: </a:t>
            </a:r>
          </a:p>
          <a:p>
            <a:pPr lvl="2"/>
            <a:r>
              <a:rPr lang="vi-VN" dirty="0">
                <a:latin typeface="Aptos" panose="020B0004020202020204" pitchFamily="34" charset="0"/>
              </a:rPr>
              <a:t>Nếu đặt độ sâu quá thấp: AI chơi yếu, không nhìn xa được các bẫy của đối thủ.</a:t>
            </a:r>
            <a:endParaRPr lang="vi-VN" dirty="0">
              <a:latin typeface="Aptos" panose="020B0004020202020204" pitchFamily="34" charset="0"/>
              <a:cs typeface="Aparajita" panose="02020603050405020304" pitchFamily="18" charset="0"/>
            </a:endParaRPr>
          </a:p>
          <a:p>
            <a:pPr lvl="2"/>
            <a:r>
              <a:rPr lang="vi-VN" dirty="0">
                <a:latin typeface="Aptos" panose="020B0004020202020204" pitchFamily="34" charset="0"/>
              </a:rPr>
              <a:t>Nếu đặt độ sâu quá cao: AI có nguy cơ không tính toán xong trước </a:t>
            </a:r>
            <a:r>
              <a:rPr lang="vi-VN" dirty="0" err="1">
                <a:latin typeface="Aptos" panose="020B0004020202020204" pitchFamily="34" charset="0"/>
              </a:rPr>
              <a:t>deadline</a:t>
            </a:r>
            <a:r>
              <a:rPr lang="vi-VN" dirty="0">
                <a:latin typeface="Aptos" panose="020B0004020202020204" pitchFamily="34" charset="0"/>
              </a:rPr>
              <a:t> và bị xử thua (</a:t>
            </a:r>
            <a:r>
              <a:rPr lang="vi-VN" dirty="0" err="1">
                <a:latin typeface="Aptos" panose="020B0004020202020204" pitchFamily="34" charset="0"/>
              </a:rPr>
              <a:t>Timeout</a:t>
            </a:r>
            <a:r>
              <a:rPr lang="vi-VN" dirty="0">
                <a:latin typeface="Aptos" panose="020B0004020202020204" pitchFamily="34" charset="0"/>
              </a:rPr>
              <a:t>).</a:t>
            </a:r>
          </a:p>
          <a:p>
            <a:pPr lvl="1"/>
            <a:r>
              <a:rPr lang="vi-VN" b="1" dirty="0">
                <a:latin typeface="Aptos" panose="020B0004020202020204" pitchFamily="34" charset="0"/>
              </a:rPr>
              <a:t>Câu hỏi đặt ra:</a:t>
            </a:r>
            <a:r>
              <a:rPr lang="vi-VN" dirty="0">
                <a:latin typeface="Aptos" panose="020B0004020202020204" pitchFamily="34" charset="0"/>
              </a:rPr>
              <a:t> Làm sao để AI tận dụng đến </a:t>
            </a:r>
            <a:r>
              <a:rPr lang="vi-VN" dirty="0" err="1">
                <a:latin typeface="Aptos" panose="020B0004020202020204" pitchFamily="34" charset="0"/>
              </a:rPr>
              <a:t>miligiây</a:t>
            </a:r>
            <a:r>
              <a:rPr lang="vi-VN" dirty="0">
                <a:latin typeface="Aptos" panose="020B0004020202020204" pitchFamily="34" charset="0"/>
              </a:rPr>
              <a:t> cuối cùng để đào sâu nhất có thể mà vẫn luôn có nước đi dự phòng?</a:t>
            </a:r>
          </a:p>
        </p:txBody>
      </p:sp>
    </p:spTree>
    <p:extLst>
      <p:ext uri="{BB962C8B-B14F-4D97-AF65-F5344CB8AC3E}">
        <p14:creationId xmlns:p14="http://schemas.microsoft.com/office/powerpoint/2010/main" val="481247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EFC3F-6EC0-EA06-2485-0F432CA56C6F}"/>
              </a:ext>
            </a:extLst>
          </p:cNvPr>
          <p:cNvSpPr>
            <a:spLocks noGrp="1"/>
          </p:cNvSpPr>
          <p:nvPr>
            <p:ph type="title"/>
          </p:nvPr>
        </p:nvSpPr>
        <p:spPr/>
        <p:txBody>
          <a:bodyPr>
            <a:normAutofit/>
          </a:bodyPr>
          <a:lstStyle/>
          <a:p>
            <a:r>
              <a:rPr lang="vi-VN" sz="3600" dirty="0" err="1">
                <a:latin typeface="Aptos" panose="020B0004020202020204" pitchFamily="34" charset="0"/>
              </a:rPr>
              <a:t>Iterative</a:t>
            </a:r>
            <a:r>
              <a:rPr lang="vi-VN" sz="3600" dirty="0">
                <a:latin typeface="Aptos" panose="020B0004020202020204" pitchFamily="34" charset="0"/>
              </a:rPr>
              <a:t> </a:t>
            </a:r>
            <a:r>
              <a:rPr lang="vi-VN" sz="3600" dirty="0" err="1">
                <a:latin typeface="Aptos" panose="020B0004020202020204" pitchFamily="34" charset="0"/>
              </a:rPr>
              <a:t>Deepening</a:t>
            </a:r>
            <a:r>
              <a:rPr lang="vi-VN" sz="3600" dirty="0">
                <a:latin typeface="Aptos" panose="020B0004020202020204" pitchFamily="34" charset="0"/>
              </a:rPr>
              <a:t> (2)</a:t>
            </a:r>
          </a:p>
        </p:txBody>
      </p:sp>
      <p:sp>
        <p:nvSpPr>
          <p:cNvPr id="3" name="Content Placeholder 2">
            <a:extLst>
              <a:ext uri="{FF2B5EF4-FFF2-40B4-BE49-F238E27FC236}">
                <a16:creationId xmlns:a16="http://schemas.microsoft.com/office/drawing/2014/main" id="{A54AA26C-3D5E-15A1-9588-DBDA89DA74BA}"/>
              </a:ext>
            </a:extLst>
          </p:cNvPr>
          <p:cNvSpPr>
            <a:spLocks noGrp="1"/>
          </p:cNvSpPr>
          <p:nvPr>
            <p:ph idx="1"/>
          </p:nvPr>
        </p:nvSpPr>
        <p:spPr/>
        <p:txBody>
          <a:bodyPr/>
          <a:lstStyle/>
          <a:p>
            <a:pPr marL="0" indent="0">
              <a:buNone/>
            </a:pPr>
            <a:r>
              <a:rPr lang="vi-VN" b="1" dirty="0"/>
              <a:t>Định nghĩa</a:t>
            </a:r>
            <a:r>
              <a:rPr lang="vi-VN" dirty="0"/>
              <a:t>: Thay vì nhảy ngay vào độ sâu 10, thuật toán sẽ thực hiện nhiều lần tìm kiếm đệ quy với độ sâu tăng dần:</a:t>
            </a:r>
          </a:p>
          <a:p>
            <a:pPr lvl="1"/>
            <a:r>
              <a:rPr lang="vi-VN" dirty="0"/>
              <a:t>Lần 1: Tìm với </a:t>
            </a:r>
            <a:r>
              <a:rPr lang="vi-VN" dirty="0" err="1"/>
              <a:t>depth</a:t>
            </a:r>
            <a:r>
              <a:rPr lang="vi-VN" dirty="0"/>
              <a:t> = 1</a:t>
            </a:r>
          </a:p>
          <a:p>
            <a:pPr lvl="1"/>
            <a:r>
              <a:rPr lang="vi-VN" dirty="0"/>
              <a:t>Lần 2: Tìm với </a:t>
            </a:r>
            <a:r>
              <a:rPr lang="vi-VN" dirty="0" err="1"/>
              <a:t>depth</a:t>
            </a:r>
            <a:r>
              <a:rPr lang="vi-VN" dirty="0"/>
              <a:t> = 2</a:t>
            </a:r>
          </a:p>
          <a:p>
            <a:pPr lvl="1"/>
            <a:r>
              <a:rPr lang="vi-VN" dirty="0"/>
              <a:t>… cho tới khi hết thời gian hoặc thắng tuyệt đối</a:t>
            </a:r>
          </a:p>
          <a:p>
            <a:pPr marL="0" indent="0">
              <a:buNone/>
            </a:pPr>
            <a:r>
              <a:rPr lang="vi-VN" dirty="0"/>
              <a:t>Sự kết hợp giữa tính toàn diện của BFS và tính tiết kiệm bộ nhớ của DFS</a:t>
            </a:r>
          </a:p>
        </p:txBody>
      </p:sp>
    </p:spTree>
    <p:extLst>
      <p:ext uri="{BB962C8B-B14F-4D97-AF65-F5344CB8AC3E}">
        <p14:creationId xmlns:p14="http://schemas.microsoft.com/office/powerpoint/2010/main" val="487683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8697-0820-F2D9-B65B-FD8BD99AB713}"/>
              </a:ext>
            </a:extLst>
          </p:cNvPr>
          <p:cNvSpPr>
            <a:spLocks noGrp="1"/>
          </p:cNvSpPr>
          <p:nvPr>
            <p:ph type="title"/>
          </p:nvPr>
        </p:nvSpPr>
        <p:spPr/>
        <p:txBody>
          <a:bodyPr>
            <a:normAutofit/>
          </a:bodyPr>
          <a:lstStyle/>
          <a:p>
            <a:r>
              <a:rPr lang="vi-VN" sz="3600" dirty="0" err="1">
                <a:latin typeface="Aptos" panose="020B0004020202020204" pitchFamily="34" charset="0"/>
              </a:rPr>
              <a:t>Iterative</a:t>
            </a:r>
            <a:r>
              <a:rPr lang="vi-VN" sz="3600" dirty="0">
                <a:latin typeface="Aptos" panose="020B0004020202020204" pitchFamily="34" charset="0"/>
              </a:rPr>
              <a:t> </a:t>
            </a:r>
            <a:r>
              <a:rPr lang="vi-VN" sz="3600" dirty="0" err="1">
                <a:latin typeface="Aptos" panose="020B0004020202020204" pitchFamily="34" charset="0"/>
              </a:rPr>
              <a:t>Deepening</a:t>
            </a:r>
            <a:r>
              <a:rPr lang="vi-VN" sz="3600" dirty="0">
                <a:latin typeface="Aptos" panose="020B0004020202020204" pitchFamily="34" charset="0"/>
              </a:rPr>
              <a:t> (3)</a:t>
            </a:r>
            <a:endParaRPr lang="vi-VN" sz="3600" dirty="0"/>
          </a:p>
        </p:txBody>
      </p:sp>
      <p:sp>
        <p:nvSpPr>
          <p:cNvPr id="3" name="Content Placeholder 2">
            <a:extLst>
              <a:ext uri="{FF2B5EF4-FFF2-40B4-BE49-F238E27FC236}">
                <a16:creationId xmlns:a16="http://schemas.microsoft.com/office/drawing/2014/main" id="{3ABBCA20-B1AC-EA47-2DE6-BB5794F0CF71}"/>
              </a:ext>
            </a:extLst>
          </p:cNvPr>
          <p:cNvSpPr>
            <a:spLocks noGrp="1"/>
          </p:cNvSpPr>
          <p:nvPr>
            <p:ph idx="1"/>
          </p:nvPr>
        </p:nvSpPr>
        <p:spPr/>
        <p:txBody>
          <a:bodyPr/>
          <a:lstStyle/>
          <a:p>
            <a:r>
              <a:rPr lang="vi-VN" b="1" dirty="0"/>
              <a:t>Quy trình:</a:t>
            </a:r>
          </a:p>
          <a:p>
            <a:pPr lvl="1"/>
            <a:r>
              <a:rPr lang="vi-VN" dirty="0"/>
              <a:t>Bước 1: Khởi tạo </a:t>
            </a:r>
            <a:r>
              <a:rPr lang="vi-VN" dirty="0" err="1"/>
              <a:t>depth</a:t>
            </a:r>
            <a:r>
              <a:rPr lang="vi-VN" dirty="0"/>
              <a:t> = 1</a:t>
            </a:r>
          </a:p>
          <a:p>
            <a:pPr lvl="1"/>
            <a:r>
              <a:rPr lang="vi-VN" dirty="0"/>
              <a:t>Bước 2: Chạy hàm </a:t>
            </a:r>
            <a:r>
              <a:rPr lang="vi-VN" dirty="0" err="1">
                <a:latin typeface="Aptos" panose="020B0004020202020204" pitchFamily="34" charset="0"/>
              </a:rPr>
              <a:t>Minimax</a:t>
            </a:r>
            <a:r>
              <a:rPr lang="vi-VN" dirty="0">
                <a:latin typeface="Aptos" panose="020B0004020202020204" pitchFamily="34" charset="0"/>
              </a:rPr>
              <a:t>/</a:t>
            </a:r>
            <a:r>
              <a:rPr lang="vi-VN" dirty="0" err="1">
                <a:latin typeface="Aptos" panose="020B0004020202020204" pitchFamily="34" charset="0"/>
              </a:rPr>
              <a:t>Alpha-Beta</a:t>
            </a:r>
            <a:r>
              <a:rPr lang="vi-VN" dirty="0">
                <a:latin typeface="Aptos" panose="020B0004020202020204" pitchFamily="34" charset="0"/>
              </a:rPr>
              <a:t> với </a:t>
            </a:r>
            <a:r>
              <a:rPr lang="vi-VN" dirty="0" err="1">
                <a:latin typeface="Aptos" panose="020B0004020202020204" pitchFamily="34" charset="0"/>
              </a:rPr>
              <a:t>depth</a:t>
            </a:r>
            <a:r>
              <a:rPr lang="vi-VN" dirty="0">
                <a:latin typeface="Aptos" panose="020B0004020202020204" pitchFamily="34" charset="0"/>
              </a:rPr>
              <a:t> hiện tại.</a:t>
            </a:r>
          </a:p>
          <a:p>
            <a:pPr lvl="1"/>
            <a:r>
              <a:rPr lang="vi-VN" dirty="0">
                <a:latin typeface="Aptos" panose="020B0004020202020204" pitchFamily="34" charset="0"/>
              </a:rPr>
              <a:t>Bước 3: Lưu lại nước đi tốt nhất vừa tìm được (</a:t>
            </a:r>
            <a:r>
              <a:rPr lang="vi-VN" dirty="0" err="1">
                <a:latin typeface="Aptos" panose="020B0004020202020204" pitchFamily="34" charset="0"/>
              </a:rPr>
              <a:t>best_move</a:t>
            </a:r>
            <a:r>
              <a:rPr lang="vi-VN" dirty="0">
                <a:latin typeface="Aptos" panose="020B0004020202020204" pitchFamily="34" charset="0"/>
              </a:rPr>
              <a:t>)</a:t>
            </a:r>
          </a:p>
          <a:p>
            <a:pPr lvl="1"/>
            <a:r>
              <a:rPr lang="vi-VN" dirty="0">
                <a:latin typeface="Aptos" panose="020B0004020202020204" pitchFamily="34" charset="0"/>
              </a:rPr>
              <a:t>Bước 4: Kiểm tra đồng hồ: Nếu còn thời gian, tăng </a:t>
            </a:r>
            <a:r>
              <a:rPr lang="vi-VN" dirty="0" err="1">
                <a:latin typeface="Aptos" panose="020B0004020202020204" pitchFamily="34" charset="0"/>
              </a:rPr>
              <a:t>depth</a:t>
            </a:r>
            <a:r>
              <a:rPr lang="vi-VN" dirty="0">
                <a:latin typeface="Aptos" panose="020B0004020202020204" pitchFamily="34" charset="0"/>
              </a:rPr>
              <a:t> lên 1 và quay lại bước 2</a:t>
            </a:r>
          </a:p>
          <a:p>
            <a:pPr lvl="1"/>
            <a:r>
              <a:rPr lang="vi-VN" dirty="0">
                <a:latin typeface="Aptos" panose="020B0004020202020204" pitchFamily="34" charset="0"/>
              </a:rPr>
              <a:t>Bước 5: Nếu hết thời gian: Trả về </a:t>
            </a:r>
            <a:r>
              <a:rPr lang="vi-VN" dirty="0" err="1">
                <a:latin typeface="Aptos" panose="020B0004020202020204" pitchFamily="34" charset="0"/>
              </a:rPr>
              <a:t>best_move</a:t>
            </a:r>
            <a:r>
              <a:rPr lang="vi-VN" dirty="0">
                <a:latin typeface="Aptos" panose="020B0004020202020204" pitchFamily="34" charset="0"/>
              </a:rPr>
              <a:t> của lần hoàn thành gần nhất.</a:t>
            </a:r>
          </a:p>
          <a:p>
            <a:r>
              <a:rPr lang="vi-VN" b="1" dirty="0">
                <a:latin typeface="Aptos" panose="020B0004020202020204" pitchFamily="34" charset="0"/>
              </a:rPr>
              <a:t>Điểm mấu chốt:</a:t>
            </a:r>
            <a:r>
              <a:rPr lang="vi-VN" dirty="0">
                <a:latin typeface="Aptos" panose="020B0004020202020204" pitchFamily="34" charset="0"/>
              </a:rPr>
              <a:t> Luôn có một "phương án dự phòng" chất lượng tăng dần theo thời gian.</a:t>
            </a:r>
          </a:p>
        </p:txBody>
      </p:sp>
    </p:spTree>
    <p:extLst>
      <p:ext uri="{BB962C8B-B14F-4D97-AF65-F5344CB8AC3E}">
        <p14:creationId xmlns:p14="http://schemas.microsoft.com/office/powerpoint/2010/main" val="1561608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73DE6-AE10-8C20-CF48-51D29F118381}"/>
              </a:ext>
            </a:extLst>
          </p:cNvPr>
          <p:cNvSpPr>
            <a:spLocks noGrp="1"/>
          </p:cNvSpPr>
          <p:nvPr>
            <p:ph type="title"/>
          </p:nvPr>
        </p:nvSpPr>
        <p:spPr/>
        <p:txBody>
          <a:bodyPr>
            <a:normAutofit/>
          </a:bodyPr>
          <a:lstStyle/>
          <a:p>
            <a:r>
              <a:rPr lang="vi-VN" sz="3600" dirty="0" err="1">
                <a:latin typeface="Aptos" panose="020B0004020202020204" pitchFamily="34" charset="0"/>
              </a:rPr>
              <a:t>Iterative</a:t>
            </a:r>
            <a:r>
              <a:rPr lang="vi-VN" sz="3600" dirty="0">
                <a:latin typeface="Aptos" panose="020B0004020202020204" pitchFamily="34" charset="0"/>
              </a:rPr>
              <a:t> </a:t>
            </a:r>
            <a:r>
              <a:rPr lang="vi-VN" sz="3600" dirty="0" err="1">
                <a:latin typeface="Aptos" panose="020B0004020202020204" pitchFamily="34" charset="0"/>
              </a:rPr>
              <a:t>Deepening</a:t>
            </a:r>
            <a:r>
              <a:rPr lang="vi-VN" sz="3600" dirty="0">
                <a:latin typeface="Aptos" panose="020B0004020202020204" pitchFamily="34" charset="0"/>
              </a:rPr>
              <a:t> kết hợp với TT</a:t>
            </a:r>
            <a:endParaRPr lang="vi-VN" sz="3600" dirty="0"/>
          </a:p>
        </p:txBody>
      </p:sp>
      <p:sp>
        <p:nvSpPr>
          <p:cNvPr id="3" name="Content Placeholder 2">
            <a:extLst>
              <a:ext uri="{FF2B5EF4-FFF2-40B4-BE49-F238E27FC236}">
                <a16:creationId xmlns:a16="http://schemas.microsoft.com/office/drawing/2014/main" id="{97D13F6B-6AC5-9BA8-9F7F-CD720CF8F331}"/>
              </a:ext>
            </a:extLst>
          </p:cNvPr>
          <p:cNvSpPr>
            <a:spLocks noGrp="1"/>
          </p:cNvSpPr>
          <p:nvPr>
            <p:ph idx="1"/>
          </p:nvPr>
        </p:nvSpPr>
        <p:spPr/>
        <p:txBody>
          <a:bodyPr/>
          <a:lstStyle/>
          <a:p>
            <a:r>
              <a:rPr lang="vi-VN" b="1" dirty="0">
                <a:latin typeface="Aptos" panose="020B0004020202020204" pitchFamily="34" charset="0"/>
              </a:rPr>
              <a:t>Vai trò của TT:</a:t>
            </a:r>
            <a:r>
              <a:rPr lang="vi-VN" dirty="0">
                <a:latin typeface="Aptos" panose="020B0004020202020204" pitchFamily="34" charset="0"/>
              </a:rPr>
              <a:t> Lưu trữ điểm số của các trạng thái bàn cờ đã duyệt</a:t>
            </a:r>
          </a:p>
          <a:p>
            <a:r>
              <a:rPr lang="vi-VN" b="1" dirty="0">
                <a:latin typeface="Aptos" panose="020B0004020202020204" pitchFamily="34" charset="0"/>
              </a:rPr>
              <a:t>Sự phối hợp:</a:t>
            </a:r>
            <a:r>
              <a:rPr lang="vi-VN" dirty="0">
                <a:latin typeface="Aptos" panose="020B0004020202020204" pitchFamily="34" charset="0"/>
              </a:rPr>
              <a:t> Khi IDS chạy ở </a:t>
            </a:r>
            <a:r>
              <a:rPr lang="vi-VN" dirty="0" err="1">
                <a:latin typeface="Aptos" panose="020B0004020202020204" pitchFamily="34" charset="0"/>
              </a:rPr>
              <a:t>depth</a:t>
            </a:r>
            <a:r>
              <a:rPr lang="vi-VN" dirty="0">
                <a:latin typeface="Aptos" panose="020B0004020202020204" pitchFamily="34" charset="0"/>
              </a:rPr>
              <a:t> = 5, nó sẽ gặp lại các trạng thái của </a:t>
            </a:r>
            <a:r>
              <a:rPr lang="vi-VN" dirty="0" err="1">
                <a:latin typeface="Aptos" panose="020B0004020202020204" pitchFamily="34" charset="0"/>
              </a:rPr>
              <a:t>depth</a:t>
            </a:r>
            <a:r>
              <a:rPr lang="vi-VN" dirty="0">
                <a:latin typeface="Aptos" panose="020B0004020202020204" pitchFamily="34" charset="0"/>
              </a:rPr>
              <a:t> = 4 đã lưu trong TT</a:t>
            </a:r>
          </a:p>
          <a:p>
            <a:pPr lvl="1"/>
            <a:r>
              <a:rPr lang="vi-VN" dirty="0">
                <a:latin typeface="Aptos" panose="020B0004020202020204" pitchFamily="34" charset="0"/>
              </a:rPr>
              <a:t>AI không cần tính lại mà lấy ngay kết quả từ TT, giúp tốc độ tìm kiếm ở các tầng sâu trở nên cực nhanh</a:t>
            </a:r>
          </a:p>
        </p:txBody>
      </p:sp>
    </p:spTree>
    <p:extLst>
      <p:ext uri="{BB962C8B-B14F-4D97-AF65-F5344CB8AC3E}">
        <p14:creationId xmlns:p14="http://schemas.microsoft.com/office/powerpoint/2010/main" val="30153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BE24E-DBF4-4997-D943-5218EB7F310B}"/>
              </a:ext>
            </a:extLst>
          </p:cNvPr>
          <p:cNvSpPr>
            <a:spLocks noGrp="1"/>
          </p:cNvSpPr>
          <p:nvPr>
            <p:ph type="title"/>
          </p:nvPr>
        </p:nvSpPr>
        <p:spPr/>
        <p:txBody>
          <a:bodyPr>
            <a:normAutofit/>
          </a:bodyPr>
          <a:lstStyle/>
          <a:p>
            <a:r>
              <a:rPr lang="vi-VN" sz="3600" dirty="0">
                <a:latin typeface="Aptos" panose="020B0004020202020204" pitchFamily="34" charset="0"/>
              </a:rPr>
              <a:t>Triết lý của PVS - Sự tự tin vào </a:t>
            </a:r>
            <a:r>
              <a:rPr lang="vi-VN" sz="3600" dirty="0" err="1">
                <a:latin typeface="Aptos" panose="020B0004020202020204" pitchFamily="34" charset="0"/>
              </a:rPr>
              <a:t>Move</a:t>
            </a:r>
            <a:r>
              <a:rPr lang="vi-VN" sz="3600" dirty="0">
                <a:latin typeface="Aptos" panose="020B0004020202020204" pitchFamily="34" charset="0"/>
              </a:rPr>
              <a:t> </a:t>
            </a:r>
            <a:r>
              <a:rPr lang="vi-VN" sz="3600" dirty="0" err="1">
                <a:latin typeface="Aptos" panose="020B0004020202020204" pitchFamily="34" charset="0"/>
              </a:rPr>
              <a:t>Ordering</a:t>
            </a:r>
            <a:endParaRPr lang="vi-VN" sz="3600" dirty="0">
              <a:latin typeface="Aptos" panose="020B0004020202020204" pitchFamily="34" charset="0"/>
            </a:endParaRPr>
          </a:p>
        </p:txBody>
      </p:sp>
      <p:sp>
        <p:nvSpPr>
          <p:cNvPr id="3" name="Content Placeholder 2">
            <a:extLst>
              <a:ext uri="{FF2B5EF4-FFF2-40B4-BE49-F238E27FC236}">
                <a16:creationId xmlns:a16="http://schemas.microsoft.com/office/drawing/2014/main" id="{F25E9D4C-A255-C5C4-9341-D7EFABBAD15F}"/>
              </a:ext>
            </a:extLst>
          </p:cNvPr>
          <p:cNvSpPr>
            <a:spLocks noGrp="1"/>
          </p:cNvSpPr>
          <p:nvPr>
            <p:ph idx="1"/>
          </p:nvPr>
        </p:nvSpPr>
        <p:spPr/>
        <p:txBody>
          <a:bodyPr/>
          <a:lstStyle/>
          <a:p>
            <a:r>
              <a:rPr lang="vi-VN" b="1" dirty="0" err="1">
                <a:latin typeface="Aptos" panose="020B0004020202020204" pitchFamily="34" charset="0"/>
              </a:rPr>
              <a:t>Principal</a:t>
            </a:r>
            <a:r>
              <a:rPr lang="vi-VN" b="1" dirty="0">
                <a:latin typeface="Aptos" panose="020B0004020202020204" pitchFamily="34" charset="0"/>
              </a:rPr>
              <a:t> </a:t>
            </a:r>
            <a:r>
              <a:rPr lang="vi-VN" b="1" dirty="0" err="1">
                <a:latin typeface="Aptos" panose="020B0004020202020204" pitchFamily="34" charset="0"/>
              </a:rPr>
              <a:t>Variation</a:t>
            </a:r>
            <a:r>
              <a:rPr lang="vi-VN" b="1" dirty="0">
                <a:latin typeface="Aptos" panose="020B0004020202020204" pitchFamily="34" charset="0"/>
              </a:rPr>
              <a:t> là gì?</a:t>
            </a:r>
            <a:r>
              <a:rPr lang="vi-VN" dirty="0">
                <a:latin typeface="Aptos" panose="020B0004020202020204" pitchFamily="34" charset="0"/>
              </a:rPr>
              <a:t> Thuật toán giả định rằng nước đi đầu tiên được thử (thường là cột trung tâm hoặc nước đi tốt nhất từ độ sâu trước đó) chính là nước đi tối ưu nhất. Nhánh này được gọi là "</a:t>
            </a:r>
            <a:r>
              <a:rPr lang="vi-VN" dirty="0" err="1">
                <a:latin typeface="Aptos" panose="020B0004020202020204" pitchFamily="34" charset="0"/>
              </a:rPr>
              <a:t>Principal</a:t>
            </a:r>
            <a:r>
              <a:rPr lang="vi-VN" dirty="0">
                <a:latin typeface="Aptos" panose="020B0004020202020204" pitchFamily="34" charset="0"/>
              </a:rPr>
              <a:t> </a:t>
            </a:r>
            <a:r>
              <a:rPr lang="vi-VN" dirty="0" err="1">
                <a:latin typeface="Aptos" panose="020B0004020202020204" pitchFamily="34" charset="0"/>
              </a:rPr>
              <a:t>Variation</a:t>
            </a:r>
            <a:r>
              <a:rPr lang="vi-VN" dirty="0">
                <a:latin typeface="Aptos" panose="020B0004020202020204" pitchFamily="34" charset="0"/>
              </a:rPr>
              <a:t>"</a:t>
            </a:r>
          </a:p>
          <a:p>
            <a:r>
              <a:rPr lang="vi-VN" b="1" dirty="0">
                <a:latin typeface="Aptos" panose="020B0004020202020204" pitchFamily="34" charset="0"/>
              </a:rPr>
              <a:t>Sự khác biệt với </a:t>
            </a:r>
            <a:r>
              <a:rPr lang="vi-VN" b="1" dirty="0" err="1">
                <a:latin typeface="Aptos" panose="020B0004020202020204" pitchFamily="34" charset="0"/>
              </a:rPr>
              <a:t>Alpha-Beta</a:t>
            </a:r>
            <a:r>
              <a:rPr lang="vi-VN" b="1" dirty="0">
                <a:latin typeface="Aptos" panose="020B0004020202020204" pitchFamily="34" charset="0"/>
              </a:rPr>
              <a:t> thuần: </a:t>
            </a:r>
            <a:r>
              <a:rPr lang="vi-VN" dirty="0">
                <a:latin typeface="Aptos" panose="020B0004020202020204" pitchFamily="34" charset="0"/>
              </a:rPr>
              <a:t>PVS dành toàn bộ sự tập trung để đánh giá nhánh đầu tiên. Với các nhánh sau, nó chỉ muốn </a:t>
            </a:r>
            <a:r>
              <a:rPr lang="vi-VN" b="1" dirty="0">
                <a:latin typeface="Aptos" panose="020B0004020202020204" pitchFamily="34" charset="0"/>
              </a:rPr>
              <a:t>chứng minh chúng tệ hơn nhánh đầu tiên</a:t>
            </a:r>
            <a:r>
              <a:rPr lang="vi-VN" dirty="0">
                <a:latin typeface="Aptos" panose="020B0004020202020204" pitchFamily="34" charset="0"/>
              </a:rPr>
              <a:t> thay vì tìm xem chúng chính xác được bao nhiêu điểm</a:t>
            </a:r>
            <a:endParaRPr lang="vi-VN" b="1" dirty="0">
              <a:latin typeface="Aptos" panose="020B0004020202020204" pitchFamily="34" charset="0"/>
            </a:endParaRPr>
          </a:p>
        </p:txBody>
      </p:sp>
    </p:spTree>
    <p:extLst>
      <p:ext uri="{BB962C8B-B14F-4D97-AF65-F5344CB8AC3E}">
        <p14:creationId xmlns:p14="http://schemas.microsoft.com/office/powerpoint/2010/main" val="1421422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90D7D-4590-9351-606F-8E3471428736}"/>
              </a:ext>
            </a:extLst>
          </p:cNvPr>
          <p:cNvSpPr>
            <a:spLocks noGrp="1"/>
          </p:cNvSpPr>
          <p:nvPr>
            <p:ph type="title"/>
          </p:nvPr>
        </p:nvSpPr>
        <p:spPr/>
        <p:txBody>
          <a:bodyPr>
            <a:normAutofit/>
          </a:bodyPr>
          <a:lstStyle/>
          <a:p>
            <a:r>
              <a:rPr lang="vi-VN" sz="3600" dirty="0" err="1">
                <a:latin typeface="Aptos" panose="020B0004020202020204" pitchFamily="34" charset="0"/>
              </a:rPr>
              <a:t>Null-Window</a:t>
            </a:r>
            <a:r>
              <a:rPr lang="vi-VN" sz="3600" dirty="0">
                <a:latin typeface="Aptos" panose="020B0004020202020204" pitchFamily="34" charset="0"/>
              </a:rPr>
              <a:t> </a:t>
            </a:r>
            <a:r>
              <a:rPr lang="vi-VN" sz="3600" dirty="0" err="1">
                <a:latin typeface="Aptos" panose="020B0004020202020204" pitchFamily="34" charset="0"/>
              </a:rPr>
              <a:t>Search</a:t>
            </a:r>
            <a:endParaRPr lang="vi-VN" sz="3600" dirty="0">
              <a:latin typeface="Aptos" panose="020B0004020202020204" pitchFamily="34"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5C1E2D7-B1DB-8651-32EE-8A17B123CFCE}"/>
                  </a:ext>
                </a:extLst>
              </p:cNvPr>
              <p:cNvSpPr>
                <a:spLocks noGrp="1"/>
              </p:cNvSpPr>
              <p:nvPr>
                <p:ph idx="1"/>
              </p:nvPr>
            </p:nvSpPr>
            <p:spPr/>
            <p:txBody>
              <a:bodyPr>
                <a:normAutofit/>
              </a:bodyPr>
              <a:lstStyle/>
              <a:p>
                <a:r>
                  <a:rPr lang="vi-VN" b="1" dirty="0"/>
                  <a:t>Khái niệm Cửa sổ rỗng:</a:t>
                </a:r>
                <a:r>
                  <a:rPr lang="vi-VN" dirty="0"/>
                  <a:t> Thay vì tìm kiếm với cửa sổ đầy đủ [</a:t>
                </a:r>
                <a14:m>
                  <m:oMath xmlns:m="http://schemas.openxmlformats.org/officeDocument/2006/math">
                    <m:r>
                      <m:rPr>
                        <m:sty m:val="p"/>
                      </m:rPr>
                      <a:rPr lang="vi-VN" b="0" i="1" smtClean="0">
                        <a:latin typeface="Cambria Math" panose="02040503050406030204" pitchFamily="18" charset="0"/>
                      </a:rPr>
                      <m:t>α</m:t>
                    </m:r>
                  </m:oMath>
                </a14:m>
                <a:r>
                  <a:rPr lang="vi-VN" dirty="0"/>
                  <a:t>, </a:t>
                </a:r>
                <a14:m>
                  <m:oMath xmlns:m="http://schemas.openxmlformats.org/officeDocument/2006/math">
                    <m:r>
                      <m:rPr>
                        <m:sty m:val="p"/>
                      </m:rPr>
                      <a:rPr lang="vi-VN" b="0" i="1" smtClean="0">
                        <a:latin typeface="Cambria Math" panose="02040503050406030204" pitchFamily="18" charset="0"/>
                      </a:rPr>
                      <m:t>β</m:t>
                    </m:r>
                  </m:oMath>
                </a14:m>
                <a:r>
                  <a:rPr lang="vi-VN" dirty="0"/>
                  <a:t>], PVS thu hẹp giới hạn tìm kiếm lại thành một khe hở cực nhỏ: [-</a:t>
                </a:r>
                <a14:m>
                  <m:oMath xmlns:m="http://schemas.openxmlformats.org/officeDocument/2006/math">
                    <m:r>
                      <m:rPr>
                        <m:sty m:val="p"/>
                      </m:rPr>
                      <a:rPr lang="vi-VN" i="1">
                        <a:latin typeface="Cambria Math" panose="02040503050406030204" pitchFamily="18" charset="0"/>
                      </a:rPr>
                      <m:t>α</m:t>
                    </m:r>
                    <m:r>
                      <a:rPr lang="vi-VN" i="1">
                        <a:latin typeface="Cambria Math" panose="02040503050406030204" pitchFamily="18" charset="0"/>
                      </a:rPr>
                      <m:t> </m:t>
                    </m:r>
                  </m:oMath>
                </a14:m>
                <a:r>
                  <a:rPr lang="vi-VN" dirty="0"/>
                  <a:t>- 1, -</a:t>
                </a:r>
                <a14:m>
                  <m:oMath xmlns:m="http://schemas.openxmlformats.org/officeDocument/2006/math">
                    <m:r>
                      <m:rPr>
                        <m:sty m:val="p"/>
                      </m:rPr>
                      <a:rPr lang="vi-VN" i="1">
                        <a:latin typeface="Cambria Math" panose="02040503050406030204" pitchFamily="18" charset="0"/>
                      </a:rPr>
                      <m:t>α</m:t>
                    </m:r>
                  </m:oMath>
                </a14:m>
                <a:r>
                  <a:rPr lang="vi-VN" dirty="0"/>
                  <a:t>]</a:t>
                </a:r>
              </a:p>
              <a:p>
                <a:r>
                  <a:rPr lang="vi-VN" b="1" dirty="0"/>
                  <a:t>Ý nghĩa chiến thuật:</a:t>
                </a:r>
              </a:p>
              <a:p>
                <a:pPr lvl="1"/>
                <a:r>
                  <a:rPr lang="vi-VN" dirty="0"/>
                  <a:t>Cửa sổ này giống như một câu hỏi "Có/Không" (</a:t>
                </a:r>
                <a:r>
                  <a:rPr lang="vi-VN" dirty="0" err="1"/>
                  <a:t>Yes</a:t>
                </a:r>
                <a:r>
                  <a:rPr lang="vi-VN" dirty="0"/>
                  <a:t>/No </a:t>
                </a:r>
                <a:r>
                  <a:rPr lang="vi-VN" dirty="0" err="1"/>
                  <a:t>Question</a:t>
                </a:r>
                <a:r>
                  <a:rPr lang="vi-VN" dirty="0"/>
                  <a:t>).</a:t>
                </a:r>
              </a:p>
              <a:p>
                <a:pPr lvl="1"/>
                <a:r>
                  <a:rPr lang="vi-VN" dirty="0"/>
                  <a:t>Nó chỉ hỏi: </a:t>
                </a:r>
                <a:r>
                  <a:rPr lang="vi-VN" i="1" dirty="0"/>
                  <a:t>"Nước đi này có tốt hơn kỷ lục hiện tại (</a:t>
                </a:r>
                <a14:m>
                  <m:oMath xmlns:m="http://schemas.openxmlformats.org/officeDocument/2006/math">
                    <m:r>
                      <m:rPr>
                        <m:sty m:val="p"/>
                      </m:rPr>
                      <a:rPr lang="vi-VN" i="1">
                        <a:latin typeface="Cambria Math" panose="02040503050406030204" pitchFamily="18" charset="0"/>
                      </a:rPr>
                      <m:t>α</m:t>
                    </m:r>
                  </m:oMath>
                </a14:m>
                <a:r>
                  <a:rPr lang="vi-VN" i="1" dirty="0"/>
                  <a:t>) không?"</a:t>
                </a:r>
                <a:r>
                  <a:rPr lang="vi-VN" dirty="0"/>
                  <a:t> thay vì hỏi </a:t>
                </a:r>
                <a:r>
                  <a:rPr lang="vi-VN" i="1" dirty="0"/>
                  <a:t>"Nước đi này được chính xác bao nhiêu điểm?"</a:t>
                </a:r>
                <a:endParaRPr lang="vi-VN" dirty="0"/>
              </a:p>
              <a:p>
                <a:pPr lvl="1"/>
                <a:r>
                  <a:rPr lang="vi-VN" dirty="0"/>
                  <a:t>Vì khoảng tìm kiếm gần như bằng 0, quá trình cắt tỉa </a:t>
                </a:r>
                <a:r>
                  <a:rPr lang="vi-VN" dirty="0" err="1"/>
                  <a:t>Alpha-Beta</a:t>
                </a:r>
                <a:r>
                  <a:rPr lang="vi-VN" dirty="0"/>
                  <a:t> xảy ra cực kỳ nhanh chóng</a:t>
                </a:r>
              </a:p>
              <a:p>
                <a:pPr lvl="1"/>
                <a:endParaRPr lang="vi-VN" b="1" dirty="0"/>
              </a:p>
            </p:txBody>
          </p:sp>
        </mc:Choice>
        <mc:Fallback>
          <p:sp>
            <p:nvSpPr>
              <p:cNvPr id="3" name="Content Placeholder 2">
                <a:extLst>
                  <a:ext uri="{FF2B5EF4-FFF2-40B4-BE49-F238E27FC236}">
                    <a16:creationId xmlns:a16="http://schemas.microsoft.com/office/drawing/2014/main" id="{E5C1E2D7-B1DB-8651-32EE-8A17B123CFCE}"/>
                  </a:ext>
                </a:extLst>
              </p:cNvPr>
              <p:cNvSpPr>
                <a:spLocks noGrp="1" noRot="1" noChangeAspect="1" noMove="1" noResize="1" noEditPoints="1" noAdjustHandles="1" noChangeArrowheads="1" noChangeShapeType="1" noTextEdit="1"/>
              </p:cNvSpPr>
              <p:nvPr>
                <p:ph idx="1"/>
              </p:nvPr>
            </p:nvSpPr>
            <p:spPr>
              <a:blipFill>
                <a:blip r:embed="rId2"/>
                <a:stretch>
                  <a:fillRect l="-1043" t="-2381" r="-1333"/>
                </a:stretch>
              </a:blipFill>
            </p:spPr>
            <p:txBody>
              <a:bodyPr/>
              <a:lstStyle/>
              <a:p>
                <a:r>
                  <a:rPr lang="vi-VN">
                    <a:noFill/>
                  </a:rPr>
                  <a:t> </a:t>
                </a:r>
              </a:p>
            </p:txBody>
          </p:sp>
        </mc:Fallback>
      </mc:AlternateContent>
    </p:spTree>
    <p:extLst>
      <p:ext uri="{BB962C8B-B14F-4D97-AF65-F5344CB8AC3E}">
        <p14:creationId xmlns:p14="http://schemas.microsoft.com/office/powerpoint/2010/main" val="4125139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5B660-EFBF-A09E-4A52-8C91EF38AF37}"/>
              </a:ext>
            </a:extLst>
          </p:cNvPr>
          <p:cNvSpPr>
            <a:spLocks noGrp="1"/>
          </p:cNvSpPr>
          <p:nvPr>
            <p:ph type="title"/>
          </p:nvPr>
        </p:nvSpPr>
        <p:spPr/>
        <p:txBody>
          <a:bodyPr>
            <a:normAutofit/>
          </a:bodyPr>
          <a:lstStyle/>
          <a:p>
            <a:r>
              <a:rPr lang="vi-VN" sz="3600" dirty="0">
                <a:latin typeface="Aptos" panose="020B0004020202020204" pitchFamily="34" charset="0"/>
              </a:rPr>
              <a:t>Quy trình 3 bước tại mỗi </a:t>
            </a:r>
            <a:r>
              <a:rPr lang="vi-VN" sz="3600" dirty="0" err="1">
                <a:latin typeface="Aptos" panose="020B0004020202020204" pitchFamily="34" charset="0"/>
              </a:rPr>
              <a:t>Node</a:t>
            </a:r>
            <a:endParaRPr lang="vi-VN" sz="3600" dirty="0">
              <a:latin typeface="Aptos" panose="020B0004020202020204" pitchFamily="34"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AC2991D-3D08-BFCB-9B33-60D588ABF54C}"/>
                  </a:ext>
                </a:extLst>
              </p:cNvPr>
              <p:cNvSpPr>
                <a:spLocks noGrp="1"/>
              </p:cNvSpPr>
              <p:nvPr>
                <p:ph idx="1"/>
              </p:nvPr>
            </p:nvSpPr>
            <p:spPr/>
            <p:txBody>
              <a:bodyPr>
                <a:normAutofit fontScale="92500" lnSpcReduction="10000"/>
              </a:bodyPr>
              <a:lstStyle/>
              <a:p>
                <a:r>
                  <a:rPr lang="vi-VN" sz="3000" b="1" dirty="0">
                    <a:latin typeface="Aptos" panose="020B0004020202020204" pitchFamily="34" charset="0"/>
                  </a:rPr>
                  <a:t>Bước 1: Khảo sát </a:t>
                </a:r>
                <a:r>
                  <a:rPr lang="vi-VN" sz="3000" b="1" dirty="0" err="1">
                    <a:latin typeface="Aptos" panose="020B0004020202020204" pitchFamily="34" charset="0"/>
                  </a:rPr>
                  <a:t>First</a:t>
                </a:r>
                <a:r>
                  <a:rPr lang="vi-VN" sz="3000" b="1" dirty="0">
                    <a:latin typeface="Aptos" panose="020B0004020202020204" pitchFamily="34" charset="0"/>
                  </a:rPr>
                  <a:t> </a:t>
                </a:r>
                <a:r>
                  <a:rPr lang="vi-VN" sz="3000" b="1" dirty="0" err="1">
                    <a:latin typeface="Aptos" panose="020B0004020202020204" pitchFamily="34" charset="0"/>
                  </a:rPr>
                  <a:t>Child</a:t>
                </a:r>
                <a:r>
                  <a:rPr lang="vi-VN" sz="3000" b="1" dirty="0">
                    <a:latin typeface="Aptos" panose="020B0004020202020204" pitchFamily="34" charset="0"/>
                  </a:rPr>
                  <a:t> (Nước đi đầu tiên):</a:t>
                </a:r>
                <a:endParaRPr lang="vi-VN" sz="3000" dirty="0">
                  <a:latin typeface="Aptos" panose="020B0004020202020204" pitchFamily="34" charset="0"/>
                </a:endParaRPr>
              </a:p>
              <a:p>
                <a:pPr lvl="1"/>
                <a:r>
                  <a:rPr lang="vi-VN" sz="2600" dirty="0">
                    <a:latin typeface="Aptos" panose="020B0004020202020204" pitchFamily="34" charset="0"/>
                  </a:rPr>
                  <a:t>Biến </a:t>
                </a:r>
                <a:r>
                  <a:rPr lang="vi-VN" sz="2600" dirty="0" err="1">
                    <a:latin typeface="Aptos" panose="020B0004020202020204" pitchFamily="34" charset="0"/>
                  </a:rPr>
                  <a:t>first_child</a:t>
                </a:r>
                <a:r>
                  <a:rPr lang="vi-VN" sz="2600" dirty="0">
                    <a:latin typeface="Aptos" panose="020B0004020202020204" pitchFamily="34" charset="0"/>
                  </a:rPr>
                  <a:t> được gán là </a:t>
                </a:r>
                <a:r>
                  <a:rPr lang="vi-VN" sz="2600" dirty="0" err="1">
                    <a:latin typeface="Aptos" panose="020B0004020202020204" pitchFamily="34" charset="0"/>
                  </a:rPr>
                  <a:t>True</a:t>
                </a:r>
                <a:endParaRPr lang="vi-VN" sz="2600" dirty="0">
                  <a:latin typeface="Aptos" panose="020B0004020202020204" pitchFamily="34" charset="0"/>
                </a:endParaRPr>
              </a:p>
              <a:p>
                <a:pPr lvl="1"/>
                <a:r>
                  <a:rPr lang="vi-VN" sz="2600" dirty="0">
                    <a:latin typeface="Aptos" panose="020B0004020202020204" pitchFamily="34" charset="0"/>
                  </a:rPr>
                  <a:t>AI đánh giá nước đi này bằng cửa sổ đầy đủ (</a:t>
                </a:r>
                <a:r>
                  <a:rPr lang="vi-VN" sz="2600" dirty="0" err="1">
                    <a:latin typeface="Aptos" panose="020B0004020202020204" pitchFamily="34" charset="0"/>
                  </a:rPr>
                  <a:t>Full-window</a:t>
                </a:r>
                <a:r>
                  <a:rPr lang="vi-VN" sz="2600" dirty="0">
                    <a:latin typeface="Aptos" panose="020B0004020202020204" pitchFamily="34" charset="0"/>
                  </a:rPr>
                  <a:t> </a:t>
                </a:r>
                <a:r>
                  <a:rPr lang="vi-VN" sz="2600" dirty="0" err="1">
                    <a:latin typeface="Aptos" panose="020B0004020202020204" pitchFamily="34" charset="0"/>
                  </a:rPr>
                  <a:t>search</a:t>
                </a:r>
                <a:r>
                  <a:rPr lang="vi-VN" sz="2600" dirty="0">
                    <a:latin typeface="Aptos" panose="020B0004020202020204" pitchFamily="34" charset="0"/>
                  </a:rPr>
                  <a:t>) với giới hạn [- </a:t>
                </a:r>
                <a14:m>
                  <m:oMath xmlns:m="http://schemas.openxmlformats.org/officeDocument/2006/math">
                    <m:r>
                      <m:rPr>
                        <m:sty m:val="p"/>
                      </m:rPr>
                      <a:rPr lang="vi-VN" sz="2600" i="1">
                        <a:latin typeface="Cambria Math" panose="02040503050406030204" pitchFamily="18" charset="0"/>
                      </a:rPr>
                      <m:t>β</m:t>
                    </m:r>
                  </m:oMath>
                </a14:m>
                <a:r>
                  <a:rPr lang="vi-VN" sz="2600" dirty="0">
                    <a:latin typeface="Aptos" panose="020B0004020202020204" pitchFamily="34" charset="0"/>
                  </a:rPr>
                  <a:t>, - </a:t>
                </a:r>
                <a14:m>
                  <m:oMath xmlns:m="http://schemas.openxmlformats.org/officeDocument/2006/math">
                    <m:r>
                      <m:rPr>
                        <m:sty m:val="p"/>
                      </m:rPr>
                      <a:rPr lang="vi-VN" sz="2600" i="1">
                        <a:latin typeface="Cambria Math" panose="02040503050406030204" pitchFamily="18" charset="0"/>
                      </a:rPr>
                      <m:t>α</m:t>
                    </m:r>
                  </m:oMath>
                </a14:m>
                <a:r>
                  <a:rPr lang="vi-VN" sz="2600" dirty="0">
                    <a:latin typeface="Aptos" panose="020B0004020202020204" pitchFamily="34" charset="0"/>
                  </a:rPr>
                  <a:t>]</a:t>
                </a:r>
              </a:p>
              <a:p>
                <a:r>
                  <a:rPr lang="vi-VN" sz="3000" b="1" dirty="0">
                    <a:latin typeface="Aptos" panose="020B0004020202020204" pitchFamily="34" charset="0"/>
                  </a:rPr>
                  <a:t>Bước 2: Tìm kiếm </a:t>
                </a:r>
                <a:r>
                  <a:rPr lang="vi-VN" sz="3000" b="1" dirty="0" err="1">
                    <a:latin typeface="Aptos" panose="020B0004020202020204" pitchFamily="34" charset="0"/>
                  </a:rPr>
                  <a:t>Null-window</a:t>
                </a:r>
                <a:r>
                  <a:rPr lang="vi-VN" sz="3000" b="1" dirty="0">
                    <a:latin typeface="Aptos" panose="020B0004020202020204" pitchFamily="34" charset="0"/>
                  </a:rPr>
                  <a:t> (Các nước đi còn lại):</a:t>
                </a:r>
                <a:endParaRPr lang="vi-VN" sz="3000" dirty="0">
                  <a:latin typeface="Aptos" panose="020B0004020202020204" pitchFamily="34" charset="0"/>
                </a:endParaRPr>
              </a:p>
              <a:p>
                <a:pPr lvl="1"/>
                <a:r>
                  <a:rPr lang="vi-VN" sz="2600" dirty="0">
                    <a:latin typeface="Aptos" panose="020B0004020202020204" pitchFamily="34" charset="0"/>
                  </a:rPr>
                  <a:t>Khi </a:t>
                </a:r>
                <a:r>
                  <a:rPr lang="vi-VN" sz="2600" dirty="0" err="1">
                    <a:latin typeface="Aptos" panose="020B0004020202020204" pitchFamily="34" charset="0"/>
                  </a:rPr>
                  <a:t>first_child</a:t>
                </a:r>
                <a:r>
                  <a:rPr lang="vi-VN" sz="2600" dirty="0">
                    <a:latin typeface="Aptos" panose="020B0004020202020204" pitchFamily="34" charset="0"/>
                  </a:rPr>
                  <a:t> = </a:t>
                </a:r>
                <a:r>
                  <a:rPr lang="vi-VN" sz="2600" dirty="0" err="1">
                    <a:latin typeface="Aptos" panose="020B0004020202020204" pitchFamily="34" charset="0"/>
                  </a:rPr>
                  <a:t>False</a:t>
                </a:r>
                <a:r>
                  <a:rPr lang="vi-VN" sz="2600" dirty="0">
                    <a:latin typeface="Aptos" panose="020B0004020202020204" pitchFamily="34" charset="0"/>
                  </a:rPr>
                  <a:t>, các nước đi sau được đánh giá bằng </a:t>
                </a:r>
                <a:r>
                  <a:rPr lang="vi-VN" sz="2600" dirty="0" err="1">
                    <a:latin typeface="Aptos" panose="020B0004020202020204" pitchFamily="34" charset="0"/>
                  </a:rPr>
                  <a:t>Null-window</a:t>
                </a:r>
                <a:r>
                  <a:rPr lang="vi-VN" sz="2600" dirty="0">
                    <a:latin typeface="Aptos" panose="020B0004020202020204" pitchFamily="34" charset="0"/>
                  </a:rPr>
                  <a:t>  [- </a:t>
                </a:r>
                <a14:m>
                  <m:oMath xmlns:m="http://schemas.openxmlformats.org/officeDocument/2006/math">
                    <m:r>
                      <m:rPr>
                        <m:sty m:val="p"/>
                      </m:rPr>
                      <a:rPr lang="vi-VN" sz="2600" i="1">
                        <a:latin typeface="Cambria Math" panose="02040503050406030204" pitchFamily="18" charset="0"/>
                      </a:rPr>
                      <m:t>α</m:t>
                    </m:r>
                    <m:r>
                      <a:rPr lang="vi-VN" sz="2600" i="1">
                        <a:latin typeface="Cambria Math" panose="02040503050406030204" pitchFamily="18" charset="0"/>
                      </a:rPr>
                      <m:t> </m:t>
                    </m:r>
                  </m:oMath>
                </a14:m>
                <a:r>
                  <a:rPr lang="vi-VN" sz="2600" dirty="0">
                    <a:latin typeface="Aptos" panose="020B0004020202020204" pitchFamily="34" charset="0"/>
                  </a:rPr>
                  <a:t>- 1, - </a:t>
                </a:r>
                <a14:m>
                  <m:oMath xmlns:m="http://schemas.openxmlformats.org/officeDocument/2006/math">
                    <m:r>
                      <m:rPr>
                        <m:sty m:val="p"/>
                      </m:rPr>
                      <a:rPr lang="vi-VN" sz="2600" i="1">
                        <a:latin typeface="Cambria Math" panose="02040503050406030204" pitchFamily="18" charset="0"/>
                      </a:rPr>
                      <m:t>α</m:t>
                    </m:r>
                  </m:oMath>
                </a14:m>
                <a:r>
                  <a:rPr lang="vi-VN" sz="2600" dirty="0">
                    <a:latin typeface="Aptos" panose="020B0004020202020204" pitchFamily="34" charset="0"/>
                  </a:rPr>
                  <a:t>] để mong đợi chúng thất bại (bị cắt tỉa) càng nhanh càng tốt</a:t>
                </a:r>
              </a:p>
              <a:p>
                <a:r>
                  <a:rPr lang="vi-VN" sz="3000" b="1" dirty="0">
                    <a:latin typeface="Aptos" panose="020B0004020202020204" pitchFamily="34" charset="0"/>
                  </a:rPr>
                  <a:t>Bước 3: Tái khảo sát (Re-</a:t>
                </a:r>
                <a:r>
                  <a:rPr lang="vi-VN" sz="3000" b="1" dirty="0" err="1">
                    <a:latin typeface="Aptos" panose="020B0004020202020204" pitchFamily="34" charset="0"/>
                  </a:rPr>
                  <a:t>search</a:t>
                </a:r>
                <a:r>
                  <a:rPr lang="vi-VN" sz="3000" b="1" dirty="0">
                    <a:latin typeface="Aptos" panose="020B0004020202020204" pitchFamily="34" charset="0"/>
                  </a:rPr>
                  <a:t>):</a:t>
                </a:r>
                <a:endParaRPr lang="vi-VN" sz="3000" dirty="0">
                  <a:latin typeface="Aptos" panose="020B0004020202020204" pitchFamily="34" charset="0"/>
                </a:endParaRPr>
              </a:p>
              <a:p>
                <a:pPr lvl="1"/>
                <a:r>
                  <a:rPr lang="vi-VN" dirty="0">
                    <a:latin typeface="Aptos" panose="020B0004020202020204" pitchFamily="34" charset="0"/>
                  </a:rPr>
                  <a:t>Nếu </a:t>
                </a:r>
                <a:r>
                  <a:rPr lang="vi-VN" dirty="0" err="1">
                    <a:latin typeface="Aptos" panose="020B0004020202020204" pitchFamily="34" charset="0"/>
                  </a:rPr>
                  <a:t>Null-window</a:t>
                </a:r>
                <a:r>
                  <a:rPr lang="vi-VN" dirty="0">
                    <a:latin typeface="Aptos" panose="020B0004020202020204" pitchFamily="34" charset="0"/>
                  </a:rPr>
                  <a:t> phát hiện ra một nút thực sự tốt hơn </a:t>
                </a:r>
                <a14:m>
                  <m:oMath xmlns:m="http://schemas.openxmlformats.org/officeDocument/2006/math">
                    <m:r>
                      <m:rPr>
                        <m:sty m:val="p"/>
                      </m:rPr>
                      <a:rPr lang="vi-VN" i="1">
                        <a:latin typeface="Cambria Math" panose="02040503050406030204" pitchFamily="18" charset="0"/>
                      </a:rPr>
                      <m:t>α</m:t>
                    </m:r>
                    <m:r>
                      <a:rPr lang="vi-VN" b="0" i="1" smtClean="0">
                        <a:latin typeface="Cambria Math" panose="02040503050406030204" pitchFamily="18" charset="0"/>
                      </a:rPr>
                      <m:t> </m:t>
                    </m:r>
                  </m:oMath>
                </a14:m>
                <a:r>
                  <a:rPr lang="vi-VN" dirty="0">
                    <a:latin typeface="Aptos" panose="020B0004020202020204" pitchFamily="34" charset="0"/>
                  </a:rPr>
                  <a:t>(nghĩa là </a:t>
                </a:r>
                <a14:m>
                  <m:oMath xmlns:m="http://schemas.openxmlformats.org/officeDocument/2006/math">
                    <m:r>
                      <m:rPr>
                        <m:sty m:val="p"/>
                      </m:rPr>
                      <a:rPr lang="vi-VN" i="1">
                        <a:latin typeface="Cambria Math" panose="02040503050406030204" pitchFamily="18" charset="0"/>
                      </a:rPr>
                      <m:t>α</m:t>
                    </m:r>
                    <m:r>
                      <a:rPr lang="vi-VN" i="1">
                        <a:latin typeface="Cambria Math" panose="02040503050406030204" pitchFamily="18" charset="0"/>
                      </a:rPr>
                      <m:t>  </m:t>
                    </m:r>
                  </m:oMath>
                </a14:m>
                <a:r>
                  <a:rPr lang="vi-VN" dirty="0">
                    <a:latin typeface="Aptos" panose="020B0004020202020204" pitchFamily="34" charset="0"/>
                  </a:rPr>
                  <a:t>&lt; </a:t>
                </a:r>
                <a:r>
                  <a:rPr lang="vi-VN" dirty="0" err="1">
                    <a:latin typeface="Aptos" panose="020B0004020202020204" pitchFamily="34" charset="0"/>
                  </a:rPr>
                  <a:t>res</a:t>
                </a:r>
                <a:r>
                  <a:rPr lang="vi-VN" dirty="0">
                    <a:latin typeface="Aptos" panose="020B0004020202020204" pitchFamily="34" charset="0"/>
                  </a:rPr>
                  <a:t> &lt; </a:t>
                </a:r>
                <a14:m>
                  <m:oMath xmlns:m="http://schemas.openxmlformats.org/officeDocument/2006/math">
                    <m:r>
                      <m:rPr>
                        <m:sty m:val="p"/>
                      </m:rPr>
                      <a:rPr lang="vi-VN" i="1">
                        <a:latin typeface="Cambria Math" panose="02040503050406030204" pitchFamily="18" charset="0"/>
                      </a:rPr>
                      <m:t>β</m:t>
                    </m:r>
                  </m:oMath>
                </a14:m>
                <a:r>
                  <a:rPr lang="vi-VN" dirty="0">
                    <a:latin typeface="Aptos" panose="020B0004020202020204" pitchFamily="34" charset="0"/>
                  </a:rPr>
                  <a:t>), điều đó chứng tỏ "niềm tin" ban đầu đã sai</a:t>
                </a:r>
              </a:p>
              <a:p>
                <a:pPr lvl="1"/>
                <a:r>
                  <a:rPr lang="vi-VN" dirty="0">
                    <a:latin typeface="Aptos" panose="020B0004020202020204" pitchFamily="34" charset="0"/>
                  </a:rPr>
                  <a:t>Thuật toán buộc phải "sửa sai" bằng cách duyệt lại nhánh đó với cửa sổ đầy đủ [- </a:t>
                </a:r>
                <a14:m>
                  <m:oMath xmlns:m="http://schemas.openxmlformats.org/officeDocument/2006/math">
                    <m:r>
                      <m:rPr>
                        <m:sty m:val="p"/>
                      </m:rPr>
                      <a:rPr lang="vi-VN" i="1">
                        <a:latin typeface="Cambria Math" panose="02040503050406030204" pitchFamily="18" charset="0"/>
                      </a:rPr>
                      <m:t>β</m:t>
                    </m:r>
                  </m:oMath>
                </a14:m>
                <a:r>
                  <a:rPr lang="vi-VN" dirty="0">
                    <a:latin typeface="Aptos" panose="020B0004020202020204" pitchFamily="34" charset="0"/>
                  </a:rPr>
                  <a:t>, -</a:t>
                </a:r>
                <a:r>
                  <a:rPr lang="vi-VN" dirty="0" err="1">
                    <a:latin typeface="Aptos" panose="020B0004020202020204" pitchFamily="34" charset="0"/>
                  </a:rPr>
                  <a:t>res</a:t>
                </a:r>
                <a:r>
                  <a:rPr lang="vi-VN" dirty="0">
                    <a:latin typeface="Aptos" panose="020B0004020202020204" pitchFamily="34" charset="0"/>
                  </a:rPr>
                  <a:t>] để tìm giá trị chính xác</a:t>
                </a:r>
              </a:p>
              <a:p>
                <a:endParaRPr lang="vi-VN" dirty="0"/>
              </a:p>
            </p:txBody>
          </p:sp>
        </mc:Choice>
        <mc:Fallback>
          <p:sp>
            <p:nvSpPr>
              <p:cNvPr id="3" name="Content Placeholder 2">
                <a:extLst>
                  <a:ext uri="{FF2B5EF4-FFF2-40B4-BE49-F238E27FC236}">
                    <a16:creationId xmlns:a16="http://schemas.microsoft.com/office/drawing/2014/main" id="{EAC2991D-3D08-BFCB-9B33-60D588ABF54C}"/>
                  </a:ext>
                </a:extLst>
              </p:cNvPr>
              <p:cNvSpPr>
                <a:spLocks noGrp="1" noRot="1" noChangeAspect="1" noMove="1" noResize="1" noEditPoints="1" noAdjustHandles="1" noChangeArrowheads="1" noChangeShapeType="1" noTextEdit="1"/>
              </p:cNvSpPr>
              <p:nvPr>
                <p:ph idx="1"/>
              </p:nvPr>
            </p:nvSpPr>
            <p:spPr>
              <a:blipFill>
                <a:blip r:embed="rId2"/>
                <a:stretch>
                  <a:fillRect l="-1043" t="-3081" r="-348" b="-280"/>
                </a:stretch>
              </a:blipFill>
            </p:spPr>
            <p:txBody>
              <a:bodyPr/>
              <a:lstStyle/>
              <a:p>
                <a:r>
                  <a:rPr lang="vi-VN">
                    <a:noFill/>
                  </a:rPr>
                  <a:t> </a:t>
                </a:r>
              </a:p>
            </p:txBody>
          </p:sp>
        </mc:Fallback>
      </mc:AlternateContent>
    </p:spTree>
    <p:extLst>
      <p:ext uri="{BB962C8B-B14F-4D97-AF65-F5344CB8AC3E}">
        <p14:creationId xmlns:p14="http://schemas.microsoft.com/office/powerpoint/2010/main" val="427352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E1283-2D4C-8D6A-980B-67932D6E83B3}"/>
              </a:ext>
            </a:extLst>
          </p:cNvPr>
          <p:cNvSpPr>
            <a:spLocks noGrp="1"/>
          </p:cNvSpPr>
          <p:nvPr>
            <p:ph type="title"/>
          </p:nvPr>
        </p:nvSpPr>
        <p:spPr/>
        <p:txBody>
          <a:bodyPr>
            <a:normAutofit/>
          </a:bodyPr>
          <a:lstStyle/>
          <a:p>
            <a:r>
              <a:rPr lang="vi-VN" sz="3600" dirty="0">
                <a:latin typeface="Aptos" panose="020B0004020202020204" pitchFamily="34" charset="0"/>
              </a:rPr>
              <a:t>Kỹ thuật </a:t>
            </a:r>
            <a:r>
              <a:rPr lang="vi-VN" sz="3600" dirty="0" err="1">
                <a:latin typeface="Aptos" panose="020B0004020202020204" pitchFamily="34" charset="0"/>
              </a:rPr>
              <a:t>Move</a:t>
            </a:r>
            <a:r>
              <a:rPr lang="vi-VN" sz="3600" dirty="0">
                <a:latin typeface="Aptos" panose="020B0004020202020204" pitchFamily="34" charset="0"/>
              </a:rPr>
              <a:t> </a:t>
            </a:r>
            <a:r>
              <a:rPr lang="vi-VN" sz="3600" dirty="0" err="1">
                <a:latin typeface="Aptos" panose="020B0004020202020204" pitchFamily="34" charset="0"/>
              </a:rPr>
              <a:t>Ordering</a:t>
            </a:r>
            <a:endParaRPr lang="vi-VN" sz="3600" dirty="0">
              <a:latin typeface="Aptos" panose="020B00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33B30B-912A-B082-2FDE-FFADD953EC37}"/>
                  </a:ext>
                </a:extLst>
              </p:cNvPr>
              <p:cNvSpPr>
                <a:spLocks noGrp="1"/>
              </p:cNvSpPr>
              <p:nvPr>
                <p:ph idx="1"/>
              </p:nvPr>
            </p:nvSpPr>
            <p:spPr/>
            <p:txBody>
              <a:bodyPr/>
              <a:lstStyle/>
              <a:p>
                <a:pPr marL="0" indent="0">
                  <a:buNone/>
                </a:pPr>
                <a:r>
                  <a:rPr lang="vi-VN" b="1" dirty="0">
                    <a:latin typeface="Aptos" panose="020B0004020202020204" pitchFamily="34" charset="0"/>
                  </a:rPr>
                  <a:t>Tại sao cần sắp xếp? </a:t>
                </a:r>
                <a:r>
                  <a:rPr lang="vi-VN" dirty="0">
                    <a:latin typeface="Aptos" panose="020B0004020202020204" pitchFamily="34" charset="0"/>
                  </a:rPr>
                  <a:t>Nếu ta kiểm tra nước đi tốt trước, </a:t>
                </a:r>
                <a:r>
                  <a:rPr lang="vi-VN" dirty="0" err="1">
                    <a:latin typeface="Aptos" panose="020B0004020202020204" pitchFamily="34" charset="0"/>
                  </a:rPr>
                  <a:t>Alpha-Beta</a:t>
                </a:r>
                <a:r>
                  <a:rPr lang="vi-VN" dirty="0">
                    <a:latin typeface="Aptos" panose="020B0004020202020204" pitchFamily="34" charset="0"/>
                  </a:rPr>
                  <a:t> sẽ cắt tỉa được nhiều nhánh hơn</a:t>
                </a:r>
              </a:p>
              <a:p>
                <a:pPr marL="0" indent="0">
                  <a:buNone/>
                </a:pPr>
                <a:r>
                  <a:rPr lang="vi-VN" b="1" dirty="0">
                    <a:latin typeface="Aptos" panose="020B0004020202020204" pitchFamily="34" charset="0"/>
                  </a:rPr>
                  <a:t>Thực hiện:</a:t>
                </a:r>
                <a:r>
                  <a:rPr lang="vi-VN" dirty="0">
                    <a:latin typeface="Aptos" panose="020B0004020202020204" pitchFamily="34" charset="0"/>
                  </a:rPr>
                  <a:t> Ưu tiên duyệt các cột ở giữa bàn cờ trước ([ 3, 2, 4, 1, 5, 0, 6])</a:t>
                </a:r>
              </a:p>
              <a:p>
                <a:pPr marL="0" indent="0">
                  <a:buNone/>
                </a:pPr>
                <a:r>
                  <a:rPr lang="vi-VN" b="1" dirty="0">
                    <a:latin typeface="Aptos" panose="020B0004020202020204" pitchFamily="34" charset="0"/>
                  </a:rPr>
                  <a:t>Kết quả: </a:t>
                </a:r>
                <a:r>
                  <a:rPr lang="vi-VN" dirty="0">
                    <a:latin typeface="Aptos" panose="020B0004020202020204" pitchFamily="34" charset="0"/>
                  </a:rPr>
                  <a:t>Giảm số lượng nút cần duyệt trên cây quyết định từ O(</a:t>
                </a:r>
                <a14:m>
                  <m:oMath xmlns:m="http://schemas.openxmlformats.org/officeDocument/2006/math">
                    <m:sSup>
                      <m:sSupPr>
                        <m:ctrlPr>
                          <a:rPr lang="vi-VN" b="0" i="1" smtClean="0">
                            <a:latin typeface="Cambria Math" panose="02040503050406030204" pitchFamily="18" charset="0"/>
                          </a:rPr>
                        </m:ctrlPr>
                      </m:sSupPr>
                      <m:e>
                        <m:r>
                          <a:rPr lang="vi-VN" b="0" i="1" smtClean="0">
                            <a:latin typeface="Cambria Math" panose="02040503050406030204" pitchFamily="18" charset="0"/>
                          </a:rPr>
                          <m:t>𝑏</m:t>
                        </m:r>
                      </m:e>
                      <m:sup>
                        <m:r>
                          <a:rPr lang="vi-VN" b="0" i="1" smtClean="0">
                            <a:latin typeface="Cambria Math" panose="02040503050406030204" pitchFamily="18" charset="0"/>
                          </a:rPr>
                          <m:t>𝑑</m:t>
                        </m:r>
                        <m:r>
                          <a:rPr lang="vi-VN" b="0" i="1" smtClean="0">
                            <a:latin typeface="Cambria Math" panose="02040503050406030204" pitchFamily="18" charset="0"/>
                          </a:rPr>
                          <m:t>/2</m:t>
                        </m:r>
                      </m:sup>
                    </m:sSup>
                  </m:oMath>
                </a14:m>
                <a:r>
                  <a:rPr lang="vi-VN" dirty="0">
                    <a:latin typeface="Aptos" panose="020B0004020202020204" pitchFamily="34" charset="0"/>
                  </a:rPr>
                  <a:t>)</a:t>
                </a:r>
              </a:p>
              <a:p>
                <a:endParaRPr lang="vi-VN" dirty="0"/>
              </a:p>
            </p:txBody>
          </p:sp>
        </mc:Choice>
        <mc:Fallback xmlns="">
          <p:sp>
            <p:nvSpPr>
              <p:cNvPr id="3" name="Content Placeholder 2">
                <a:extLst>
                  <a:ext uri="{FF2B5EF4-FFF2-40B4-BE49-F238E27FC236}">
                    <a16:creationId xmlns:a16="http://schemas.microsoft.com/office/drawing/2014/main" id="{F233B30B-912A-B082-2FDE-FFADD953EC37}"/>
                  </a:ext>
                </a:extLst>
              </p:cNvPr>
              <p:cNvSpPr>
                <a:spLocks noGrp="1" noRot="1" noChangeAspect="1" noMove="1" noResize="1" noEditPoints="1" noAdjustHandles="1" noChangeArrowheads="1" noChangeShapeType="1" noTextEdit="1"/>
              </p:cNvSpPr>
              <p:nvPr>
                <p:ph idx="1"/>
              </p:nvPr>
            </p:nvSpPr>
            <p:spPr>
              <a:blipFill>
                <a:blip r:embed="rId2"/>
                <a:stretch>
                  <a:fillRect l="-1217" t="-2381" r="-290"/>
                </a:stretch>
              </a:blipFill>
            </p:spPr>
            <p:txBody>
              <a:bodyPr/>
              <a:lstStyle/>
              <a:p>
                <a:r>
                  <a:rPr lang="vi-VN">
                    <a:noFill/>
                  </a:rPr>
                  <a:t> </a:t>
                </a:r>
              </a:p>
            </p:txBody>
          </p:sp>
        </mc:Fallback>
      </mc:AlternateContent>
    </p:spTree>
    <p:extLst>
      <p:ext uri="{BB962C8B-B14F-4D97-AF65-F5344CB8AC3E}">
        <p14:creationId xmlns:p14="http://schemas.microsoft.com/office/powerpoint/2010/main" val="3991581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FC1CC-A9BE-455D-FAE9-6E9619F7CA4C}"/>
              </a:ext>
            </a:extLst>
          </p:cNvPr>
          <p:cNvSpPr>
            <a:spLocks noGrp="1"/>
          </p:cNvSpPr>
          <p:nvPr>
            <p:ph type="title"/>
          </p:nvPr>
        </p:nvSpPr>
        <p:spPr/>
        <p:txBody>
          <a:bodyPr>
            <a:normAutofit/>
          </a:bodyPr>
          <a:lstStyle/>
          <a:p>
            <a:r>
              <a:rPr lang="en-US" sz="3600" dirty="0" err="1"/>
              <a:t>Tầm</a:t>
            </a:r>
            <a:r>
              <a:rPr lang="en-US" sz="3600" dirty="0"/>
              <a:t> </a:t>
            </a:r>
            <a:r>
              <a:rPr lang="en-US" sz="3600" dirty="0" err="1"/>
              <a:t>quan</a:t>
            </a:r>
            <a:r>
              <a:rPr lang="en-US" sz="3600" dirty="0"/>
              <a:t> </a:t>
            </a:r>
            <a:r>
              <a:rPr lang="en-US" sz="3600" dirty="0" err="1"/>
              <a:t>trọng</a:t>
            </a:r>
            <a:r>
              <a:rPr lang="en-US" sz="3600" dirty="0"/>
              <a:t> </a:t>
            </a:r>
            <a:r>
              <a:rPr lang="en-US" sz="3600" dirty="0" err="1"/>
              <a:t>của</a:t>
            </a:r>
            <a:r>
              <a:rPr lang="en-US" sz="3600" dirty="0"/>
              <a:t> _</a:t>
            </a:r>
            <a:r>
              <a:rPr lang="en-US" sz="3600" dirty="0" err="1"/>
              <a:t>ordered_moves</a:t>
            </a:r>
            <a:endParaRPr lang="vi-VN" sz="3600" dirty="0"/>
          </a:p>
        </p:txBody>
      </p:sp>
      <p:sp>
        <p:nvSpPr>
          <p:cNvPr id="3" name="Content Placeholder 2">
            <a:extLst>
              <a:ext uri="{FF2B5EF4-FFF2-40B4-BE49-F238E27FC236}">
                <a16:creationId xmlns:a16="http://schemas.microsoft.com/office/drawing/2014/main" id="{8A20C8ED-B172-B190-4A36-9807A6CBF970}"/>
              </a:ext>
            </a:extLst>
          </p:cNvPr>
          <p:cNvSpPr>
            <a:spLocks noGrp="1"/>
          </p:cNvSpPr>
          <p:nvPr>
            <p:ph idx="1"/>
          </p:nvPr>
        </p:nvSpPr>
        <p:spPr/>
        <p:txBody>
          <a:bodyPr/>
          <a:lstStyle/>
          <a:p>
            <a:r>
              <a:rPr lang="vi-VN" b="1" dirty="0">
                <a:latin typeface="Aptos" panose="020B0004020202020204" pitchFamily="34" charset="0"/>
              </a:rPr>
              <a:t>Vấn đề cốt lõi:</a:t>
            </a:r>
            <a:r>
              <a:rPr lang="vi-VN" dirty="0">
                <a:latin typeface="Aptos" panose="020B0004020202020204" pitchFamily="34" charset="0"/>
              </a:rPr>
              <a:t> PVS chỉ thực sự mạnh khi hàm sắp xếp nước đi hoạt động chuẩn xác</a:t>
            </a:r>
            <a:endParaRPr lang="en-US" dirty="0">
              <a:latin typeface="Aptos" panose="020B0004020202020204" pitchFamily="34" charset="0"/>
            </a:endParaRPr>
          </a:p>
          <a:p>
            <a:r>
              <a:rPr lang="vi-VN" b="1" dirty="0">
                <a:latin typeface="Aptos" panose="020B0004020202020204" pitchFamily="34" charset="0"/>
              </a:rPr>
              <a:t>Thứ tự trong </a:t>
            </a:r>
            <a:r>
              <a:rPr lang="vi-VN" b="1" dirty="0" err="1">
                <a:latin typeface="Aptos" panose="020B0004020202020204" pitchFamily="34" charset="0"/>
              </a:rPr>
              <a:t>ConnectX</a:t>
            </a:r>
            <a:r>
              <a:rPr lang="vi-VN" b="1" dirty="0">
                <a:latin typeface="Aptos" panose="020B0004020202020204" pitchFamily="34" charset="0"/>
              </a:rPr>
              <a:t>:</a:t>
            </a:r>
            <a:endParaRPr lang="vi-VN" dirty="0">
              <a:latin typeface="Aptos" panose="020B0004020202020204" pitchFamily="34" charset="0"/>
            </a:endParaRPr>
          </a:p>
          <a:p>
            <a:pPr lvl="1"/>
            <a:r>
              <a:rPr lang="vi-VN" dirty="0">
                <a:latin typeface="Aptos" panose="020B0004020202020204" pitchFamily="34" charset="0"/>
              </a:rPr>
              <a:t>Hàm _</a:t>
            </a:r>
            <a:r>
              <a:rPr lang="vi-VN" dirty="0" err="1">
                <a:latin typeface="Aptos" panose="020B0004020202020204" pitchFamily="34" charset="0"/>
              </a:rPr>
              <a:t>ordered_moves</a:t>
            </a:r>
            <a:r>
              <a:rPr lang="vi-VN" dirty="0">
                <a:latin typeface="Aptos" panose="020B0004020202020204" pitchFamily="34" charset="0"/>
              </a:rPr>
              <a:t>() trả về thứ tự các cột: [3, 2, 4, 1, 5, 0, 6]</a:t>
            </a:r>
          </a:p>
          <a:p>
            <a:pPr lvl="1"/>
            <a:r>
              <a:rPr lang="vi-VN" dirty="0">
                <a:latin typeface="Aptos" panose="020B0004020202020204" pitchFamily="34" charset="0"/>
              </a:rPr>
              <a:t>Ưu tiên cột trung tâm giúp nhánh </a:t>
            </a:r>
            <a:r>
              <a:rPr lang="vi-VN" dirty="0" err="1">
                <a:latin typeface="Aptos" panose="020B0004020202020204" pitchFamily="34" charset="0"/>
              </a:rPr>
              <a:t>Principal</a:t>
            </a:r>
            <a:r>
              <a:rPr lang="vi-VN" dirty="0">
                <a:latin typeface="Aptos" panose="020B0004020202020204" pitchFamily="34" charset="0"/>
              </a:rPr>
              <a:t> </a:t>
            </a:r>
            <a:r>
              <a:rPr lang="vi-VN" dirty="0" err="1">
                <a:latin typeface="Aptos" panose="020B0004020202020204" pitchFamily="34" charset="0"/>
              </a:rPr>
              <a:t>Variation</a:t>
            </a:r>
            <a:r>
              <a:rPr lang="vi-VN" dirty="0">
                <a:latin typeface="Aptos" panose="020B0004020202020204" pitchFamily="34" charset="0"/>
              </a:rPr>
              <a:t> có xác suất cao chính là nhánh chứa nước đi tốt nhất thực sự.</a:t>
            </a:r>
          </a:p>
          <a:p>
            <a:endParaRPr lang="vi-VN" dirty="0"/>
          </a:p>
        </p:txBody>
      </p:sp>
    </p:spTree>
    <p:extLst>
      <p:ext uri="{BB962C8B-B14F-4D97-AF65-F5344CB8AC3E}">
        <p14:creationId xmlns:p14="http://schemas.microsoft.com/office/powerpoint/2010/main" val="1995774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02F01-A0C8-E9A9-F2B1-261900FF8405}"/>
              </a:ext>
            </a:extLst>
          </p:cNvPr>
          <p:cNvSpPr>
            <a:spLocks noGrp="1"/>
          </p:cNvSpPr>
          <p:nvPr>
            <p:ph type="title"/>
          </p:nvPr>
        </p:nvSpPr>
        <p:spPr/>
        <p:txBody>
          <a:bodyPr>
            <a:normAutofit/>
          </a:bodyPr>
          <a:lstStyle/>
          <a:p>
            <a:r>
              <a:rPr lang="en-US" sz="3600" dirty="0"/>
              <a:t>PVS </a:t>
            </a:r>
            <a:r>
              <a:rPr lang="en-US" sz="3600" dirty="0" err="1"/>
              <a:t>kết</a:t>
            </a:r>
            <a:r>
              <a:rPr lang="en-US" sz="3600" dirty="0"/>
              <a:t> </a:t>
            </a:r>
            <a:r>
              <a:rPr lang="en-US" sz="3600" dirty="0" err="1"/>
              <a:t>hợp</a:t>
            </a:r>
            <a:r>
              <a:rPr lang="en-US" sz="3600" dirty="0"/>
              <a:t> Iterative Deepening</a:t>
            </a:r>
            <a:endParaRPr lang="vi-VN" sz="3600" dirty="0"/>
          </a:p>
        </p:txBody>
      </p:sp>
      <p:sp>
        <p:nvSpPr>
          <p:cNvPr id="3" name="Content Placeholder 2">
            <a:extLst>
              <a:ext uri="{FF2B5EF4-FFF2-40B4-BE49-F238E27FC236}">
                <a16:creationId xmlns:a16="http://schemas.microsoft.com/office/drawing/2014/main" id="{051C71B4-8D9A-CDC0-3490-911C96898750}"/>
              </a:ext>
            </a:extLst>
          </p:cNvPr>
          <p:cNvSpPr>
            <a:spLocks noGrp="1"/>
          </p:cNvSpPr>
          <p:nvPr>
            <p:ph idx="1"/>
          </p:nvPr>
        </p:nvSpPr>
        <p:spPr/>
        <p:txBody>
          <a:bodyPr/>
          <a:lstStyle/>
          <a:p>
            <a:pPr marL="0" indent="0">
              <a:buNone/>
            </a:pPr>
            <a:r>
              <a:rPr lang="vi-VN" b="1" dirty="0">
                <a:latin typeface="Aptos" panose="020B0004020202020204" pitchFamily="34" charset="0"/>
              </a:rPr>
              <a:t>Bước 1: </a:t>
            </a:r>
            <a:r>
              <a:rPr lang="vi-VN" dirty="0">
                <a:latin typeface="Aptos" panose="020B0004020202020204" pitchFamily="34" charset="0"/>
              </a:rPr>
              <a:t>Ngay từ đầu, trước khi bắt đầu tìm kiếm, AI đã lấy danh sách các nước đi hợp lệ theo thứ tự từ giữa ra biên: [3, 2, 4, 1, 5, 0, 6]</a:t>
            </a:r>
          </a:p>
          <a:p>
            <a:pPr marL="0" indent="0">
              <a:buNone/>
            </a:pPr>
            <a:r>
              <a:rPr lang="vi-VN" b="1" dirty="0">
                <a:latin typeface="Aptos" panose="020B0004020202020204" pitchFamily="34" charset="0"/>
              </a:rPr>
              <a:t>Bước 2: </a:t>
            </a:r>
            <a:r>
              <a:rPr lang="vi-VN" dirty="0">
                <a:latin typeface="Aptos" panose="020B0004020202020204" pitchFamily="34" charset="0"/>
              </a:rPr>
              <a:t>Thuật toán đi vào vòng lặp </a:t>
            </a:r>
            <a:r>
              <a:rPr lang="vi-VN" dirty="0" err="1">
                <a:latin typeface="Aptos" panose="020B0004020202020204" pitchFamily="34" charset="0"/>
              </a:rPr>
              <a:t>for</a:t>
            </a:r>
            <a:r>
              <a:rPr lang="vi-VN" dirty="0">
                <a:latin typeface="Aptos" panose="020B0004020202020204" pitchFamily="34" charset="0"/>
              </a:rPr>
              <a:t> </a:t>
            </a:r>
            <a:r>
              <a:rPr lang="vi-VN" dirty="0" err="1">
                <a:latin typeface="Aptos" panose="020B0004020202020204" pitchFamily="34" charset="0"/>
              </a:rPr>
              <a:t>depth</a:t>
            </a:r>
            <a:r>
              <a:rPr lang="vi-VN" dirty="0">
                <a:latin typeface="Aptos" panose="020B0004020202020204" pitchFamily="34" charset="0"/>
              </a:rPr>
              <a:t> in </a:t>
            </a:r>
            <a:r>
              <a:rPr lang="vi-VN" dirty="0" err="1">
                <a:latin typeface="Aptos" panose="020B0004020202020204" pitchFamily="34" charset="0"/>
              </a:rPr>
              <a:t>range</a:t>
            </a:r>
            <a:r>
              <a:rPr lang="vi-VN" dirty="0">
                <a:latin typeface="Aptos" panose="020B0004020202020204" pitchFamily="34" charset="0"/>
              </a:rPr>
              <a:t>(...)</a:t>
            </a:r>
          </a:p>
          <a:p>
            <a:pPr marL="0" indent="0">
              <a:buNone/>
            </a:pPr>
            <a:r>
              <a:rPr lang="vi-VN" b="1" dirty="0">
                <a:latin typeface="Aptos" panose="020B0004020202020204" pitchFamily="34" charset="0"/>
              </a:rPr>
              <a:t>Bước 3: </a:t>
            </a:r>
            <a:r>
              <a:rPr lang="vi-VN" dirty="0">
                <a:latin typeface="Aptos" panose="020B0004020202020204" pitchFamily="34" charset="0"/>
              </a:rPr>
              <a:t>Tại mỗi một vòng lặp của IDS (ví dụ đang ở </a:t>
            </a:r>
            <a:r>
              <a:rPr lang="vi-VN" dirty="0" err="1">
                <a:latin typeface="Aptos" panose="020B0004020202020204" pitchFamily="34" charset="0"/>
              </a:rPr>
              <a:t>depth</a:t>
            </a:r>
            <a:r>
              <a:rPr lang="vi-VN" dirty="0">
                <a:latin typeface="Aptos" panose="020B0004020202020204" pitchFamily="34" charset="0"/>
              </a:rPr>
              <a:t> = 3), AI lấy cái </a:t>
            </a:r>
            <a:r>
              <a:rPr lang="vi-VN" dirty="0" err="1">
                <a:latin typeface="Aptos" panose="020B0004020202020204" pitchFamily="34" charset="0"/>
              </a:rPr>
              <a:t>best_move</a:t>
            </a:r>
            <a:r>
              <a:rPr lang="vi-VN" dirty="0">
                <a:latin typeface="Aptos" panose="020B0004020202020204" pitchFamily="34" charset="0"/>
              </a:rPr>
              <a:t> mà nó vừa tìm được ở </a:t>
            </a:r>
            <a:r>
              <a:rPr lang="vi-VN" dirty="0" err="1">
                <a:latin typeface="Aptos" panose="020B0004020202020204" pitchFamily="34" charset="0"/>
              </a:rPr>
              <a:t>depth</a:t>
            </a:r>
            <a:r>
              <a:rPr lang="vi-VN" dirty="0">
                <a:latin typeface="Aptos" panose="020B0004020202020204" pitchFamily="34" charset="0"/>
              </a:rPr>
              <a:t> = 2 </a:t>
            </a:r>
            <a:r>
              <a:rPr lang="vi-VN" b="1" dirty="0">
                <a:latin typeface="Aptos" panose="020B0004020202020204" pitchFamily="34" charset="0"/>
              </a:rPr>
              <a:t>nhét lên vị trí đầu tiên</a:t>
            </a:r>
            <a:r>
              <a:rPr lang="vi-VN" dirty="0">
                <a:latin typeface="Aptos" panose="020B0004020202020204" pitchFamily="34" charset="0"/>
              </a:rPr>
              <a:t> của danh sách nước đi</a:t>
            </a:r>
          </a:p>
          <a:p>
            <a:pPr lvl="1"/>
            <a:r>
              <a:rPr lang="vi-VN" dirty="0">
                <a:latin typeface="Aptos" panose="020B0004020202020204" pitchFamily="34" charset="0"/>
              </a:rPr>
              <a:t>Bước này đảm bảo "nhánh chính" luôn được đánh giá đầu tiên</a:t>
            </a:r>
          </a:p>
        </p:txBody>
      </p:sp>
    </p:spTree>
    <p:extLst>
      <p:ext uri="{BB962C8B-B14F-4D97-AF65-F5344CB8AC3E}">
        <p14:creationId xmlns:p14="http://schemas.microsoft.com/office/powerpoint/2010/main" val="13753791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EF0E0-08E3-93E3-14BD-83054878B7C2}"/>
              </a:ext>
            </a:extLst>
          </p:cNvPr>
          <p:cNvSpPr>
            <a:spLocks noGrp="1"/>
          </p:cNvSpPr>
          <p:nvPr>
            <p:ph type="title"/>
          </p:nvPr>
        </p:nvSpPr>
        <p:spPr/>
        <p:txBody>
          <a:bodyPr>
            <a:normAutofit/>
          </a:bodyPr>
          <a:lstStyle/>
          <a:p>
            <a:r>
              <a:rPr lang="en-US" sz="3600" dirty="0"/>
              <a:t>PVS </a:t>
            </a:r>
            <a:r>
              <a:rPr lang="en-US" sz="3600" dirty="0" err="1"/>
              <a:t>kết</a:t>
            </a:r>
            <a:r>
              <a:rPr lang="en-US" sz="3600" dirty="0"/>
              <a:t> </a:t>
            </a:r>
            <a:r>
              <a:rPr lang="en-US" sz="3600" dirty="0" err="1"/>
              <a:t>hợp</a:t>
            </a:r>
            <a:r>
              <a:rPr lang="en-US" sz="3600" dirty="0"/>
              <a:t> Iterative Deepening (2)</a:t>
            </a:r>
            <a:endParaRPr lang="vi-VN" sz="3600" dirty="0"/>
          </a:p>
        </p:txBody>
      </p:sp>
      <p:sp>
        <p:nvSpPr>
          <p:cNvPr id="3" name="Content Placeholder 2">
            <a:extLst>
              <a:ext uri="{FF2B5EF4-FFF2-40B4-BE49-F238E27FC236}">
                <a16:creationId xmlns:a16="http://schemas.microsoft.com/office/drawing/2014/main" id="{0E3D1225-B698-32C4-875A-A2535FA9F81C}"/>
              </a:ext>
            </a:extLst>
          </p:cNvPr>
          <p:cNvSpPr>
            <a:spLocks noGrp="1"/>
          </p:cNvSpPr>
          <p:nvPr>
            <p:ph idx="1"/>
          </p:nvPr>
        </p:nvSpPr>
        <p:spPr/>
        <p:txBody>
          <a:bodyPr/>
          <a:lstStyle/>
          <a:p>
            <a:pPr marL="0" indent="0">
              <a:buNone/>
            </a:pPr>
            <a:r>
              <a:rPr lang="vi-VN" b="1" dirty="0">
                <a:latin typeface="Aptos" panose="020B0004020202020204" pitchFamily="34" charset="0"/>
              </a:rPr>
              <a:t>Bước 4: </a:t>
            </a:r>
            <a:r>
              <a:rPr lang="vi-VN" dirty="0">
                <a:latin typeface="Aptos" panose="020B0004020202020204" pitchFamily="34" charset="0"/>
              </a:rPr>
              <a:t>Lúc này, với danh sách </a:t>
            </a:r>
            <a:r>
              <a:rPr lang="vi-VN" dirty="0" err="1">
                <a:latin typeface="Aptos" panose="020B0004020202020204" pitchFamily="34" charset="0"/>
              </a:rPr>
              <a:t>moves</a:t>
            </a:r>
            <a:r>
              <a:rPr lang="vi-VN" dirty="0">
                <a:latin typeface="Aptos" panose="020B0004020202020204" pitchFamily="34" charset="0"/>
              </a:rPr>
              <a:t> đã được sắp xếp cực kỳ hoàn hảo ở Bước 3, IDS mới bắt đầu gọi hàm </a:t>
            </a:r>
            <a:r>
              <a:rPr lang="vi-VN" dirty="0" err="1">
                <a:latin typeface="Aptos" panose="020B0004020202020204" pitchFamily="34" charset="0"/>
              </a:rPr>
              <a:t>pvs</a:t>
            </a:r>
            <a:r>
              <a:rPr lang="vi-VN" dirty="0">
                <a:latin typeface="Aptos" panose="020B0004020202020204" pitchFamily="34" charset="0"/>
              </a:rPr>
              <a:t> để chấm điểm</a:t>
            </a:r>
          </a:p>
          <a:p>
            <a:pPr lvl="1"/>
            <a:r>
              <a:rPr lang="vi-VN" dirty="0">
                <a:latin typeface="Aptos" panose="020B0004020202020204" pitchFamily="34" charset="0"/>
              </a:rPr>
              <a:t>Với nước đi đầu tiên trong danh sách (tức là </a:t>
            </a:r>
            <a:r>
              <a:rPr lang="vi-VN" dirty="0" err="1">
                <a:latin typeface="Aptos" panose="020B0004020202020204" pitchFamily="34" charset="0"/>
              </a:rPr>
              <a:t>moves</a:t>
            </a:r>
            <a:r>
              <a:rPr lang="vi-VN" dirty="0">
                <a:latin typeface="Aptos" panose="020B0004020202020204" pitchFamily="34" charset="0"/>
              </a:rPr>
              <a:t>[0]), nó mở cửa sổ lớn (</a:t>
            </a:r>
            <a:r>
              <a:rPr lang="vi-VN" dirty="0" err="1">
                <a:latin typeface="Aptos" panose="020B0004020202020204" pitchFamily="34" charset="0"/>
              </a:rPr>
              <a:t>Full-window</a:t>
            </a:r>
            <a:r>
              <a:rPr lang="vi-VN" dirty="0">
                <a:latin typeface="Aptos" panose="020B0004020202020204" pitchFamily="34" charset="0"/>
              </a:rPr>
              <a:t>)</a:t>
            </a:r>
          </a:p>
          <a:p>
            <a:pPr lvl="1"/>
            <a:r>
              <a:rPr lang="vi-VN" dirty="0">
                <a:latin typeface="Aptos" panose="020B0004020202020204" pitchFamily="34" charset="0"/>
              </a:rPr>
              <a:t>Với các nước đi sau, nó dùng cửa sổ hẹp (</a:t>
            </a:r>
            <a:r>
              <a:rPr lang="vi-VN" dirty="0" err="1">
                <a:latin typeface="Aptos" panose="020B0004020202020204" pitchFamily="34" charset="0"/>
              </a:rPr>
              <a:t>Null-window</a:t>
            </a:r>
            <a:r>
              <a:rPr lang="vi-VN" dirty="0">
                <a:latin typeface="Aptos" panose="020B0004020202020204" pitchFamily="34" charset="0"/>
              </a:rPr>
              <a:t>)</a:t>
            </a:r>
          </a:p>
          <a:p>
            <a:pPr marL="0" indent="0">
              <a:buNone/>
            </a:pPr>
            <a:r>
              <a:rPr lang="vi-VN" dirty="0">
                <a:latin typeface="Aptos" panose="020B0004020202020204" pitchFamily="34" charset="0"/>
              </a:rPr>
              <a:t>Và ở các tầng sâu bên dưới bên trong hàm đệ quy </a:t>
            </a:r>
            <a:r>
              <a:rPr lang="vi-VN" dirty="0" err="1">
                <a:latin typeface="Aptos" panose="020B0004020202020204" pitchFamily="34" charset="0"/>
              </a:rPr>
              <a:t>pvs</a:t>
            </a:r>
            <a:r>
              <a:rPr lang="vi-VN" dirty="0">
                <a:latin typeface="Aptos" panose="020B0004020202020204" pitchFamily="34" charset="0"/>
              </a:rPr>
              <a:t>, </a:t>
            </a:r>
            <a:r>
              <a:rPr lang="vi-VN" dirty="0">
                <a:solidFill>
                  <a:srgbClr val="FF0000"/>
                </a:solidFill>
                <a:latin typeface="Aptos" panose="020B0004020202020204" pitchFamily="34" charset="0"/>
              </a:rPr>
              <a:t>thuật toán lại gọi hàm _</a:t>
            </a:r>
            <a:r>
              <a:rPr lang="vi-VN" dirty="0" err="1">
                <a:solidFill>
                  <a:srgbClr val="FF0000"/>
                </a:solidFill>
                <a:latin typeface="Aptos" panose="020B0004020202020204" pitchFamily="34" charset="0"/>
              </a:rPr>
              <a:t>ordered_moves</a:t>
            </a:r>
            <a:r>
              <a:rPr lang="vi-VN" dirty="0">
                <a:solidFill>
                  <a:srgbClr val="FF0000"/>
                </a:solidFill>
                <a:latin typeface="Aptos" panose="020B0004020202020204" pitchFamily="34" charset="0"/>
              </a:rPr>
              <a:t>() một lần nữa</a:t>
            </a:r>
            <a:r>
              <a:rPr lang="vi-VN" dirty="0">
                <a:latin typeface="Aptos" panose="020B0004020202020204" pitchFamily="34" charset="0"/>
              </a:rPr>
              <a:t> để tiếp tục duy trì việc duyệt từ giữa ra biên</a:t>
            </a:r>
          </a:p>
          <a:p>
            <a:endParaRPr lang="vi-VN" dirty="0">
              <a:latin typeface="Aptos" panose="020B0004020202020204" pitchFamily="34" charset="0"/>
            </a:endParaRPr>
          </a:p>
        </p:txBody>
      </p:sp>
    </p:spTree>
    <p:extLst>
      <p:ext uri="{BB962C8B-B14F-4D97-AF65-F5344CB8AC3E}">
        <p14:creationId xmlns:p14="http://schemas.microsoft.com/office/powerpoint/2010/main" val="1611300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536</TotalTime>
  <Words>2874</Words>
  <Application>Microsoft Office PowerPoint</Application>
  <PresentationFormat>Widescreen</PresentationFormat>
  <Paragraphs>423</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Aptos Display</vt:lpstr>
      <vt:lpstr>Arial</vt:lpstr>
      <vt:lpstr>Cambria Math</vt:lpstr>
      <vt:lpstr>Times New Roman</vt:lpstr>
      <vt:lpstr>Office Theme</vt:lpstr>
      <vt:lpstr>Thuật toán Minimax &amp; alpha-beta pruning trong game ConnectX</vt:lpstr>
      <vt:lpstr>Nguyên lý cốt lõi của thuật toán Minimax</vt:lpstr>
      <vt:lpstr>Các thành phần của cây Minimax trong ConnectX</vt:lpstr>
      <vt:lpstr>Cơ chế lan truyền</vt:lpstr>
      <vt:lpstr>PowerPoint Presentation</vt:lpstr>
      <vt:lpstr>Áp dụng alpha-beta pruning để tăng hiệu năng (1)</vt:lpstr>
      <vt:lpstr>Áp dụng alpha-beta pruning để tăng hiệu năng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Hiệu quả thực tế trong bài toán ConnectX</vt:lpstr>
      <vt:lpstr>Thuật toán Minimax tối ưu hóa với Bitboard.</vt:lpstr>
      <vt:lpstr>Hàm minimax(me, opp, depth, alpha, beta, deadline, tt)</vt:lpstr>
      <vt:lpstr>Các bước xử lý bên trong hàm.</vt:lpstr>
      <vt:lpstr>Sức mạnh Bitboard trong Minimax</vt:lpstr>
      <vt:lpstr>Tối ưu hóa Alpha-Beta và Lưu trữ kết quả.</vt:lpstr>
      <vt:lpstr>Iterative Deepening (1)</vt:lpstr>
      <vt:lpstr>Iterative Deepening (2)</vt:lpstr>
      <vt:lpstr>Iterative Deepening (3)</vt:lpstr>
      <vt:lpstr>Iterative Deepening kết hợp với TT</vt:lpstr>
      <vt:lpstr>Triết lý của PVS - Sự tự tin vào Move Ordering</vt:lpstr>
      <vt:lpstr>Null-Window Search</vt:lpstr>
      <vt:lpstr>Quy trình 3 bước tại mỗi Node</vt:lpstr>
      <vt:lpstr>Kỹ thuật Move Ordering</vt:lpstr>
      <vt:lpstr>Tầm quan trọng của _ordered_moves</vt:lpstr>
      <vt:lpstr>PVS kết hợp Iterative Deepening</vt:lpstr>
      <vt:lpstr>PVS kết hợp Iterative Deepening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Đoàn Trọng Nghĩa</dc:creator>
  <cp:lastModifiedBy>Đoàn Trọng Nghĩa</cp:lastModifiedBy>
  <cp:revision>10</cp:revision>
  <dcterms:created xsi:type="dcterms:W3CDTF">2026-04-25T20:42:35Z</dcterms:created>
  <dcterms:modified xsi:type="dcterms:W3CDTF">2026-05-10T08:49:34Z</dcterms:modified>
</cp:coreProperties>
</file>